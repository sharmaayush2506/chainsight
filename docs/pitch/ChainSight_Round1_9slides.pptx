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am Details" id="{455f73c0-a68d-0d5e-983b-b805d4efc2d3}">
          <p14:sldIdLst>
            <p14:sldId id="256"/>
          </p14:sldIdLst>
        </p14:section>
        <p14:section name="Problem" id="{7b6ec578-3b7e-0c3f-1593-f9915ccf63df}">
          <p14:sldIdLst>
            <p14:sldId id="257"/>
          </p14:sldIdLst>
        </p14:section>
        <p14:section name="Solution" id="{c54650f8-a67d-8ce5-1b0c-0859751311e5}">
          <p14:sldIdLst>
            <p14:sldId id="258"/>
          </p14:sldIdLst>
        </p14:section>
        <p14:section name="Users" id="{25f23637-ea91-2591-87d2-9ee536bc8941}">
          <p14:sldIdLst>
            <p14:sldId id="259"/>
          </p14:sldIdLst>
        </p14:section>
        <p14:section name="Architecture" id="{165dc66f-9d2b-a85c-4b56-b4b5954079be}">
          <p14:sldIdLst>
            <p14:sldId id="260"/>
          </p14:sldIdLst>
        </p14:section>
        <p14:section name="TinyFish" id="{fd0c91b5-2842-991d-9c34-8e60e86d56c1}">
          <p14:sldIdLst>
            <p14:sldId id="261"/>
          </p14:sldIdLst>
        </p14:section>
        <p14:section name="Scale" id="{904f9064-2c35-d53b-cf90-f651fe8bd853}">
          <p14:sldIdLst>
            <p14:sldId id="262"/>
            <p14:sldId id="263"/>
          </p14:sldIdLst>
        </p14:section>
        <p14:section name="Prototype" id="{17ad1eea-f221-7290-8b3f-81d676d9e01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ChainSight  |  Round 1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TEAM DETAILS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ChainSight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889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Confidence-rated fund-flow leads to likely exchange-associated addresses, for investigator verification</a:t>
            </a:r>
            <a:endParaRPr lang="en-US" sz="2200" dirty="0"/>
          </a:p>
        </p:txBody>
      </p:sp>
      <p:sp>
        <p:nvSpPr>
          <p:cNvPr id="5" name="t-edge0"/>
          <p:cNvSpPr/>
          <p:nvPr/>
        </p:nvSpPr>
        <p:spPr>
          <a:xfrm>
            <a:off x="8641080" y="1051560"/>
            <a:ext cx="1005840" cy="5486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6" name="t-edge1"/>
          <p:cNvSpPr/>
          <p:nvPr/>
        </p:nvSpPr>
        <p:spPr>
          <a:xfrm flipH="1">
            <a:off x="9098280" y="1600200"/>
            <a:ext cx="548640" cy="8229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t-edge2"/>
          <p:cNvSpPr/>
          <p:nvPr/>
        </p:nvSpPr>
        <p:spPr>
          <a:xfrm>
            <a:off x="9098280" y="2423160"/>
            <a:ext cx="1188720" cy="3657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8" name="t-edge3"/>
          <p:cNvSpPr/>
          <p:nvPr/>
        </p:nvSpPr>
        <p:spPr>
          <a:xfrm flipH="1">
            <a:off x="10287000" y="1965960"/>
            <a:ext cx="822960" cy="82296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9" name="t-node0"/>
          <p:cNvSpPr/>
          <p:nvPr/>
        </p:nvSpPr>
        <p:spPr>
          <a:xfrm>
            <a:off x="8503920" y="914400"/>
            <a:ext cx="292608" cy="292608"/>
          </a:xfrm>
          <a:prstGeom prst="ellipse">
            <a:avLst/>
          </a:prstGeom>
          <a:solidFill>
            <a:schemeClr val="accent4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0" name="t-node1"/>
          <p:cNvSpPr/>
          <p:nvPr/>
        </p:nvSpPr>
        <p:spPr>
          <a:xfrm>
            <a:off x="9509760" y="146304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1" name="t-node2"/>
          <p:cNvSpPr/>
          <p:nvPr/>
        </p:nvSpPr>
        <p:spPr>
          <a:xfrm>
            <a:off x="8961120" y="228600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2" name="t-node3"/>
          <p:cNvSpPr/>
          <p:nvPr/>
        </p:nvSpPr>
        <p:spPr>
          <a:xfrm>
            <a:off x="10149840" y="2651760"/>
            <a:ext cx="292608" cy="292608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3" name="t-node4"/>
          <p:cNvSpPr/>
          <p:nvPr/>
        </p:nvSpPr>
        <p:spPr>
          <a:xfrm>
            <a:off x="10972800" y="1828800"/>
            <a:ext cx="292608" cy="292608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566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scam wallet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exchange</a:t>
            </a:r>
            <a:endParaRPr lang="en-US" sz="1200" dirty="0"/>
          </a:p>
        </p:txBody>
      </p:sp>
      <p:sp>
        <p:nvSpPr>
          <p:cNvPr id="16" name="ps-card"/>
          <p:cNvSpPr/>
          <p:nvPr/>
        </p:nvSpPr>
        <p:spPr>
          <a:xfrm>
            <a:off x="548640" y="3886200"/>
            <a:ext cx="694944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4348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Real-Time Identification of Fraud-Linked Cryptocurrency Exchanges from Victim-Reported Suspect Wallet Addresses through Automated Blockchain Analytics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532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Theme: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Blockchain &amp; Cybersecurity      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Category: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Software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TEAM MEMBERS</a:t>
            </a:r>
            <a:endParaRPr lang="en-US" sz="1200" dirty="0"/>
          </a:p>
        </p:txBody>
      </p:sp>
      <p:sp>
        <p:nvSpPr>
          <p:cNvPr id="21" name="member0"/>
          <p:cNvSpPr/>
          <p:nvPr/>
        </p:nvSpPr>
        <p:spPr>
          <a:xfrm>
            <a:off x="7909560" y="4297680"/>
            <a:ext cx="3733495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mem0-circle"/>
          <p:cNvSpPr/>
          <p:nvPr/>
        </p:nvSpPr>
        <p:spPr>
          <a:xfrm>
            <a:off x="8092440" y="4434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mem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3199" y="4565599"/>
            <a:ext cx="241402" cy="24140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778240" y="42976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Ayush Sharma</a:t>
            </a:r>
            <a:endParaRPr lang="en-US" sz="1800" dirty="0"/>
          </a:p>
        </p:txBody>
      </p:sp>
      <p:sp>
        <p:nvSpPr>
          <p:cNvPr id="25" name="member1"/>
          <p:cNvSpPr/>
          <p:nvPr/>
        </p:nvSpPr>
        <p:spPr>
          <a:xfrm>
            <a:off x="7909560" y="5212080"/>
            <a:ext cx="3733495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mem1-circle"/>
          <p:cNvSpPr/>
          <p:nvPr/>
        </p:nvSpPr>
        <p:spPr>
          <a:xfrm>
            <a:off x="8092440" y="53492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mem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199" y="5479999"/>
            <a:ext cx="241402" cy="241402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778240" y="52120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Chhaya Attri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Victims report the scammer's wallet. Investigators can't quickly see which exchange (VASP) the funds may have reached, so money moves on before a request goes out.</a:t>
            </a:r>
            <a:endParaRPr lang="en-US" sz="1800" dirty="0"/>
          </a:p>
        </p:txBody>
      </p:sp>
      <p:sp>
        <p:nvSpPr>
          <p:cNvPr id="4" name="stat-card"/>
          <p:cNvSpPr/>
          <p:nvPr/>
        </p:nvSpPr>
        <p:spPr>
          <a:xfrm>
            <a:off x="548640" y="1920240"/>
            <a:ext cx="3749040" cy="4206240"/>
          </a:xfrm>
          <a:prstGeom prst="roundRect">
            <a:avLst>
              <a:gd name="adj" fmla="val 19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₹22,845 cr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lost by Indians to cyber fraud in 2024, about 3× the ₹7,465 crore lost in 2023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22.68 lakh cybercrime complaints on NCRP in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394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Source: Ministry of Home Affairs, written reply in the Lok Sabha (2025)</a:t>
            </a:r>
            <a:endParaRPr lang="en-US" sz="1100" dirty="0"/>
          </a:p>
        </p:txBody>
      </p:sp>
      <p:sp>
        <p:nvSpPr>
          <p:cNvPr id="9" name="grp0-circle"/>
          <p:cNvSpPr/>
          <p:nvPr/>
        </p:nvSpPr>
        <p:spPr>
          <a:xfrm>
            <a:off x="4572000" y="19659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grp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4646" y="2108606"/>
            <a:ext cx="263347" cy="26334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0" y="192024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Fraud types</a:t>
            </a:r>
            <a:endParaRPr lang="en-US" sz="1600" dirty="0"/>
          </a:p>
        </p:txBody>
      </p:sp>
      <p:sp>
        <p:nvSpPr>
          <p:cNvPr id="12" name="chip0-0"/>
          <p:cNvSpPr/>
          <p:nvPr/>
        </p:nvSpPr>
        <p:spPr>
          <a:xfrm>
            <a:off x="5303520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Investment</a:t>
            </a:r>
            <a:endParaRPr lang="en-US" sz="1100" dirty="0"/>
          </a:p>
        </p:txBody>
      </p:sp>
      <p:sp>
        <p:nvSpPr>
          <p:cNvPr id="14" name="chip0-1"/>
          <p:cNvSpPr/>
          <p:nvPr/>
        </p:nvSpPr>
        <p:spPr>
          <a:xfrm>
            <a:off x="6236208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36208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Task-based</a:t>
            </a:r>
            <a:endParaRPr lang="en-US" sz="1100" dirty="0"/>
          </a:p>
        </p:txBody>
      </p:sp>
      <p:sp>
        <p:nvSpPr>
          <p:cNvPr id="16" name="chip0-2"/>
          <p:cNvSpPr/>
          <p:nvPr/>
        </p:nvSpPr>
        <p:spPr>
          <a:xfrm>
            <a:off x="7168896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68896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Sextortion</a:t>
            </a:r>
            <a:endParaRPr lang="en-US" sz="1100" dirty="0"/>
          </a:p>
        </p:txBody>
      </p:sp>
      <p:sp>
        <p:nvSpPr>
          <p:cNvPr id="18" name="chip0-3"/>
          <p:cNvSpPr/>
          <p:nvPr/>
        </p:nvSpPr>
        <p:spPr>
          <a:xfrm>
            <a:off x="8101584" y="2359152"/>
            <a:ext cx="859536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01584" y="235915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Ransomware</a:t>
            </a:r>
            <a:endParaRPr lang="en-US" sz="1100" dirty="0"/>
          </a:p>
        </p:txBody>
      </p:sp>
      <p:sp>
        <p:nvSpPr>
          <p:cNvPr id="20" name="chip0-4"/>
          <p:cNvSpPr/>
          <p:nvPr/>
        </p:nvSpPr>
        <p:spPr>
          <a:xfrm>
            <a:off x="9034272" y="2359152"/>
            <a:ext cx="724205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34272" y="2359152"/>
            <a:ext cx="7242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Phishing</a:t>
            </a:r>
            <a:endParaRPr lang="en-US" sz="1100" dirty="0"/>
          </a:p>
        </p:txBody>
      </p:sp>
      <p:sp>
        <p:nvSpPr>
          <p:cNvPr id="22" name="chip0-5"/>
          <p:cNvSpPr/>
          <p:nvPr/>
        </p:nvSpPr>
        <p:spPr>
          <a:xfrm>
            <a:off x="9831629" y="2359152"/>
            <a:ext cx="656539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31629" y="2359152"/>
            <a:ext cx="6565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Darknet</a:t>
            </a:r>
            <a:endParaRPr lang="en-US" sz="1100" dirty="0"/>
          </a:p>
        </p:txBody>
      </p:sp>
      <p:sp>
        <p:nvSpPr>
          <p:cNvPr id="24" name="chip0-6"/>
          <p:cNvSpPr/>
          <p:nvPr/>
        </p:nvSpPr>
        <p:spPr>
          <a:xfrm>
            <a:off x="10561320" y="2359152"/>
            <a:ext cx="79187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61320" y="2359152"/>
            <a:ext cx="7918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Organised</a:t>
            </a:r>
            <a:endParaRPr lang="en-US" sz="1100" dirty="0"/>
          </a:p>
        </p:txBody>
      </p:sp>
      <p:sp>
        <p:nvSpPr>
          <p:cNvPr id="26" name="grp1-circle"/>
          <p:cNvSpPr/>
          <p:nvPr/>
        </p:nvSpPr>
        <p:spPr>
          <a:xfrm>
            <a:off x="4572000" y="30358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grp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3178454"/>
            <a:ext cx="263347" cy="263347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5303520" y="299008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Reported wallets are</a:t>
            </a:r>
            <a:endParaRPr lang="en-US" sz="1600" dirty="0"/>
          </a:p>
        </p:txBody>
      </p:sp>
      <p:sp>
        <p:nvSpPr>
          <p:cNvPr id="29" name="chip1-0"/>
          <p:cNvSpPr/>
          <p:nvPr/>
        </p:nvSpPr>
        <p:spPr>
          <a:xfrm>
            <a:off x="5303520" y="3429000"/>
            <a:ext cx="1062533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03520" y="3429000"/>
            <a:ext cx="10625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Non-custodial</a:t>
            </a:r>
            <a:endParaRPr lang="en-US" sz="1100" dirty="0"/>
          </a:p>
        </p:txBody>
      </p:sp>
      <p:sp>
        <p:nvSpPr>
          <p:cNvPr id="31" name="chip1-1"/>
          <p:cNvSpPr/>
          <p:nvPr/>
        </p:nvSpPr>
        <p:spPr>
          <a:xfrm>
            <a:off x="6439205" y="3429000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39205" y="3429000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Temporary burners</a:t>
            </a:r>
            <a:endParaRPr lang="en-US" sz="1100" dirty="0"/>
          </a:p>
        </p:txBody>
      </p:sp>
      <p:sp>
        <p:nvSpPr>
          <p:cNvPr id="33" name="chip1-2"/>
          <p:cNvSpPr/>
          <p:nvPr/>
        </p:nvSpPr>
        <p:spPr>
          <a:xfrm>
            <a:off x="7845552" y="3429000"/>
            <a:ext cx="1739189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845552" y="3429000"/>
            <a:ext cx="1739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Layering intermediaries</a:t>
            </a:r>
            <a:endParaRPr lang="en-US" sz="1100" dirty="0"/>
          </a:p>
        </p:txBody>
      </p:sp>
      <p:sp>
        <p:nvSpPr>
          <p:cNvPr id="35" name="grp2-circle"/>
          <p:cNvSpPr/>
          <p:nvPr/>
        </p:nvSpPr>
        <p:spPr>
          <a:xfrm>
            <a:off x="4572000" y="4105656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6" name="grp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4248302"/>
            <a:ext cx="263347" cy="263347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303520" y="405993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Manual tracing breaks on</a:t>
            </a:r>
            <a:endParaRPr lang="en-US" sz="1600" dirty="0"/>
          </a:p>
        </p:txBody>
      </p:sp>
      <p:sp>
        <p:nvSpPr>
          <p:cNvPr id="38" name="chip2-0"/>
          <p:cNvSpPr/>
          <p:nvPr/>
        </p:nvSpPr>
        <p:spPr>
          <a:xfrm>
            <a:off x="5303520" y="4498848"/>
            <a:ext cx="1603858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303520" y="4498848"/>
            <a:ext cx="16038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Multi-chain transfers</a:t>
            </a:r>
            <a:endParaRPr lang="en-US" sz="1100" dirty="0"/>
          </a:p>
        </p:txBody>
      </p:sp>
      <p:sp>
        <p:nvSpPr>
          <p:cNvPr id="40" name="chip2-1"/>
          <p:cNvSpPr/>
          <p:nvPr/>
        </p:nvSpPr>
        <p:spPr>
          <a:xfrm>
            <a:off x="6980530" y="4498848"/>
            <a:ext cx="1130198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980530" y="4498848"/>
            <a:ext cx="11301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DeFi protocols</a:t>
            </a:r>
            <a:endParaRPr lang="en-US" sz="1100" dirty="0"/>
          </a:p>
        </p:txBody>
      </p:sp>
      <p:sp>
        <p:nvSpPr>
          <p:cNvPr id="42" name="chip2-2"/>
          <p:cNvSpPr/>
          <p:nvPr/>
        </p:nvSpPr>
        <p:spPr>
          <a:xfrm>
            <a:off x="8183880" y="4498848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183880" y="4498848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Mixers / tumblers</a:t>
            </a:r>
            <a:endParaRPr lang="en-US" sz="1100" dirty="0"/>
          </a:p>
        </p:txBody>
      </p:sp>
      <p:sp>
        <p:nvSpPr>
          <p:cNvPr id="44" name="chip2-3"/>
          <p:cNvSpPr/>
          <p:nvPr/>
        </p:nvSpPr>
        <p:spPr>
          <a:xfrm>
            <a:off x="9590227" y="4498848"/>
            <a:ext cx="656539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9590227" y="4498848"/>
            <a:ext cx="6565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Bridges</a:t>
            </a:r>
            <a:endParaRPr lang="en-US" sz="1100" dirty="0"/>
          </a:p>
        </p:txBody>
      </p:sp>
      <p:sp>
        <p:nvSpPr>
          <p:cNvPr id="46" name="chip2-4"/>
          <p:cNvSpPr/>
          <p:nvPr/>
        </p:nvSpPr>
        <p:spPr>
          <a:xfrm>
            <a:off x="10319918" y="4498848"/>
            <a:ext cx="1062533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10319918" y="4498848"/>
            <a:ext cx="10625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Privacy tools</a:t>
            </a:r>
            <a:endParaRPr lang="en-US" sz="1100" dirty="0"/>
          </a:p>
        </p:txBody>
      </p:sp>
      <p:sp>
        <p:nvSpPr>
          <p:cNvPr id="48" name="grp3-circle"/>
          <p:cNvSpPr/>
          <p:nvPr/>
        </p:nvSpPr>
        <p:spPr>
          <a:xfrm>
            <a:off x="4572000" y="5175504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9" name="grp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646" y="5318150"/>
            <a:ext cx="263347" cy="263347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5303520" y="512978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Delay costs</a:t>
            </a:r>
            <a:endParaRPr lang="en-US" sz="1600" dirty="0"/>
          </a:p>
        </p:txBody>
      </p:sp>
      <p:sp>
        <p:nvSpPr>
          <p:cNvPr id="51" name="chip3-0"/>
          <p:cNvSpPr/>
          <p:nvPr/>
        </p:nvSpPr>
        <p:spPr>
          <a:xfrm>
            <a:off x="5303520" y="5568696"/>
            <a:ext cx="1130198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303520" y="5568696"/>
            <a:ext cx="11301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Asset freezing</a:t>
            </a:r>
            <a:endParaRPr lang="en-US" sz="1100" dirty="0"/>
          </a:p>
        </p:txBody>
      </p:sp>
      <p:sp>
        <p:nvSpPr>
          <p:cNvPr id="53" name="chip3-1"/>
          <p:cNvSpPr/>
          <p:nvPr/>
        </p:nvSpPr>
        <p:spPr>
          <a:xfrm>
            <a:off x="6506870" y="5568696"/>
            <a:ext cx="1603858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6870" y="5568696"/>
            <a:ext cx="16038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Evidence preservation</a:t>
            </a:r>
            <a:endParaRPr lang="en-US" sz="1100" dirty="0"/>
          </a:p>
        </p:txBody>
      </p:sp>
      <p:sp>
        <p:nvSpPr>
          <p:cNvPr id="55" name="chip3-2"/>
          <p:cNvSpPr/>
          <p:nvPr/>
        </p:nvSpPr>
        <p:spPr>
          <a:xfrm>
            <a:off x="8183880" y="5568696"/>
            <a:ext cx="1333195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83880" y="5568696"/>
            <a:ext cx="13331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Fund-flow tracing</a:t>
            </a:r>
            <a:endParaRPr lang="en-US" sz="1100" dirty="0"/>
          </a:p>
        </p:txBody>
      </p:sp>
      <p:sp>
        <p:nvSpPr>
          <p:cNvPr id="57" name="chip3-3"/>
          <p:cNvSpPr/>
          <p:nvPr/>
        </p:nvSpPr>
        <p:spPr>
          <a:xfrm>
            <a:off x="9590227" y="5568696"/>
            <a:ext cx="1197864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590227" y="5568696"/>
            <a:ext cx="119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Victim recovery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3" name="pitch"/>
          <p:cNvSpPr/>
          <p:nvPr/>
        </p:nvSpPr>
        <p:spPr>
          <a:xfrm>
            <a:off x="548640" y="1097280"/>
            <a:ext cx="11094415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0972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in  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confidence-rated, source-linked leads out</a:t>
            </a:r>
            <a:endParaRPr lang="en-US" sz="2400" dirty="0"/>
          </a:p>
        </p:txBody>
      </p:sp>
      <p:sp>
        <p:nvSpPr>
          <p:cNvPr id="5" name="sol-line"/>
          <p:cNvSpPr/>
          <p:nvPr/>
        </p:nvSpPr>
        <p:spPr>
          <a:xfrm>
            <a:off x="1548354" y="2395728"/>
            <a:ext cx="909498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6" name="sol0-circle"/>
          <p:cNvSpPr/>
          <p:nvPr/>
        </p:nvSpPr>
        <p:spPr>
          <a:xfrm>
            <a:off x="1182594" y="2029968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sol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2789" y="2220163"/>
            <a:ext cx="351130" cy="351130"/>
          </a:xfrm>
          <a:prstGeom prst="rect">
            <a:avLst/>
          </a:prstGeom>
        </p:spPr>
      </p:pic>
      <p:sp>
        <p:nvSpPr>
          <p:cNvPr id="8" name="sol-card0"/>
          <p:cNvSpPr/>
          <p:nvPr/>
        </p:nvSpPr>
        <p:spPr>
          <a:xfrm>
            <a:off x="548640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Ingest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Reported wallet via dashboard or API</a:t>
            </a:r>
            <a:endParaRPr lang="en-US" sz="1400" dirty="0"/>
          </a:p>
        </p:txBody>
      </p:sp>
      <p:sp>
        <p:nvSpPr>
          <p:cNvPr id="11" name="sol1-circle"/>
          <p:cNvSpPr/>
          <p:nvPr/>
        </p:nvSpPr>
        <p:spPr>
          <a:xfrm>
            <a:off x="3456341" y="20299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ol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220163"/>
            <a:ext cx="351130" cy="351130"/>
          </a:xfrm>
          <a:prstGeom prst="rect">
            <a:avLst/>
          </a:prstGeom>
        </p:spPr>
      </p:pic>
      <p:sp>
        <p:nvSpPr>
          <p:cNvPr id="13" name="sol-card1"/>
          <p:cNvSpPr/>
          <p:nvPr/>
        </p:nvSpPr>
        <p:spPr>
          <a:xfrm>
            <a:off x="2822387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05267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Trace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005267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Hop-by-hop transaction graph; layering patterns</a:t>
            </a:r>
            <a:endParaRPr lang="en-US" sz="1400" dirty="0"/>
          </a:p>
        </p:txBody>
      </p:sp>
      <p:sp>
        <p:nvSpPr>
          <p:cNvPr id="16" name="sol2-circle"/>
          <p:cNvSpPr/>
          <p:nvPr/>
        </p:nvSpPr>
        <p:spPr>
          <a:xfrm>
            <a:off x="5730088" y="20299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ol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3" y="2220163"/>
            <a:ext cx="351130" cy="351130"/>
          </a:xfrm>
          <a:prstGeom prst="rect">
            <a:avLst/>
          </a:prstGeom>
        </p:spPr>
      </p:pic>
      <p:sp>
        <p:nvSpPr>
          <p:cNvPr id="18" name="sol-card2"/>
          <p:cNvSpPr/>
          <p:nvPr/>
        </p:nvSpPr>
        <p:spPr>
          <a:xfrm>
            <a:off x="5096134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279014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Flag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79014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Likely exchange-associated addresses, each confidence-rated</a:t>
            </a:r>
            <a:endParaRPr lang="en-US" sz="1400" dirty="0"/>
          </a:p>
        </p:txBody>
      </p:sp>
      <p:sp>
        <p:nvSpPr>
          <p:cNvPr id="21" name="sol3-circle"/>
          <p:cNvSpPr/>
          <p:nvPr/>
        </p:nvSpPr>
        <p:spPr>
          <a:xfrm>
            <a:off x="8003835" y="2029968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sol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4030" y="2220163"/>
            <a:ext cx="351130" cy="351130"/>
          </a:xfrm>
          <a:prstGeom prst="rect">
            <a:avLst/>
          </a:prstGeom>
        </p:spPr>
      </p:pic>
      <p:sp>
        <p:nvSpPr>
          <p:cNvPr id="23" name="sol-card3"/>
          <p:cNvSpPr/>
          <p:nvPr/>
        </p:nvSpPr>
        <p:spPr>
          <a:xfrm>
            <a:off x="7369881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52761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Research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7552761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Public scam reports + the exchange's official process</a:t>
            </a:r>
            <a:endParaRPr lang="en-US" sz="1400" dirty="0"/>
          </a:p>
        </p:txBody>
      </p:sp>
      <p:sp>
        <p:nvSpPr>
          <p:cNvPr id="26" name="sol-tf3"/>
          <p:cNvSpPr/>
          <p:nvPr/>
        </p:nvSpPr>
        <p:spPr>
          <a:xfrm>
            <a:off x="7552761" y="4315968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552761" y="43159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28" name="sol4-circle"/>
          <p:cNvSpPr/>
          <p:nvPr/>
        </p:nvSpPr>
        <p:spPr>
          <a:xfrm>
            <a:off x="10277582" y="2029968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sol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7777" y="2220163"/>
            <a:ext cx="351130" cy="351130"/>
          </a:xfrm>
          <a:prstGeom prst="rect">
            <a:avLst/>
          </a:prstGeom>
        </p:spPr>
      </p:pic>
      <p:sp>
        <p:nvSpPr>
          <p:cNvPr id="30" name="sol-card4"/>
          <p:cNvSpPr/>
          <p:nvPr/>
        </p:nvSpPr>
        <p:spPr>
          <a:xfrm>
            <a:off x="9643628" y="2926080"/>
            <a:ext cx="1999427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826508" y="3035808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5. Report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26508" y="3456432"/>
            <a:ext cx="163366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Leads, sources and evidence for the officer to verify</a:t>
            </a:r>
            <a:endParaRPr lang="en-US" sz="1400" dirty="0"/>
          </a:p>
        </p:txBody>
      </p:sp>
      <p:sp>
        <p:nvSpPr>
          <p:cNvPr id="33" name="sol-tf4"/>
          <p:cNvSpPr/>
          <p:nvPr/>
        </p:nvSpPr>
        <p:spPr>
          <a:xfrm>
            <a:off x="9826508" y="4315968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826508" y="43159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TinyFish</a:t>
            </a:r>
            <a:endParaRPr lang="en-US" sz="1100" dirty="0"/>
          </a:p>
        </p:txBody>
      </p:sp>
      <p:sp>
        <p:nvSpPr>
          <p:cNvPr id="35" name="novelty"/>
          <p:cNvSpPr/>
          <p:nvPr/>
        </p:nvSpPr>
        <p:spPr>
          <a:xfrm>
            <a:off x="548640" y="4892040"/>
            <a:ext cx="11094415" cy="1325880"/>
          </a:xfrm>
          <a:prstGeom prst="roundRect">
            <a:avLst>
              <a:gd name="adj" fmla="val 551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68680" y="5001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WHAT MAKES CHAINSIGHT DIFFERENT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868680" y="530352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On-chain fund-flow analysis + TinyFish-powered discovery of public scam intelligence and official exchange law-enforcement procedures, in one source-linked investigation report. Built for investigator verification and evidence traceability: risk scores are leads, never proof.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</a:t>
            </a:r>
            <a:endParaRPr lang="en-US" sz="3200" dirty="0"/>
          </a:p>
        </p:txBody>
      </p:sp>
      <p:sp>
        <p:nvSpPr>
          <p:cNvPr id="3" name="user0"/>
          <p:cNvSpPr/>
          <p:nvPr/>
        </p:nvSpPr>
        <p:spPr>
          <a:xfrm>
            <a:off x="548640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i0-circle"/>
          <p:cNvSpPr/>
          <p:nvPr/>
        </p:nvSpPr>
        <p:spPr>
          <a:xfrm>
            <a:off x="868680" y="14630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u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1677010"/>
            <a:ext cx="395021" cy="395021"/>
          </a:xfrm>
          <a:prstGeom prst="rect">
            <a:avLst/>
          </a:prstGeom>
        </p:spPr>
      </p:pic>
      <p:sp>
        <p:nvSpPr>
          <p:cNvPr id="6" name="ut0"/>
          <p:cNvSpPr/>
          <p:nvPr/>
        </p:nvSpPr>
        <p:spPr>
          <a:xfrm>
            <a:off x="2570378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70378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PRIMARY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State cyber cells and police units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Investigators handling NCRP complaints and SAHYOG requests</a:t>
            </a:r>
            <a:endParaRPr lang="en-US" sz="1400" dirty="0"/>
          </a:p>
        </p:txBody>
      </p:sp>
      <p:sp>
        <p:nvSpPr>
          <p:cNvPr id="10" name="user1"/>
          <p:cNvSpPr/>
          <p:nvPr/>
        </p:nvSpPr>
        <p:spPr>
          <a:xfrm>
            <a:off x="4353458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ui1-circle"/>
          <p:cNvSpPr/>
          <p:nvPr/>
        </p:nvSpPr>
        <p:spPr>
          <a:xfrm>
            <a:off x="4673498" y="1463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u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7468" y="1677010"/>
            <a:ext cx="395021" cy="395021"/>
          </a:xfrm>
          <a:prstGeom prst="rect">
            <a:avLst/>
          </a:prstGeom>
        </p:spPr>
      </p:pic>
      <p:sp>
        <p:nvSpPr>
          <p:cNvPr id="13" name="ut1"/>
          <p:cNvSpPr/>
          <p:nvPr/>
        </p:nvSpPr>
        <p:spPr>
          <a:xfrm>
            <a:off x="6375197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75197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73498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Exchange and VASP compliance teams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673498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Faster, standard requests about reported fraud flows</a:t>
            </a:r>
            <a:endParaRPr lang="en-US" sz="1400" dirty="0"/>
          </a:p>
        </p:txBody>
      </p:sp>
      <p:sp>
        <p:nvSpPr>
          <p:cNvPr id="17" name="user2"/>
          <p:cNvSpPr/>
          <p:nvPr/>
        </p:nvSpPr>
        <p:spPr>
          <a:xfrm>
            <a:off x="8158277" y="1188720"/>
            <a:ext cx="3484778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ui2-circle"/>
          <p:cNvSpPr/>
          <p:nvPr/>
        </p:nvSpPr>
        <p:spPr>
          <a:xfrm>
            <a:off x="8478317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u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286" y="1677010"/>
            <a:ext cx="395021" cy="395021"/>
          </a:xfrm>
          <a:prstGeom prst="rect">
            <a:avLst/>
          </a:prstGeom>
        </p:spPr>
      </p:pic>
      <p:sp>
        <p:nvSpPr>
          <p:cNvPr id="20" name="ut2"/>
          <p:cNvSpPr/>
          <p:nvPr/>
        </p:nvSpPr>
        <p:spPr>
          <a:xfrm>
            <a:off x="10180015" y="1600200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0180015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SECONDARY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478317" y="25146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Banks' fraud units</a:t>
            </a:r>
            <a:endParaRPr lang="en-US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8478317" y="3200400"/>
            <a:ext cx="2844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Link crypto cash-outs to the accounts they hold</a:t>
            </a:r>
            <a:endParaRPr lang="en-US" sz="1400" dirty="0"/>
          </a:p>
        </p:txBody>
      </p:sp>
      <p:sp>
        <p:nvSpPr>
          <p:cNvPr id="24" name="value-band"/>
          <p:cNvSpPr/>
          <p:nvPr/>
        </p:nvSpPr>
        <p:spPr>
          <a:xfrm>
            <a:off x="548640" y="4343400"/>
            <a:ext cx="11094415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VALUE TO THEM</a:t>
            </a:r>
            <a:endParaRPr lang="en-US" sz="1200" dirty="0"/>
          </a:p>
        </p:txBody>
      </p:sp>
      <p:sp>
        <p:nvSpPr>
          <p:cNvPr id="26" name="val0-circle"/>
          <p:cNvSpPr/>
          <p:nvPr/>
        </p:nvSpPr>
        <p:spPr>
          <a:xfrm>
            <a:off x="86868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val0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126126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Faster response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1554480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exchange found in one run</a:t>
            </a:r>
            <a:endParaRPr lang="en-US" sz="1300" dirty="0"/>
          </a:p>
        </p:txBody>
      </p:sp>
      <p:sp>
        <p:nvSpPr>
          <p:cNvPr id="30" name="val1-circle"/>
          <p:cNvSpPr/>
          <p:nvPr/>
        </p:nvSpPr>
        <p:spPr>
          <a:xfrm>
            <a:off x="3482264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val1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4910" y="5126126"/>
            <a:ext cx="263347" cy="26334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4168064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More freezes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4168064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request reaches the VASP sooner</a:t>
            </a:r>
            <a:endParaRPr lang="en-US" sz="1300" dirty="0"/>
          </a:p>
        </p:txBody>
      </p:sp>
      <p:sp>
        <p:nvSpPr>
          <p:cNvPr id="34" name="val2-circle"/>
          <p:cNvSpPr/>
          <p:nvPr/>
        </p:nvSpPr>
        <p:spPr>
          <a:xfrm>
            <a:off x="6095848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val2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494" y="5126126"/>
            <a:ext cx="263347" cy="263347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781648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VASP coordination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6781648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right contact, standard format</a:t>
            </a:r>
            <a:endParaRPr lang="en-US" sz="1300" dirty="0"/>
          </a:p>
        </p:txBody>
      </p:sp>
      <p:sp>
        <p:nvSpPr>
          <p:cNvPr id="38" name="val3-circle"/>
          <p:cNvSpPr/>
          <p:nvPr/>
        </p:nvSpPr>
        <p:spPr>
          <a:xfrm>
            <a:off x="8709431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val3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2078" y="5126126"/>
            <a:ext cx="263347" cy="26334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395231" y="4919472"/>
            <a:ext cx="183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Stronger evidence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9395231" y="5285232"/>
            <a:ext cx="1836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timestamped, hashed snapshots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and Stack</a:t>
            </a:r>
            <a:endParaRPr lang="en-US" sz="3200" dirty="0"/>
          </a:p>
        </p:txBody>
      </p:sp>
      <p:sp>
        <p:nvSpPr>
          <p:cNvPr id="3" name="a-in"/>
          <p:cNvSpPr/>
          <p:nvPr/>
        </p:nvSpPr>
        <p:spPr>
          <a:xfrm>
            <a:off x="548640" y="2331720"/>
            <a:ext cx="160020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386584"/>
            <a:ext cx="13807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  |  API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NCRP / SAHYOG (future)</a:t>
            </a:r>
            <a:endParaRPr lang="en-US" sz="1400" dirty="0"/>
          </a:p>
        </p:txBody>
      </p:sp>
      <p:sp>
        <p:nvSpPr>
          <p:cNvPr id="5" name="a1"/>
          <p:cNvSpPr/>
          <p:nvPr/>
        </p:nvSpPr>
        <p:spPr>
          <a:xfrm>
            <a:off x="2148840" y="2971800"/>
            <a:ext cx="2743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a-orch"/>
          <p:cNvSpPr/>
          <p:nvPr/>
        </p:nvSpPr>
        <p:spPr>
          <a:xfrm>
            <a:off x="2423160" y="233172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32888" y="2386584"/>
            <a:ext cx="17007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Job queue runs both engines in parallel</a:t>
            </a:r>
            <a:endParaRPr lang="en-US" sz="1400" dirty="0"/>
          </a:p>
        </p:txBody>
      </p:sp>
      <p:sp>
        <p:nvSpPr>
          <p:cNvPr id="8" name="a2"/>
          <p:cNvSpPr/>
          <p:nvPr/>
        </p:nvSpPr>
        <p:spPr>
          <a:xfrm>
            <a:off x="4343400" y="2697480"/>
            <a:ext cx="411480" cy="-6858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a3"/>
          <p:cNvSpPr/>
          <p:nvPr/>
        </p:nvSpPr>
        <p:spPr>
          <a:xfrm>
            <a:off x="4343400" y="3246120"/>
            <a:ext cx="41148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a-on"/>
          <p:cNvSpPr/>
          <p:nvPr/>
        </p:nvSpPr>
        <p:spPr>
          <a:xfrm>
            <a:off x="4754880" y="1188720"/>
            <a:ext cx="320040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4608" y="1243584"/>
            <a:ext cx="298094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Blockchain engine: tracing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Transaction graph, laundering patterns, exchange-address matching with confidence</a:t>
            </a:r>
            <a:endParaRPr lang="en-US" sz="1400" dirty="0"/>
          </a:p>
        </p:txBody>
      </p:sp>
      <p:sp>
        <p:nvSpPr>
          <p:cNvPr id="12" name="a-tf"/>
          <p:cNvSpPr/>
          <p:nvPr/>
        </p:nvSpPr>
        <p:spPr>
          <a:xfrm>
            <a:off x="4754880" y="3429000"/>
            <a:ext cx="3200400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a-tf-head"/>
          <p:cNvSpPr/>
          <p:nvPr/>
        </p:nvSpPr>
        <p:spPr>
          <a:xfrm>
            <a:off x="4754880" y="3429000"/>
            <a:ext cx="320040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TinyFish: off-chain web research</a:t>
            </a:r>
            <a:endParaRPr lang="en-US" sz="1500" dirty="0"/>
          </a:p>
        </p:txBody>
      </p:sp>
      <p:sp>
        <p:nvSpPr>
          <p:cNvPr id="15" name="tfchip0"/>
          <p:cNvSpPr/>
          <p:nvPr/>
        </p:nvSpPr>
        <p:spPr>
          <a:xfrm>
            <a:off x="493776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Search</a:t>
            </a:r>
            <a:endParaRPr lang="en-US" sz="1300" dirty="0"/>
          </a:p>
        </p:txBody>
      </p:sp>
      <p:sp>
        <p:nvSpPr>
          <p:cNvPr id="17" name="tfchip1"/>
          <p:cNvSpPr/>
          <p:nvPr/>
        </p:nvSpPr>
        <p:spPr>
          <a:xfrm>
            <a:off x="6400800" y="416052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4160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Fetch</a:t>
            </a:r>
            <a:endParaRPr lang="en-US" sz="1300" dirty="0"/>
          </a:p>
        </p:txBody>
      </p:sp>
      <p:sp>
        <p:nvSpPr>
          <p:cNvPr id="19" name="tfchip2"/>
          <p:cNvSpPr/>
          <p:nvPr/>
        </p:nvSpPr>
        <p:spPr>
          <a:xfrm>
            <a:off x="493776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Agent</a:t>
            </a:r>
            <a:endParaRPr lang="en-US" sz="1300" dirty="0"/>
          </a:p>
        </p:txBody>
      </p:sp>
      <p:sp>
        <p:nvSpPr>
          <p:cNvPr id="21" name="tfchip3"/>
          <p:cNvSpPr/>
          <p:nvPr/>
        </p:nvSpPr>
        <p:spPr>
          <a:xfrm>
            <a:off x="6400800" y="4800600"/>
            <a:ext cx="137160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800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Browser*</a:t>
            </a:r>
            <a:endParaRPr lang="en-US" sz="1300" dirty="0"/>
          </a:p>
        </p:txBody>
      </p:sp>
      <p:sp>
        <p:nvSpPr>
          <p:cNvPr id="23" name="a4"/>
          <p:cNvSpPr/>
          <p:nvPr/>
        </p:nvSpPr>
        <p:spPr>
          <a:xfrm>
            <a:off x="7955280" y="1874520"/>
            <a:ext cx="50292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5"/>
          <p:cNvSpPr/>
          <p:nvPr/>
        </p:nvSpPr>
        <p:spPr>
          <a:xfrm>
            <a:off x="7955280" y="4526280"/>
            <a:ext cx="502920" cy="-109728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a-risk"/>
          <p:cNvSpPr/>
          <p:nvPr/>
        </p:nvSpPr>
        <p:spPr>
          <a:xfrm>
            <a:off x="8458200" y="2514600"/>
            <a:ext cx="1508760" cy="109728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67928" y="2569464"/>
            <a:ext cx="1289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Risk engine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Rules now, ML typologies next</a:t>
            </a:r>
            <a:endParaRPr lang="en-US" sz="1400" dirty="0"/>
          </a:p>
        </p:txBody>
      </p:sp>
      <p:sp>
        <p:nvSpPr>
          <p:cNvPr id="27" name="a6"/>
          <p:cNvSpPr/>
          <p:nvPr/>
        </p:nvSpPr>
        <p:spPr>
          <a:xfrm>
            <a:off x="9966960" y="3063240"/>
            <a:ext cx="2743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a-out"/>
          <p:cNvSpPr/>
          <p:nvPr/>
        </p:nvSpPr>
        <p:spPr>
          <a:xfrm>
            <a:off x="10241280" y="2331720"/>
            <a:ext cx="1399032" cy="1463040"/>
          </a:xfrm>
          <a:prstGeom prst="roundRect">
            <a:avLst>
              <a:gd name="adj" fmla="val 52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51008" y="2386584"/>
            <a:ext cx="117957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Outputs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Dashboard, alerts, source-linked report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690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Blockchain explorer / node APIs feed the on-chain engine. The open web (scam-report sites, exchange sites) feeds TinyFish.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* Browser: stretch goal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06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STACK</a:t>
            </a:r>
            <a:endParaRPr lang="en-US" sz="1200" dirty="0"/>
          </a:p>
        </p:txBody>
      </p:sp>
      <p:sp>
        <p:nvSpPr>
          <p:cNvPr id="33" name="stack0"/>
          <p:cNvSpPr/>
          <p:nvPr/>
        </p:nvSpPr>
        <p:spPr>
          <a:xfrm>
            <a:off x="1371600" y="5833872"/>
            <a:ext cx="1444752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371600" y="5833872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Python + FastAPI</a:t>
            </a:r>
            <a:endParaRPr lang="en-US" sz="1200" dirty="0"/>
          </a:p>
        </p:txBody>
      </p:sp>
      <p:sp>
        <p:nvSpPr>
          <p:cNvPr id="35" name="stack1"/>
          <p:cNvSpPr/>
          <p:nvPr/>
        </p:nvSpPr>
        <p:spPr>
          <a:xfrm>
            <a:off x="2907792" y="5833872"/>
            <a:ext cx="1152144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07792" y="5833872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Redis worker</a:t>
            </a:r>
            <a:endParaRPr lang="en-US" sz="1200" dirty="0"/>
          </a:p>
        </p:txBody>
      </p:sp>
      <p:sp>
        <p:nvSpPr>
          <p:cNvPr id="37" name="stack2"/>
          <p:cNvSpPr/>
          <p:nvPr/>
        </p:nvSpPr>
        <p:spPr>
          <a:xfrm>
            <a:off x="4151376" y="5833872"/>
            <a:ext cx="100584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151376" y="58338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39" name="stack3"/>
          <p:cNvSpPr/>
          <p:nvPr/>
        </p:nvSpPr>
        <p:spPr>
          <a:xfrm>
            <a:off x="5248656" y="5833872"/>
            <a:ext cx="1298448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48656" y="583387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NetworkX graph</a:t>
            </a:r>
            <a:endParaRPr lang="en-US" sz="1200" dirty="0"/>
          </a:p>
        </p:txBody>
      </p:sp>
      <p:sp>
        <p:nvSpPr>
          <p:cNvPr id="41" name="stack4"/>
          <p:cNvSpPr/>
          <p:nvPr/>
        </p:nvSpPr>
        <p:spPr>
          <a:xfrm>
            <a:off x="6638544" y="5833872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638544" y="583387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React dashboard</a:t>
            </a:r>
            <a:endParaRPr lang="en-US" sz="1200" dirty="0"/>
          </a:p>
        </p:txBody>
      </p:sp>
      <p:sp>
        <p:nvSpPr>
          <p:cNvPr id="43" name="stack5"/>
          <p:cNvSpPr/>
          <p:nvPr/>
        </p:nvSpPr>
        <p:spPr>
          <a:xfrm>
            <a:off x="8101584" y="5833872"/>
            <a:ext cx="1591056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01584" y="5833872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PDF / JSON reports</a:t>
            </a:r>
            <a:endParaRPr lang="en-US" sz="1200" dirty="0"/>
          </a:p>
        </p:txBody>
      </p:sp>
      <p:sp>
        <p:nvSpPr>
          <p:cNvPr id="45" name="stack6"/>
          <p:cNvSpPr/>
          <p:nvPr/>
        </p:nvSpPr>
        <p:spPr>
          <a:xfrm>
            <a:off x="9784080" y="5833872"/>
            <a:ext cx="1152144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784080" y="5833872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TinyFish API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Plan to Integrate the TinyFish API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The blockchain engine traces transactions. TinyFish does the off-chain web research.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88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IN OUR FLOW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WHY TINYFISH</a:t>
            </a:r>
            <a:endParaRPr lang="en-US" sz="1100" dirty="0"/>
          </a:p>
        </p:txBody>
      </p:sp>
      <p:sp>
        <p:nvSpPr>
          <p:cNvPr id="6" name="tf0"/>
          <p:cNvSpPr/>
          <p:nvPr/>
        </p:nvSpPr>
        <p:spPr>
          <a:xfrm>
            <a:off x="548640" y="192024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fi0-circle"/>
          <p:cNvSpPr/>
          <p:nvPr/>
        </p:nvSpPr>
        <p:spPr>
          <a:xfrm>
            <a:off x="713232" y="205740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tfi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221193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92024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Search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2788920" y="19202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Discover public scam reports about the wallet and the exchange's official pages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920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Structured live results with URLs</a:t>
            </a:r>
            <a:endParaRPr lang="en-US" sz="1400" dirty="0"/>
          </a:p>
        </p:txBody>
      </p:sp>
      <p:sp>
        <p:nvSpPr>
          <p:cNvPr id="12" name="tf1"/>
          <p:cNvSpPr/>
          <p:nvPr/>
        </p:nvSpPr>
        <p:spPr>
          <a:xfrm>
            <a:off x="548640" y="2907792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fi1-circle"/>
          <p:cNvSpPr/>
          <p:nvPr/>
        </p:nvSpPr>
        <p:spPr>
          <a:xfrm>
            <a:off x="713232" y="3044952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tfi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766" y="3199486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907792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Fetch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90779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Retrieve and extract the content of those URLs; confirm the wallet appears; log URL + time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290779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text or JSON from any page</a:t>
            </a:r>
            <a:endParaRPr lang="en-US" sz="1400" dirty="0"/>
          </a:p>
        </p:txBody>
      </p:sp>
      <p:sp>
        <p:nvSpPr>
          <p:cNvPr id="18" name="tf2"/>
          <p:cNvSpPr/>
          <p:nvPr/>
        </p:nvSpPr>
        <p:spPr>
          <a:xfrm>
            <a:off x="548640" y="3895344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fi2-circle"/>
          <p:cNvSpPr/>
          <p:nvPr/>
        </p:nvSpPr>
        <p:spPr>
          <a:xfrm>
            <a:off x="713232" y="4032504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tfi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4187038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63040" y="3895344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Web Agent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2788920" y="389534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Navigate the exchange's official site to its law-enforcement reporting process, where publicly accessible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7772400" y="389534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Multi-step goal on any site; structured JSON; never logs in</a:t>
            </a:r>
            <a:endParaRPr lang="en-US" sz="1400" dirty="0"/>
          </a:p>
        </p:txBody>
      </p:sp>
      <p:sp>
        <p:nvSpPr>
          <p:cNvPr id="24" name="scraper"/>
          <p:cNvSpPr/>
          <p:nvPr/>
        </p:nvSpPr>
        <p:spPr>
          <a:xfrm>
            <a:off x="548640" y="4983480"/>
            <a:ext cx="539496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Why not a normal scraper?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exchange site is different, changes often and has no API. One agent goal works across all of them; a scraper needs a script per site.</a:t>
            </a:r>
            <a:endParaRPr lang="en-US" sz="1300" dirty="0"/>
          </a:p>
        </p:txBody>
      </p:sp>
      <p:sp>
        <p:nvSpPr>
          <p:cNvPr id="27" name="example"/>
          <p:cNvSpPr/>
          <p:nvPr/>
        </p:nvSpPr>
        <p:spPr>
          <a:xfrm>
            <a:off x="6172200" y="4983480"/>
            <a:ext cx="547085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46520" y="5074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Example agent goal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54406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"Find this exchange's law-enforcement request process. Don't log in. Return portal, steps, documents, contact."  Returns JSON fields we drop into the report.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Scalability, Feasibility and Use Case</a:t>
            </a:r>
            <a:endParaRPr lang="en-US" sz="3200" dirty="0"/>
          </a:p>
        </p:txBody>
      </p:sp>
      <p:sp>
        <p:nvSpPr>
          <p:cNvPr id="3" name="scope"/>
          <p:cNvSpPr/>
          <p:nvPr/>
        </p:nvSpPr>
        <p:spPr>
          <a:xfrm>
            <a:off x="548640" y="1188720"/>
            <a:ext cx="3657600" cy="4983480"/>
          </a:xfrm>
          <a:prstGeom prst="roundRect">
            <a:avLst>
              <a:gd name="adj" fmla="val 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24H MVP: ONE WORKING FLOW</a:t>
            </a:r>
            <a:endParaRPr lang="en-US" sz="1300" dirty="0"/>
          </a:p>
        </p:txBody>
      </p:sp>
      <p:sp>
        <p:nvSpPr>
          <p:cNvPr id="5" name="sc0-circle"/>
          <p:cNvSpPr/>
          <p:nvPr/>
        </p:nvSpPr>
        <p:spPr>
          <a:xfrm>
            <a:off x="822960" y="1874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sc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969618"/>
            <a:ext cx="175565" cy="1755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reported wallet → one report</a:t>
            </a:r>
            <a:endParaRPr lang="en-US" sz="1400" dirty="0"/>
          </a:p>
        </p:txBody>
      </p:sp>
      <p:sp>
        <p:nvSpPr>
          <p:cNvPr id="8" name="sc1-circle"/>
          <p:cNvSpPr/>
          <p:nvPr/>
        </p:nvSpPr>
        <p:spPr>
          <a:xfrm>
            <a:off x="822960" y="24414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sc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8" y="253654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Tron, with live APIs where feasible</a:t>
            </a:r>
            <a:endParaRPr lang="en-US" sz="1400" dirty="0"/>
          </a:p>
        </p:txBody>
      </p:sp>
      <p:sp>
        <p:nvSpPr>
          <p:cNvPr id="11" name="sc2-circle"/>
          <p:cNvSpPr/>
          <p:nvPr/>
        </p:nvSpPr>
        <p:spPr>
          <a:xfrm>
            <a:off x="822960" y="300837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sc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103474"/>
            <a:ext cx="175565" cy="17556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9626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Tested on known public wallets</a:t>
            </a:r>
            <a:endParaRPr lang="en-US" sz="1400" dirty="0"/>
          </a:p>
        </p:txBody>
      </p:sp>
      <p:sp>
        <p:nvSpPr>
          <p:cNvPr id="14" name="sc3-circle"/>
          <p:cNvSpPr/>
          <p:nvPr/>
        </p:nvSpPr>
        <p:spPr>
          <a:xfrm>
            <a:off x="822960" y="3575304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sc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8" y="3670402"/>
            <a:ext cx="175565" cy="17556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TinyFish on 1–2 exchanges</a:t>
            </a:r>
            <a:endParaRPr lang="en-US" sz="1400" dirty="0"/>
          </a:p>
        </p:txBody>
      </p:sp>
      <p:sp>
        <p:nvSpPr>
          <p:cNvPr id="17" name="sc4-circle"/>
          <p:cNvSpPr/>
          <p:nvPr/>
        </p:nvSpPr>
        <p:spPr>
          <a:xfrm>
            <a:off x="822960" y="4142232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sc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237330"/>
            <a:ext cx="175565" cy="17556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096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Leads labelled with confidence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82296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</a:rPr>
              <a:t>Stretch: Ethereum, deeper tracing. Later: more chains, cross-chain, ML, NCRP / SAHYOG integration (with authorised access)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4480560" y="11887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Scales by configuration</a:t>
            </a:r>
            <a:endParaRPr lang="en-US" sz="1700" dirty="0"/>
          </a:p>
        </p:txBody>
      </p:sp>
      <p:sp>
        <p:nvSpPr>
          <p:cNvPr id="22" name="scl0-circle"/>
          <p:cNvSpPr/>
          <p:nvPr/>
        </p:nvSpPr>
        <p:spPr>
          <a:xfrm>
            <a:off x="448056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scl0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1319" y="1868119"/>
            <a:ext cx="241402" cy="24140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166360" y="1691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New chain or exchange = one config entry, no new scraper</a:t>
            </a:r>
            <a:endParaRPr lang="en-US" sz="1400" dirty="0"/>
          </a:p>
        </p:txBody>
      </p:sp>
      <p:sp>
        <p:nvSpPr>
          <p:cNvPr id="25" name="scl1-circle"/>
          <p:cNvSpPr/>
          <p:nvPr/>
        </p:nvSpPr>
        <p:spPr>
          <a:xfrm>
            <a:off x="4480560" y="2560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scl1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1319" y="2691079"/>
            <a:ext cx="241402" cy="2414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166360" y="2514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Tracing and agents run in parallel via the job queue</a:t>
            </a:r>
            <a:endParaRPr lang="en-US" sz="1400" dirty="0"/>
          </a:p>
        </p:txBody>
      </p:sp>
      <p:sp>
        <p:nvSpPr>
          <p:cNvPr id="28" name="scl2-circle"/>
          <p:cNvSpPr/>
          <p:nvPr/>
        </p:nvSpPr>
        <p:spPr>
          <a:xfrm>
            <a:off x="4480560" y="33832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scl2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1319" y="3514039"/>
            <a:ext cx="241402" cy="24140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166360" y="3337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VASP contacts cached and reused across cases</a:t>
            </a:r>
            <a:endParaRPr lang="en-US" sz="1400" dirty="0"/>
          </a:p>
        </p:txBody>
      </p:sp>
      <p:sp>
        <p:nvSpPr>
          <p:cNvPr id="31" name="scl3-circle"/>
          <p:cNvSpPr/>
          <p:nvPr/>
        </p:nvSpPr>
        <p:spPr>
          <a:xfrm>
            <a:off x="4480560" y="42062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2" name="scl3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1319" y="4336999"/>
            <a:ext cx="241402" cy="24140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166360" y="4160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REST API ready for future NCRP / SAHYOG integration, once authorised</a:t>
            </a:r>
            <a:endParaRPr lang="en-US" sz="1400" dirty="0"/>
          </a:p>
        </p:txBody>
      </p:sp>
      <p:sp>
        <p:nvSpPr>
          <p:cNvPr id="34" name="Text 23"/>
          <p:cNvSpPr txBox="1"/>
          <p:nvPr/>
        </p:nvSpPr>
        <p:spPr>
          <a:xfrm>
            <a:off x="4480560" y="51206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Feasible now: existing blockchain APIs + TinyFish, no custom indexer for the MVP</a:t>
            </a:r>
            <a:endParaRPr lang="en-US" sz="1400" dirty="0"/>
          </a:p>
        </p:txBody>
      </p:sp>
      <p:sp>
        <p:nvSpPr>
          <p:cNvPr id="35" name="Text 24"/>
          <p:cNvSpPr txBox="1"/>
          <p:nvPr/>
        </p:nvSpPr>
        <p:spPr>
          <a:xfrm>
            <a:off x="8046720" y="1188720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Risks we plan for</a:t>
            </a:r>
            <a:endParaRPr lang="en-US" sz="1700" dirty="0"/>
          </a:p>
        </p:txBody>
      </p:sp>
      <p:sp>
        <p:nvSpPr>
          <p:cNvPr id="36" name="risk0"/>
          <p:cNvSpPr/>
          <p:nvPr/>
        </p:nvSpPr>
        <p:spPr>
          <a:xfrm>
            <a:off x="8046720" y="1691640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8229600" y="1783080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Attribution is uncertain</a:t>
            </a:r>
            <a:endParaRPr lang="en-US" sz="1400" dirty="0"/>
          </a:p>
        </p:txBody>
      </p:sp>
      <p:sp>
        <p:nvSpPr>
          <p:cNvPr id="38" name="Text 27"/>
          <p:cNvSpPr txBox="1"/>
          <p:nvPr/>
        </p:nvSpPr>
        <p:spPr>
          <a:xfrm>
            <a:off x="8229600" y="2121408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Confidence levels; not proof the exchange holds funds</a:t>
            </a:r>
            <a:endParaRPr lang="en-US" sz="1300" dirty="0"/>
          </a:p>
        </p:txBody>
      </p:sp>
      <p:sp>
        <p:nvSpPr>
          <p:cNvPr id="39" name="risk1"/>
          <p:cNvSpPr/>
          <p:nvPr/>
        </p:nvSpPr>
        <p:spPr>
          <a:xfrm>
            <a:off x="8046720" y="2715768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8229600" y="2807208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Agent fails on an odd site</a:t>
            </a:r>
            <a:endParaRPr lang="en-US" sz="1400" dirty="0"/>
          </a:p>
        </p:txBody>
      </p:sp>
      <p:sp>
        <p:nvSpPr>
          <p:cNvPr id="41" name="Text 30"/>
          <p:cNvSpPr txBox="1"/>
          <p:nvPr/>
        </p:nvSpPr>
        <p:spPr>
          <a:xfrm>
            <a:off x="8229600" y="3145536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Retries, then manual-review flag</a:t>
            </a:r>
            <a:endParaRPr lang="en-US" sz="1300" dirty="0"/>
          </a:p>
        </p:txBody>
      </p:sp>
      <p:sp>
        <p:nvSpPr>
          <p:cNvPr id="42" name="risk2"/>
          <p:cNvSpPr/>
          <p:nvPr/>
        </p:nvSpPr>
        <p:spPr>
          <a:xfrm>
            <a:off x="8046720" y="3739896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8229600" y="3831336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Mixers and privacy tools</a:t>
            </a:r>
            <a:endParaRPr lang="en-US" sz="1400" dirty="0"/>
          </a:p>
        </p:txBody>
      </p:sp>
      <p:sp>
        <p:nvSpPr>
          <p:cNvPr id="44" name="Text 33"/>
          <p:cNvSpPr txBox="1"/>
          <p:nvPr/>
        </p:nvSpPr>
        <p:spPr>
          <a:xfrm>
            <a:off x="8229600" y="4169664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Flag where the trail breaks; expert review</a:t>
            </a:r>
            <a:endParaRPr lang="en-US" sz="1300" dirty="0"/>
          </a:p>
        </p:txBody>
      </p:sp>
      <p:sp>
        <p:nvSpPr>
          <p:cNvPr id="45" name="risk3"/>
          <p:cNvSpPr/>
          <p:nvPr/>
        </p:nvSpPr>
        <p:spPr>
          <a:xfrm>
            <a:off x="8046720" y="4764024"/>
            <a:ext cx="359633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8229600" y="4855464"/>
            <a:ext cx="3230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False positives</a:t>
            </a:r>
            <a:endParaRPr lang="en-US" sz="1400" dirty="0"/>
          </a:p>
        </p:txBody>
      </p:sp>
      <p:sp>
        <p:nvSpPr>
          <p:cNvPr id="47" name="Text 36"/>
          <p:cNvSpPr txBox="1"/>
          <p:nvPr/>
        </p:nvSpPr>
        <p:spPr>
          <a:xfrm>
            <a:off x="8229600" y="5193792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Human review; score explained point by point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Case: Worked Example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real-world precedent for coordinated tracing and freezing (not a ChainSight result)</a:t>
            </a:r>
            <a:endParaRPr lang="en-US" sz="1700" dirty="0"/>
          </a:p>
        </p:txBody>
      </p:sp>
      <p:sp>
        <p:nvSpPr>
          <p:cNvPr id="4" name="case"/>
          <p:cNvSpPr/>
          <p:nvPr/>
        </p:nvSpPr>
        <p:spPr>
          <a:xfrm>
            <a:off x="548640" y="1691640"/>
            <a:ext cx="11094415" cy="224028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NOVEMBER 2023  |  PIG-BUTCHERING SCAM</a:t>
            </a:r>
            <a:endParaRPr lang="en-US" sz="1200" dirty="0"/>
          </a:p>
        </p:txBody>
      </p:sp>
      <p:sp>
        <p:nvSpPr>
          <p:cNvPr id="6" name="case-trail-line"/>
          <p:cNvSpPr/>
          <p:nvPr/>
        </p:nvSpPr>
        <p:spPr>
          <a:xfrm>
            <a:off x="1914114" y="2432304"/>
            <a:ext cx="8363468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</a:ln>
        </p:spPr>
      </p:sp>
      <p:sp>
        <p:nvSpPr>
          <p:cNvPr id="7" name="case-trail-n0"/>
          <p:cNvSpPr/>
          <p:nvPr/>
        </p:nvSpPr>
        <p:spPr>
          <a:xfrm>
            <a:off x="1813530" y="2331720"/>
            <a:ext cx="201168" cy="201168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8" name="case-trail-n1"/>
          <p:cNvSpPr/>
          <p:nvPr/>
        </p:nvSpPr>
        <p:spPr>
          <a:xfrm>
            <a:off x="3904397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9" name="case-trail-n2"/>
          <p:cNvSpPr/>
          <p:nvPr/>
        </p:nvSpPr>
        <p:spPr>
          <a:xfrm>
            <a:off x="5995264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0" name="case-trail-n3"/>
          <p:cNvSpPr/>
          <p:nvPr/>
        </p:nvSpPr>
        <p:spPr>
          <a:xfrm>
            <a:off x="8086131" y="2331720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1" name="case-trail-n4"/>
          <p:cNvSpPr/>
          <p:nvPr/>
        </p:nvSpPr>
        <p:spPr>
          <a:xfrm>
            <a:off x="10140422" y="2295144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70+ victims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paid a Southeast Asian scam syndicate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05267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Self-custody USDT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05267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funds parked across the syndicate's wallets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96134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Traced on-chain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96134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by OKX and Tether using Chainalysis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87001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Freeze request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187001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from the US Secret Service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77868" y="2697480"/>
            <a:ext cx="19994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$225M frozen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77868" y="3108960"/>
            <a:ext cx="19994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largest USDT freeze to date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77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Sources: Blockworks, OCCRP, Benzinga coverage of the Tether / OKX announcement (Nov 2023)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89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Where ChainSight could help an Indian cyber cell in a similar case</a:t>
            </a:r>
            <a:endParaRPr lang="en-US" sz="1700" dirty="0"/>
          </a:p>
        </p:txBody>
      </p:sp>
      <p:sp>
        <p:nvSpPr>
          <p:cNvPr id="24" name="fit0-circle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fit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5034686"/>
            <a:ext cx="263347" cy="26334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enters the reported wallet from the complaint</a:t>
            </a:r>
            <a:endParaRPr lang="en-US" sz="1400" dirty="0"/>
          </a:p>
        </p:txBody>
      </p:sp>
      <p:sp>
        <p:nvSpPr>
          <p:cNvPr id="27" name="fit1-circle"/>
          <p:cNvSpPr/>
          <p:nvPr/>
        </p:nvSpPr>
        <p:spPr>
          <a:xfrm>
            <a:off x="3379394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fit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040" y="5034686"/>
            <a:ext cx="263347" cy="26334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4065194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Leads to likely exchange-linked addresses, confidence-rated</a:t>
            </a:r>
            <a:endParaRPr lang="en-US" sz="1400" dirty="0"/>
          </a:p>
        </p:txBody>
      </p:sp>
      <p:sp>
        <p:nvSpPr>
          <p:cNvPr id="30" name="fit2-circle"/>
          <p:cNvSpPr/>
          <p:nvPr/>
        </p:nvSpPr>
        <p:spPr>
          <a:xfrm>
            <a:off x="6210148" y="4892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fit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794" y="503468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6895948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TinyFish finds public reports and the official request process</a:t>
            </a:r>
            <a:endParaRPr lang="en-US" sz="1400" dirty="0"/>
          </a:p>
        </p:txBody>
      </p:sp>
      <p:sp>
        <p:nvSpPr>
          <p:cNvPr id="33" name="fit3-circle"/>
          <p:cNvSpPr/>
          <p:nvPr/>
        </p:nvSpPr>
        <p:spPr>
          <a:xfrm>
            <a:off x="9040901" y="4892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fit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3548" y="5034686"/>
            <a:ext cx="263347" cy="263347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726701" y="4846320"/>
            <a:ext cx="18706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Officer verifies, then requests via the exchange's process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Aim: cut manual research time. We will measure it in the build, not assume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/ Prototype</a:t>
            </a:r>
            <a:endParaRPr lang="en-US" sz="3200" dirty="0"/>
          </a:p>
        </p:txBody>
      </p:sp>
      <p:sp>
        <p:nvSpPr>
          <p:cNvPr id="3" name="mk-label"/>
          <p:cNvSpPr/>
          <p:nvPr/>
        </p:nvSpPr>
        <p:spPr>
          <a:xfrm>
            <a:off x="548640" y="1024128"/>
            <a:ext cx="603504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2412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ILLUSTRATIVE MOCKUP: SAMPLE DATA, NOT A REAL INVESTIGATION RESULT</a:t>
            </a:r>
            <a:endParaRPr lang="en-US" sz="1200" dirty="0"/>
          </a:p>
        </p:txBody>
      </p:sp>
      <p:sp>
        <p:nvSpPr>
          <p:cNvPr id="5" name="mk-frame"/>
          <p:cNvSpPr/>
          <p:nvPr/>
        </p:nvSpPr>
        <p:spPr>
          <a:xfrm>
            <a:off x="548640" y="1508760"/>
            <a:ext cx="7863840" cy="4754880"/>
          </a:xfrm>
          <a:prstGeom prst="roundRect">
            <a:avLst>
              <a:gd name="adj" fmla="val 1538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6" name="mk-bar"/>
          <p:cNvSpPr/>
          <p:nvPr/>
        </p:nvSpPr>
        <p:spPr>
          <a:xfrm>
            <a:off x="548640" y="1508760"/>
            <a:ext cx="7863840" cy="4572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ChainSight   Case DEMO-001   |   Tron</a:t>
            </a:r>
            <a:endParaRPr lang="en-US" sz="1200" dirty="0"/>
          </a:p>
        </p:txBody>
      </p:sp>
      <p:sp>
        <p:nvSpPr>
          <p:cNvPr id="8" name="mk-dl"/>
          <p:cNvSpPr/>
          <p:nvPr/>
        </p:nvSpPr>
        <p:spPr>
          <a:xfrm>
            <a:off x="690372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03720" y="1600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Export report</a:t>
            </a:r>
            <a:endParaRPr lang="en-US" sz="1100" dirty="0"/>
          </a:p>
        </p:txBody>
      </p:sp>
      <p:sp>
        <p:nvSpPr>
          <p:cNvPr id="10" name="mk-k0"/>
          <p:cNvSpPr/>
          <p:nvPr/>
        </p:nvSpPr>
        <p:spPr>
          <a:xfrm>
            <a:off x="77724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696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LEAD CONFIDENCE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Medium</a:t>
            </a:r>
            <a:endParaRPr lang="en-US" sz="1400" dirty="0"/>
          </a:p>
        </p:txBody>
      </p:sp>
      <p:sp>
        <p:nvSpPr>
          <p:cNvPr id="13" name="mk-k1"/>
          <p:cNvSpPr/>
          <p:nvPr/>
        </p:nvSpPr>
        <p:spPr>
          <a:xfrm>
            <a:off x="266319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291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LIKELY EXCHANGE-LINKED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77291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Exchange X</a:t>
            </a:r>
            <a:endParaRPr lang="en-US" sz="1400" dirty="0"/>
          </a:p>
        </p:txBody>
      </p:sp>
      <p:sp>
        <p:nvSpPr>
          <p:cNvPr id="16" name="mk-k2"/>
          <p:cNvSpPr/>
          <p:nvPr/>
        </p:nvSpPr>
        <p:spPr>
          <a:xfrm>
            <a:off x="454914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5886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OBSERVED TXS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5886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tx hashes</a:t>
            </a:r>
            <a:endParaRPr lang="en-US" sz="1400" dirty="0"/>
          </a:p>
        </p:txBody>
      </p:sp>
      <p:sp>
        <p:nvSpPr>
          <p:cNvPr id="19" name="mk-k3"/>
          <p:cNvSpPr/>
          <p:nvPr/>
        </p:nvSpPr>
        <p:spPr>
          <a:xfrm>
            <a:off x="6435090" y="2103120"/>
            <a:ext cx="174879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44818" y="2167128"/>
            <a:ext cx="152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SOURCES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544818" y="2404872"/>
            <a:ext cx="1529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4 URLs, timed</a:t>
            </a:r>
            <a:endParaRPr lang="en-US" sz="1400" dirty="0"/>
          </a:p>
        </p:txBody>
      </p:sp>
      <p:sp>
        <p:nvSpPr>
          <p:cNvPr id="22" name="mk-graph"/>
          <p:cNvSpPr/>
          <p:nvPr/>
        </p:nvSpPr>
        <p:spPr>
          <a:xfrm>
            <a:off x="777240" y="2971800"/>
            <a:ext cx="4206240" cy="1600200"/>
          </a:xfrm>
          <a:prstGeom prst="roundRect">
            <a:avLst>
              <a:gd name="adj" fmla="val 4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044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Fund flow</a:t>
            </a:r>
            <a:endParaRPr lang="en-US" sz="1100" dirty="0"/>
          </a:p>
        </p:txBody>
      </p:sp>
      <p:sp>
        <p:nvSpPr>
          <p:cNvPr id="24" name="mk-e0"/>
          <p:cNvSpPr/>
          <p:nvPr/>
        </p:nvSpPr>
        <p:spPr>
          <a:xfrm>
            <a:off x="1207008" y="399592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5" name="mk-e1"/>
          <p:cNvSpPr/>
          <p:nvPr/>
        </p:nvSpPr>
        <p:spPr>
          <a:xfrm flipV="1">
            <a:off x="2029968" y="3630168"/>
            <a:ext cx="822960" cy="36576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6" name="mk-e2"/>
          <p:cNvSpPr/>
          <p:nvPr/>
        </p:nvSpPr>
        <p:spPr>
          <a:xfrm>
            <a:off x="2029968" y="3995928"/>
            <a:ext cx="822960" cy="3657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7" name="mk-e3"/>
          <p:cNvSpPr/>
          <p:nvPr/>
        </p:nvSpPr>
        <p:spPr>
          <a:xfrm>
            <a:off x="2852928" y="363016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28" name="mk-e4"/>
          <p:cNvSpPr/>
          <p:nvPr/>
        </p:nvSpPr>
        <p:spPr>
          <a:xfrm>
            <a:off x="3675888" y="3630168"/>
            <a:ext cx="82296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dash"/>
          </a:ln>
        </p:spPr>
      </p:sp>
      <p:sp>
        <p:nvSpPr>
          <p:cNvPr id="29" name="mk-e5"/>
          <p:cNvSpPr/>
          <p:nvPr/>
        </p:nvSpPr>
        <p:spPr>
          <a:xfrm>
            <a:off x="2852928" y="4361688"/>
            <a:ext cx="82296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30" name="mk-n0"/>
          <p:cNvSpPr/>
          <p:nvPr/>
        </p:nvSpPr>
        <p:spPr>
          <a:xfrm>
            <a:off x="1097280" y="388620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1" name="mk-n1"/>
          <p:cNvSpPr/>
          <p:nvPr/>
        </p:nvSpPr>
        <p:spPr>
          <a:xfrm>
            <a:off x="1920240" y="388620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2" name="mk-n2"/>
          <p:cNvSpPr/>
          <p:nvPr/>
        </p:nvSpPr>
        <p:spPr>
          <a:xfrm>
            <a:off x="2743200" y="352044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3" name="mk-n3"/>
          <p:cNvSpPr/>
          <p:nvPr/>
        </p:nvSpPr>
        <p:spPr>
          <a:xfrm>
            <a:off x="2743200" y="425196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4" name="mk-n4"/>
          <p:cNvSpPr/>
          <p:nvPr/>
        </p:nvSpPr>
        <p:spPr>
          <a:xfrm>
            <a:off x="3566160" y="352044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5" name="mk-n5"/>
          <p:cNvSpPr/>
          <p:nvPr/>
        </p:nvSpPr>
        <p:spPr>
          <a:xfrm>
            <a:off x="4389120" y="3520440"/>
            <a:ext cx="219456" cy="219456"/>
          </a:xfrm>
          <a:prstGeom prst="roundRect">
            <a:avLst>
              <a:gd name="adj" fmla="val 20833"/>
            </a:avLst>
          </a:prstGeom>
          <a:solidFill>
            <a:schemeClr val="accent3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6" name="mk-n6"/>
          <p:cNvSpPr/>
          <p:nvPr/>
        </p:nvSpPr>
        <p:spPr>
          <a:xfrm>
            <a:off x="3566160" y="4251960"/>
            <a:ext cx="219456" cy="219456"/>
          </a:xfrm>
          <a:prstGeom prst="ellipse">
            <a:avLst>
              <a:gd name="adj" fmla="val 20833"/>
            </a:avLst>
          </a:prstGeom>
          <a:solidFill>
            <a:schemeClr val="accent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41422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reported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2826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likely deposit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069080" y="3282696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Exchange X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148840" y="3044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solid = observed tx   dashed = inferred link</a:t>
            </a:r>
            <a:endParaRPr lang="en-US" sz="900" dirty="0"/>
          </a:p>
        </p:txBody>
      </p:sp>
      <p:sp>
        <p:nvSpPr>
          <p:cNvPr id="41" name="mk-contact"/>
          <p:cNvSpPr/>
          <p:nvPr/>
        </p:nvSpPr>
        <p:spPr>
          <a:xfrm>
            <a:off x="5166360" y="2971800"/>
            <a:ext cx="301752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9050">
            <a:solidFill>
              <a:srgbClr val="EEF2F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0352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Exchange X: official LE process</a:t>
            </a:r>
            <a:endParaRPr lang="en-US" sz="1200" dirty="0"/>
          </a:p>
        </p:txBody>
      </p:sp>
      <p:sp>
        <p:nvSpPr>
          <p:cNvPr id="43" name="mk-tf"/>
          <p:cNvSpPr/>
          <p:nvPr/>
        </p:nvSpPr>
        <p:spPr>
          <a:xfrm>
            <a:off x="5303520" y="3383280"/>
            <a:ext cx="210312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03520" y="33832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via TinyFish Agent + source URL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303520" y="3703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Portal: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LE request form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Steps: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official email, notice, submit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Retrieved: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10:44 UTC</a:t>
            </a:r>
            <a:endParaRPr lang="en-US" sz="1000" dirty="0"/>
          </a:p>
        </p:txBody>
      </p:sp>
      <p:sp>
        <p:nvSpPr>
          <p:cNvPr id="46" name="mk-freeze"/>
          <p:cNvSpPr/>
          <p:nvPr/>
        </p:nvSpPr>
        <p:spPr>
          <a:xfrm>
            <a:off x="5303520" y="4233672"/>
            <a:ext cx="27432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03520" y="4233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Draft request (officer verifies)</a:t>
            </a:r>
            <a:endParaRPr lang="en-US" sz="1100" dirty="0"/>
          </a:p>
        </p:txBody>
      </p:sp>
      <p:sp>
        <p:nvSpPr>
          <p:cNvPr id="48" name="mk-ev"/>
          <p:cNvSpPr/>
          <p:nvPr/>
        </p:nvSpPr>
        <p:spPr>
          <a:xfrm>
            <a:off x="777240" y="4709160"/>
            <a:ext cx="74066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14400" y="47640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Evidence trail</a:t>
            </a:r>
            <a:endParaRPr lang="en-US" sz="1200" dirty="0"/>
          </a:p>
        </p:txBody>
      </p:sp>
      <p:sp>
        <p:nvSpPr>
          <p:cNvPr id="50" name="mk-ev0"/>
          <p:cNvSpPr/>
          <p:nvPr/>
        </p:nvSpPr>
        <p:spPr>
          <a:xfrm>
            <a:off x="914400" y="5074920"/>
            <a:ext cx="8686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14400" y="50749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OBSERVED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874520" y="50749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tx 9c1e…44a0   reported wallet → TQ7…9F2   8,990 USDT   08 Oct 13:27 UTC</a:t>
            </a:r>
            <a:endParaRPr lang="en-US" sz="1000" dirty="0"/>
          </a:p>
        </p:txBody>
      </p:sp>
      <p:sp>
        <p:nvSpPr>
          <p:cNvPr id="53" name="mk-ev1"/>
          <p:cNvSpPr/>
          <p:nvPr/>
        </p:nvSpPr>
        <p:spPr>
          <a:xfrm>
            <a:off x="914400" y="5349240"/>
            <a:ext cx="86868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14400" y="534924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INFERRED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1874520" y="534924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TQ7…9F2 sweeps to an Exchange X wallet → likely deposit address (medium)</a:t>
            </a:r>
            <a:endParaRPr lang="en-US" sz="1000" dirty="0"/>
          </a:p>
        </p:txBody>
      </p:sp>
      <p:sp>
        <p:nvSpPr>
          <p:cNvPr id="56" name="mk-ev2"/>
          <p:cNvSpPr/>
          <p:nvPr/>
        </p:nvSpPr>
        <p:spPr>
          <a:xfrm>
            <a:off x="914400" y="5623560"/>
            <a:ext cx="868680" cy="21945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14400" y="562356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SOURCE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1874520" y="562356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scam-report page, retrieved 10:42 UTC   sha256 3f9a…c1</a:t>
            </a:r>
            <a:endParaRPr lang="en-US" sz="1000" dirty="0"/>
          </a:p>
        </p:txBody>
      </p:sp>
      <p:sp>
        <p:nvSpPr>
          <p:cNvPr id="59" name="co0"/>
          <p:cNvSpPr/>
          <p:nvPr/>
        </p:nvSpPr>
        <p:spPr>
          <a:xfrm>
            <a:off x="873252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7325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9372600" y="1581912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Confidence, not verdict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9372600" y="1965960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Every lead rated High / Medium / Low</a:t>
            </a:r>
            <a:endParaRPr lang="en-US" sz="1300" dirty="0"/>
          </a:p>
        </p:txBody>
      </p:sp>
      <p:sp>
        <p:nvSpPr>
          <p:cNvPr id="63" name="co1"/>
          <p:cNvSpPr/>
          <p:nvPr/>
        </p:nvSpPr>
        <p:spPr>
          <a:xfrm>
            <a:off x="8732520" y="27706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73252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9372600" y="2752344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Observed vs inferred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9372600" y="3136392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Tx hashes are facts; exchange links are inferences</a:t>
            </a:r>
            <a:endParaRPr lang="en-US" sz="1300" dirty="0"/>
          </a:p>
        </p:txBody>
      </p:sp>
      <p:sp>
        <p:nvSpPr>
          <p:cNvPr id="67" name="co2"/>
          <p:cNvSpPr/>
          <p:nvPr/>
        </p:nvSpPr>
        <p:spPr>
          <a:xfrm>
            <a:off x="8732520" y="39410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3252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3922776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Official process</a:t>
            </a:r>
            <a:endParaRPr lang="en-US" sz="1600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306824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Found by the TinyFish agent, with its source URL</a:t>
            </a:r>
            <a:endParaRPr lang="en-US" sz="1300" dirty="0"/>
          </a:p>
        </p:txBody>
      </p:sp>
      <p:sp>
        <p:nvSpPr>
          <p:cNvPr id="71" name="co3"/>
          <p:cNvSpPr/>
          <p:nvPr/>
        </p:nvSpPr>
        <p:spPr>
          <a:xfrm>
            <a:off x="8732520" y="51114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732520" y="5111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9372600" y="5093208"/>
            <a:ext cx="2270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Traceable evidence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9372600" y="5477256"/>
            <a:ext cx="2270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Source URLs, retrieval times, hashes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inSight Trail">
  <a:themeElements>
    <a:clrScheme name="ChainSight Trail">
      <a:dk1>
        <a:srgbClr val="0B1220"/>
      </a:dk1>
      <a:lt1>
        <a:srgbClr val="FFFFFF"/>
      </a:lt1>
      <a:dk2>
        <a:srgbClr val="1B2A41"/>
      </a:dk2>
      <a:lt2>
        <a:srgbClr val="EEF2F7"/>
      </a:lt2>
      <a:accent1>
        <a:srgbClr val="E8762B"/>
      </a:accent1>
      <a:accent2>
        <a:srgbClr val="2F6FED"/>
      </a:accent2>
      <a:accent3>
        <a:srgbClr val="23944A"/>
      </a:accent3>
      <a:accent4>
        <a:srgbClr val="D64545"/>
      </a:accent4>
      <a:accent5>
        <a:srgbClr val="64748B"/>
      </a:accent5>
      <a:accent6>
        <a:srgbClr val="0E9AA7"/>
      </a:accent6>
      <a:hlink>
        <a:srgbClr val="2F6FED"/>
      </a:hlink>
      <a:folHlink>
        <a:srgbClr val="6D28D9"/>
      </a:folHlink>
    </a:clrScheme>
    <a:fontScheme name="ChainSight Trai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ChainSight - Round 1 submission</dc:title>
  <dc:subject>PptxGenJS Presentation</dc:subject>
  <dc:creator>PptxGenJS</dc:creator>
  <cp:lastModifiedBy>PptxGenJS</cp:lastModifiedBy>
  <cp:revision>1</cp:revision>
  <dcterms:created xsi:type="dcterms:W3CDTF">2026-10-14T16:55:21Z</dcterms:created>
  <dcterms:modified xsi:type="dcterms:W3CDTF">2026-10-14T16:55:21Z</dcterms:modified>
</cp:coreProperties>
</file>