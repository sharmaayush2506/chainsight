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am Details" id="{127398cb-7e1c-88ef-ff96-c0c603a54342}">
          <p14:sldIdLst>
            <p14:sldId id="256"/>
          </p14:sldIdLst>
        </p14:section>
        <p14:section name="Problem" id="{9802b5e5-5783-2944-e154-14ed99f25bcc}">
          <p14:sldIdLst>
            <p14:sldId id="257"/>
          </p14:sldIdLst>
        </p14:section>
        <p14:section name="Solution" id="{5edad4d3-38f4-e65f-b128-338dc76562cd}">
          <p14:sldIdLst>
            <p14:sldId id="258"/>
          </p14:sldIdLst>
        </p14:section>
        <p14:section name="Users" id="{dcc3904b-ba41-725c-d29f-6d03cf8222de}">
          <p14:sldIdLst>
            <p14:sldId id="259"/>
          </p14:sldIdLst>
        </p14:section>
        <p14:section name="Architecture" id="{e53f7965-7873-ad33-14d1-1c53b75b335f}">
          <p14:sldIdLst>
            <p14:sldId id="260"/>
          </p14:sldIdLst>
        </p14:section>
        <p14:section name="TinyFish" id="{47ad5501-8a50-d623-78eb-da3b99c54a79}">
          <p14:sldIdLst>
            <p14:sldId id="261"/>
          </p14:sldIdLst>
        </p14:section>
        <p14:section name="Scale" id="{b41b7486-9733-f7d7-008f-45f3d02766ac}">
          <p14:sldIdLst>
            <p14:sldId id="262"/>
            <p14:sldId id="263"/>
          </p14:sldIdLst>
        </p14:section>
        <p14:section name="Prototype" id="{fdb76029-caaf-9406-a2c3-c040f479ec0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85800"/>
            <a:ext cx="6766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93392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ChainSight  |  Round 1 submission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TEAM DETAILS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858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ChainSight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Crypto Fraud Investigation Intelligence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9933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From a reported wallet to traceable fund flows, likely exchange links and source-backed intelligence.</a:t>
            </a:r>
            <a:endParaRPr lang="en-US" sz="1700" dirty="0"/>
          </a:p>
        </p:txBody>
      </p:sp>
      <p:sp>
        <p:nvSpPr>
          <p:cNvPr id="6" name="t-edge0"/>
          <p:cNvSpPr/>
          <p:nvPr/>
        </p:nvSpPr>
        <p:spPr>
          <a:xfrm>
            <a:off x="8906256" y="630936"/>
            <a:ext cx="914400" cy="4572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7" name="t-edge1"/>
          <p:cNvSpPr/>
          <p:nvPr/>
        </p:nvSpPr>
        <p:spPr>
          <a:xfrm flipH="1">
            <a:off x="9363456" y="1088136"/>
            <a:ext cx="457200" cy="7315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8" name="t-edge2"/>
          <p:cNvSpPr/>
          <p:nvPr/>
        </p:nvSpPr>
        <p:spPr>
          <a:xfrm>
            <a:off x="9363456" y="1819656"/>
            <a:ext cx="109728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9" name="t-edge3"/>
          <p:cNvSpPr/>
          <p:nvPr/>
        </p:nvSpPr>
        <p:spPr>
          <a:xfrm flipH="1">
            <a:off x="10460736" y="1408176"/>
            <a:ext cx="822960" cy="7315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10" name="t-node0"/>
          <p:cNvSpPr/>
          <p:nvPr/>
        </p:nvSpPr>
        <p:spPr>
          <a:xfrm>
            <a:off x="8778240" y="502920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1" name="t-node1"/>
          <p:cNvSpPr/>
          <p:nvPr/>
        </p:nvSpPr>
        <p:spPr>
          <a:xfrm>
            <a:off x="9692640" y="96012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2" name="t-node2"/>
          <p:cNvSpPr/>
          <p:nvPr/>
        </p:nvSpPr>
        <p:spPr>
          <a:xfrm>
            <a:off x="9235440" y="169164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3" name="t-node3"/>
          <p:cNvSpPr/>
          <p:nvPr/>
        </p:nvSpPr>
        <p:spPr>
          <a:xfrm>
            <a:off x="10332720" y="201168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4" name="t-node4"/>
          <p:cNvSpPr/>
          <p:nvPr/>
        </p:nvSpPr>
        <p:spPr>
          <a:xfrm>
            <a:off x="11155680" y="1280160"/>
            <a:ext cx="256032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5" name="ps-card"/>
          <p:cNvSpPr/>
          <p:nvPr/>
        </p:nvSpPr>
        <p:spPr>
          <a:xfrm>
            <a:off x="548640" y="2788920"/>
            <a:ext cx="11094415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898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7296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Real-Time Identification of Fraud-Linked Cryptocurrency Exchanges from Victim-Reported Suspect Wallet Addresses through Automated Blockchain Analytics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1729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Theme: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Blockchain &amp; Cybersecurity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Category: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Software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TEAM</a:t>
            </a:r>
            <a:endParaRPr lang="en-US" sz="1100" dirty="0"/>
          </a:p>
        </p:txBody>
      </p:sp>
      <p:sp>
        <p:nvSpPr>
          <p:cNvPr id="20" name="tm0"/>
          <p:cNvSpPr/>
          <p:nvPr/>
        </p:nvSpPr>
        <p:spPr>
          <a:xfrm>
            <a:off x="548640" y="457200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mem0-circle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mem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4943246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463040" y="4736592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Ayush Sharma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084064"/>
            <a:ext cx="431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 Strategy &amp; Crypto Domain Research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5468112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1+ year of hands-on cryptocurrency market and trading experience</a:t>
            </a:r>
            <a:endParaRPr lang="en-US" sz="1300" dirty="0"/>
          </a:p>
        </p:txBody>
      </p:sp>
      <p:sp>
        <p:nvSpPr>
          <p:cNvPr id="26" name="tm1"/>
          <p:cNvSpPr/>
          <p:nvPr/>
        </p:nvSpPr>
        <p:spPr>
          <a:xfrm>
            <a:off x="6233008" y="457200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mem1-circle"/>
          <p:cNvSpPr/>
          <p:nvPr/>
        </p:nvSpPr>
        <p:spPr>
          <a:xfrm>
            <a:off x="6461608" y="4800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mem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4943246"/>
            <a:ext cx="263347" cy="26334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147408" y="4736592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Chhaya Attri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147408" y="5084064"/>
            <a:ext cx="431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3FF"/>
                </a:solidFill>
              </a:rPr>
              <a:t>Product Research &amp; Presentation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147408" y="5468112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Research, evidence organisation and communicating the proposed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The Investigation Gap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From reported wallet to actionable lead</a:t>
            </a:r>
            <a:endParaRPr lang="en-US" sz="1600" dirty="0"/>
          </a:p>
        </p:txBody>
      </p:sp>
      <p:sp>
        <p:nvSpPr>
          <p:cNvPr id="4" name="stat-card"/>
          <p:cNvSpPr/>
          <p:nvPr/>
        </p:nvSpPr>
        <p:spPr>
          <a:xfrm>
            <a:off x="548640" y="1417320"/>
            <a:ext cx="3749040" cy="4709160"/>
          </a:xfrm>
          <a:prstGeom prst="roundRect">
            <a:avLst>
              <a:gd name="adj" fmla="val 19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₹22,845 cr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lost by citizens to cyber fraud in 2024, against ₹7,465 crore in 2023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22.68 lakh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cybercrime incidents registered on the NCRP portal in 2024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Source: Ministry of Home Affairs, written reply in the Lok Sabha (2025), as reported by Outlook Money and The Wire. All cyber fraud, not crypto only.</a:t>
            </a:r>
            <a:endParaRPr lang="en-US" sz="1100" dirty="0"/>
          </a:p>
        </p:txBody>
      </p:sp>
      <p:sp>
        <p:nvSpPr>
          <p:cNvPr id="10" name="gap0"/>
          <p:cNvSpPr/>
          <p:nvPr/>
        </p:nvSpPr>
        <p:spPr>
          <a:xfrm>
            <a:off x="4572000" y="1417320"/>
            <a:ext cx="707105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gapi0-circle"/>
          <p:cNvSpPr/>
          <p:nvPr/>
        </p:nvSpPr>
        <p:spPr>
          <a:xfrm>
            <a:off x="4800600" y="169164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gapi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1776" y="186281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0" y="15544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920240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Investigators receive a suspect wallet address but must manually trace fund flows and identify potentially relevant exchanges.</a:t>
            </a:r>
            <a:endParaRPr lang="en-US" sz="1500" dirty="0"/>
          </a:p>
        </p:txBody>
      </p:sp>
      <p:sp>
        <p:nvSpPr>
          <p:cNvPr id="15" name="gap1"/>
          <p:cNvSpPr/>
          <p:nvPr/>
        </p:nvSpPr>
        <p:spPr>
          <a:xfrm>
            <a:off x="4572000" y="2788920"/>
            <a:ext cx="707105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gapi1-circle"/>
          <p:cNvSpPr/>
          <p:nvPr/>
        </p:nvSpPr>
        <p:spPr>
          <a:xfrm>
            <a:off x="4800600" y="306324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gapi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776" y="3234416"/>
            <a:ext cx="316017" cy="31601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69280" y="29260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consequence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0" y="3291840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Delays can complicate evidence preservation and timely requests to exchanges.</a:t>
            </a:r>
            <a:endParaRPr lang="en-US" sz="1500" dirty="0"/>
          </a:p>
        </p:txBody>
      </p:sp>
      <p:sp>
        <p:nvSpPr>
          <p:cNvPr id="20" name="gap2"/>
          <p:cNvSpPr/>
          <p:nvPr/>
        </p:nvSpPr>
        <p:spPr>
          <a:xfrm>
            <a:off x="4572000" y="4160520"/>
            <a:ext cx="7071055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gapi2-circle"/>
          <p:cNvSpPr/>
          <p:nvPr/>
        </p:nvSpPr>
        <p:spPr>
          <a:xfrm>
            <a:off x="4800600" y="443484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gapi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76" y="4606016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669280" y="429768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opportunity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4663440"/>
            <a:ext cx="5790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Combine blockchain transaction tracing with public-source intelligence to help investigators prioritise leads.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5577840"/>
            <a:ext cx="7071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Not every reported wallet holds recoverable funds, and not every trail reaches an exchange.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pitch"/>
          <p:cNvSpPr/>
          <p:nvPr/>
        </p:nvSpPr>
        <p:spPr>
          <a:xfrm>
            <a:off x="548640" y="109728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wallet 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investigator-ready report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097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What's different: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on-chain tracing and TinyFish open-web research combined in one source-linked report</a:t>
            </a:r>
            <a:endParaRPr lang="en-US" sz="1300" dirty="0"/>
          </a:p>
        </p:txBody>
      </p:sp>
      <p:sp>
        <p:nvSpPr>
          <p:cNvPr id="6" name="sol-line"/>
          <p:cNvSpPr/>
          <p:nvPr/>
        </p:nvSpPr>
        <p:spPr>
          <a:xfrm>
            <a:off x="1548354" y="2606040"/>
            <a:ext cx="909498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7" name="sol0-circle"/>
          <p:cNvSpPr/>
          <p:nvPr/>
        </p:nvSpPr>
        <p:spPr>
          <a:xfrm>
            <a:off x="1164306" y="2221992"/>
            <a:ext cx="768096" cy="7680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sol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010" y="2421697"/>
            <a:ext cx="368686" cy="368686"/>
          </a:xfrm>
          <a:prstGeom prst="rect">
            <a:avLst/>
          </a:prstGeom>
        </p:spPr>
      </p:pic>
      <p:sp>
        <p:nvSpPr>
          <p:cNvPr id="9" name="sol-card0"/>
          <p:cNvSpPr/>
          <p:nvPr/>
        </p:nvSpPr>
        <p:spPr>
          <a:xfrm>
            <a:off x="548640" y="3200400"/>
            <a:ext cx="1999427" cy="20574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03320"/>
            <a:ext cx="16336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Reported wallet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389120"/>
            <a:ext cx="16336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Input from an investigator</a:t>
            </a:r>
            <a:endParaRPr lang="en-US" sz="1300" dirty="0"/>
          </a:p>
        </p:txBody>
      </p:sp>
      <p:sp>
        <p:nvSpPr>
          <p:cNvPr id="13" name="sol1-circle"/>
          <p:cNvSpPr/>
          <p:nvPr/>
        </p:nvSpPr>
        <p:spPr>
          <a:xfrm>
            <a:off x="3438053" y="2221992"/>
            <a:ext cx="768096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sol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58" y="2421697"/>
            <a:ext cx="368686" cy="368686"/>
          </a:xfrm>
          <a:prstGeom prst="rect">
            <a:avLst/>
          </a:prstGeom>
        </p:spPr>
      </p:pic>
      <p:sp>
        <p:nvSpPr>
          <p:cNvPr id="15" name="sol-card1"/>
          <p:cNvSpPr/>
          <p:nvPr/>
        </p:nvSpPr>
        <p:spPr>
          <a:xfrm>
            <a:off x="2822387" y="3200400"/>
            <a:ext cx="1999427" cy="20574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005267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005267" y="3703320"/>
            <a:ext cx="16336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Trace fund flows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005267" y="4389120"/>
            <a:ext cx="16336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Follow observable on-chain transactions</a:t>
            </a:r>
            <a:endParaRPr lang="en-US" sz="1300" dirty="0"/>
          </a:p>
        </p:txBody>
      </p:sp>
      <p:sp>
        <p:nvSpPr>
          <p:cNvPr id="19" name="sol2-circle"/>
          <p:cNvSpPr/>
          <p:nvPr/>
        </p:nvSpPr>
        <p:spPr>
          <a:xfrm>
            <a:off x="5711800" y="2221992"/>
            <a:ext cx="768096" cy="7680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ol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05" y="2421697"/>
            <a:ext cx="368686" cy="368686"/>
          </a:xfrm>
          <a:prstGeom prst="rect">
            <a:avLst/>
          </a:prstGeom>
        </p:spPr>
      </p:pic>
      <p:sp>
        <p:nvSpPr>
          <p:cNvPr id="21" name="sol-card2"/>
          <p:cNvSpPr/>
          <p:nvPr/>
        </p:nvSpPr>
        <p:spPr>
          <a:xfrm>
            <a:off x="5096134" y="3200400"/>
            <a:ext cx="1999427" cy="20574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79014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5279014" y="3703320"/>
            <a:ext cx="16336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Identify potential exchange links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279014" y="4389120"/>
            <a:ext cx="16336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Show the evidence and confidence level</a:t>
            </a:r>
            <a:endParaRPr lang="en-US" sz="1300" dirty="0"/>
          </a:p>
        </p:txBody>
      </p:sp>
      <p:sp>
        <p:nvSpPr>
          <p:cNvPr id="25" name="sol3-circle"/>
          <p:cNvSpPr/>
          <p:nvPr/>
        </p:nvSpPr>
        <p:spPr>
          <a:xfrm>
            <a:off x="7985547" y="2221992"/>
            <a:ext cx="768096" cy="7680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sol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252" y="2421697"/>
            <a:ext cx="368686" cy="368686"/>
          </a:xfrm>
          <a:prstGeom prst="rect">
            <a:avLst/>
          </a:prstGeom>
        </p:spPr>
      </p:pic>
      <p:sp>
        <p:nvSpPr>
          <p:cNvPr id="27" name="sol-card3"/>
          <p:cNvSpPr/>
          <p:nvPr/>
        </p:nvSpPr>
        <p:spPr>
          <a:xfrm>
            <a:off x="7369881" y="3200400"/>
            <a:ext cx="1999427" cy="2057400"/>
          </a:xfrm>
          <a:prstGeom prst="roundRect">
            <a:avLst>
              <a:gd name="adj" fmla="val 3659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52761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7552761" y="3703320"/>
            <a:ext cx="16336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 with TinyFish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552761" y="4389120"/>
            <a:ext cx="16336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 public scam reports and official exchange procedures</a:t>
            </a:r>
            <a:endParaRPr lang="en-US" sz="1300" dirty="0"/>
          </a:p>
        </p:txBody>
      </p:sp>
      <p:sp>
        <p:nvSpPr>
          <p:cNvPr id="31" name="sol4-circle"/>
          <p:cNvSpPr/>
          <p:nvPr/>
        </p:nvSpPr>
        <p:spPr>
          <a:xfrm>
            <a:off x="10259294" y="2221992"/>
            <a:ext cx="768096" cy="7680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ol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8999" y="2421697"/>
            <a:ext cx="368686" cy="368686"/>
          </a:xfrm>
          <a:prstGeom prst="rect">
            <a:avLst/>
          </a:prstGeom>
        </p:spPr>
      </p:pic>
      <p:sp>
        <p:nvSpPr>
          <p:cNvPr id="33" name="sol-card4"/>
          <p:cNvSpPr/>
          <p:nvPr/>
        </p:nvSpPr>
        <p:spPr>
          <a:xfrm>
            <a:off x="9643628" y="3200400"/>
            <a:ext cx="1999427" cy="20574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826508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5</a:t>
            </a:r>
            <a:endParaRPr lang="en-US" sz="2200" dirty="0"/>
          </a:p>
        </p:txBody>
      </p:sp>
      <p:sp>
        <p:nvSpPr>
          <p:cNvPr id="35" name="Text 28"/>
          <p:cNvSpPr txBox="1"/>
          <p:nvPr/>
        </p:nvSpPr>
        <p:spPr>
          <a:xfrm>
            <a:off x="9826508" y="3703320"/>
            <a:ext cx="16336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Investigator-ready report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9826508" y="4389120"/>
            <a:ext cx="16336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Transactions, source URLs, timestamps and a verification checklist</a:t>
            </a:r>
            <a:endParaRPr lang="en-US" sz="1300" dirty="0"/>
          </a:p>
        </p:txBody>
      </p:sp>
      <p:sp>
        <p:nvSpPr>
          <p:cNvPr id="37" name="disclaimer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review-circle"/>
          <p:cNvSpPr/>
          <p:nvPr/>
        </p:nvSpPr>
        <p:spPr>
          <a:xfrm>
            <a:off x="731520" y="55778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9" name="review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5708599"/>
            <a:ext cx="241402" cy="24140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41732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lead is not proof of guilt.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Final verification and action remain with the investigator.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3" name="user0"/>
          <p:cNvSpPr/>
          <p:nvPr/>
        </p:nvSpPr>
        <p:spPr>
          <a:xfrm>
            <a:off x="548640" y="1188720"/>
            <a:ext cx="348477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i0-circle"/>
          <p:cNvSpPr/>
          <p:nvPr/>
        </p:nvSpPr>
        <p:spPr>
          <a:xfrm>
            <a:off x="868680" y="141732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ui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619402"/>
            <a:ext cx="373075" cy="373075"/>
          </a:xfrm>
          <a:prstGeom prst="rect">
            <a:avLst/>
          </a:prstGeom>
        </p:spPr>
      </p:pic>
      <p:sp>
        <p:nvSpPr>
          <p:cNvPr id="6" name="ut0"/>
          <p:cNvSpPr/>
          <p:nvPr/>
        </p:nvSpPr>
        <p:spPr>
          <a:xfrm>
            <a:off x="2616098" y="160020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16098" y="1600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774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 cybercrime police units and cyber cells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5468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Officers who receive suspect wallets from victim complaints</a:t>
            </a:r>
            <a:endParaRPr lang="en-US" sz="1400" dirty="0"/>
          </a:p>
        </p:txBody>
      </p:sp>
      <p:sp>
        <p:nvSpPr>
          <p:cNvPr id="10" name="user1"/>
          <p:cNvSpPr/>
          <p:nvPr/>
        </p:nvSpPr>
        <p:spPr>
          <a:xfrm>
            <a:off x="4353458" y="1188720"/>
            <a:ext cx="348477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ui1-circle"/>
          <p:cNvSpPr/>
          <p:nvPr/>
        </p:nvSpPr>
        <p:spPr>
          <a:xfrm>
            <a:off x="4673498" y="14173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ui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1619402"/>
            <a:ext cx="373075" cy="373075"/>
          </a:xfrm>
          <a:prstGeom prst="rect">
            <a:avLst/>
          </a:prstGeom>
        </p:spPr>
      </p:pic>
      <p:sp>
        <p:nvSpPr>
          <p:cNvPr id="13" name="ut1"/>
          <p:cNvSpPr/>
          <p:nvPr/>
        </p:nvSpPr>
        <p:spPr>
          <a:xfrm>
            <a:off x="5552237" y="1600200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52237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OPERATIONAL PARTNER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673498" y="23774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Authorised LE liaison teams at exchanges / VASPs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73498" y="315468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Receive clearer, source-backed requests from investigators</a:t>
            </a:r>
            <a:endParaRPr lang="en-US" sz="1400" dirty="0"/>
          </a:p>
        </p:txBody>
      </p:sp>
      <p:sp>
        <p:nvSpPr>
          <p:cNvPr id="17" name="user2"/>
          <p:cNvSpPr/>
          <p:nvPr/>
        </p:nvSpPr>
        <p:spPr>
          <a:xfrm>
            <a:off x="8158277" y="1188720"/>
            <a:ext cx="3484778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ui2-circle"/>
          <p:cNvSpPr/>
          <p:nvPr/>
        </p:nvSpPr>
        <p:spPr>
          <a:xfrm>
            <a:off x="8478317" y="141732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ui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99" y="1619402"/>
            <a:ext cx="373075" cy="373075"/>
          </a:xfrm>
          <a:prstGeom prst="rect">
            <a:avLst/>
          </a:prstGeom>
        </p:spPr>
      </p:pic>
      <p:sp>
        <p:nvSpPr>
          <p:cNvPr id="20" name="ut2"/>
          <p:cNvSpPr/>
          <p:nvPr/>
        </p:nvSpPr>
        <p:spPr>
          <a:xfrm>
            <a:off x="9585655" y="1600200"/>
            <a:ext cx="17830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585655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POTENTIAL FUTURE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478317" y="23774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Bank fraud investigation teams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154680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Follow crypto cash-outs into the banking system</a:t>
            </a:r>
            <a:endParaRPr lang="en-US" sz="1400" dirty="0"/>
          </a:p>
        </p:txBody>
      </p:sp>
      <p:sp>
        <p:nvSpPr>
          <p:cNvPr id="24" name="value-band"/>
          <p:cNvSpPr/>
          <p:nvPr/>
        </p:nvSpPr>
        <p:spPr>
          <a:xfrm>
            <a:off x="548640" y="420624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686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VALUE TO INVESTIGATORS</a:t>
            </a:r>
            <a:endParaRPr lang="en-US" sz="1200" dirty="0"/>
          </a:p>
        </p:txBody>
      </p:sp>
      <p:sp>
        <p:nvSpPr>
          <p:cNvPr id="26" name="val0-circle"/>
          <p:cNvSpPr/>
          <p:nvPr/>
        </p:nvSpPr>
        <p:spPr>
          <a:xfrm>
            <a:off x="86868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val0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943246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554480" y="4709160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Faster fund-flow review</a:t>
            </a:r>
            <a:endParaRPr lang="en-US" sz="1400" dirty="0"/>
          </a:p>
        </p:txBody>
      </p:sp>
      <p:sp>
        <p:nvSpPr>
          <p:cNvPr id="29" name="val1-circle"/>
          <p:cNvSpPr/>
          <p:nvPr/>
        </p:nvSpPr>
        <p:spPr>
          <a:xfrm>
            <a:off x="3482264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val1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910" y="494324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168064" y="4709160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Prioritised leads with explainable confidence</a:t>
            </a:r>
            <a:endParaRPr lang="en-US" sz="1400" dirty="0"/>
          </a:p>
        </p:txBody>
      </p:sp>
      <p:sp>
        <p:nvSpPr>
          <p:cNvPr id="32" name="val2-circle"/>
          <p:cNvSpPr/>
          <p:nvPr/>
        </p:nvSpPr>
        <p:spPr>
          <a:xfrm>
            <a:off x="6095848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val2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494" y="4943246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81648" y="4709160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Easier discovery of official exchange request procedures</a:t>
            </a:r>
            <a:endParaRPr lang="en-US" sz="1400" dirty="0"/>
          </a:p>
        </p:txBody>
      </p:sp>
      <p:sp>
        <p:nvSpPr>
          <p:cNvPr id="35" name="val3-circle"/>
          <p:cNvSpPr/>
          <p:nvPr/>
        </p:nvSpPr>
        <p:spPr>
          <a:xfrm>
            <a:off x="8709431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val3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2078" y="494324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395231" y="4709160"/>
            <a:ext cx="1836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Traceable sources and organised evidence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Goal: faster, better-supported requests to exchanges, which may improve the chance of timely intervention. Impact to be measured, not assumed.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and Stack</a:t>
            </a:r>
            <a:endParaRPr lang="en-US" sz="3200" dirty="0"/>
          </a:p>
        </p:txBody>
      </p:sp>
      <p:sp>
        <p:nvSpPr>
          <p:cNvPr id="3" name="arch-tag"/>
          <p:cNvSpPr/>
          <p:nvPr/>
        </p:nvSpPr>
        <p:spPr>
          <a:xfrm>
            <a:off x="548640" y="1024128"/>
            <a:ext cx="219456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PROPOSED ARCHITECTURE</a:t>
            </a:r>
            <a:endParaRPr lang="en-US" sz="1100" dirty="0"/>
          </a:p>
        </p:txBody>
      </p:sp>
      <p:sp>
        <p:nvSpPr>
          <p:cNvPr id="5" name="a-dash"/>
          <p:cNvSpPr/>
          <p:nvPr/>
        </p:nvSpPr>
        <p:spPr>
          <a:xfrm>
            <a:off x="548640" y="2514600"/>
            <a:ext cx="173736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569464"/>
            <a:ext cx="15179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Investigator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Wallet input and case details</a:t>
            </a:r>
            <a:endParaRPr lang="en-US" sz="1400" dirty="0"/>
          </a:p>
        </p:txBody>
      </p:sp>
      <p:sp>
        <p:nvSpPr>
          <p:cNvPr id="7" name="a1"/>
          <p:cNvSpPr/>
          <p:nvPr/>
        </p:nvSpPr>
        <p:spPr>
          <a:xfrm>
            <a:off x="2286000" y="315468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a-orch"/>
          <p:cNvSpPr/>
          <p:nvPr/>
        </p:nvSpPr>
        <p:spPr>
          <a:xfrm>
            <a:off x="2560320" y="25146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2569464"/>
            <a:ext cx="1609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Investigation orchestrator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Coordinates the two research paths</a:t>
            </a:r>
            <a:endParaRPr lang="en-US" sz="1400" dirty="0"/>
          </a:p>
        </p:txBody>
      </p:sp>
      <p:sp>
        <p:nvSpPr>
          <p:cNvPr id="10" name="a2"/>
          <p:cNvSpPr/>
          <p:nvPr/>
        </p:nvSpPr>
        <p:spPr>
          <a:xfrm>
            <a:off x="4389120" y="2834640"/>
            <a:ext cx="365760" cy="-6858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3"/>
          <p:cNvSpPr/>
          <p:nvPr/>
        </p:nvSpPr>
        <p:spPr>
          <a:xfrm>
            <a:off x="4389120" y="3474720"/>
            <a:ext cx="36576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a-on"/>
          <p:cNvSpPr/>
          <p:nvPr/>
        </p:nvSpPr>
        <p:spPr>
          <a:xfrm>
            <a:off x="4754880" y="1508760"/>
            <a:ext cx="28346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1563624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On-chain analysis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Transaction graph, observed transfers, potential exchange links</a:t>
            </a:r>
            <a:endParaRPr lang="en-US" sz="1400" dirty="0"/>
          </a:p>
        </p:txBody>
      </p:sp>
      <p:sp>
        <p:nvSpPr>
          <p:cNvPr id="14" name="a-tf"/>
          <p:cNvSpPr/>
          <p:nvPr/>
        </p:nvSpPr>
        <p:spPr>
          <a:xfrm>
            <a:off x="4754880" y="365760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3ECFD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a-tf-head"/>
          <p:cNvSpPr/>
          <p:nvPr/>
        </p:nvSpPr>
        <p:spPr>
          <a:xfrm>
            <a:off x="4754880" y="3657600"/>
            <a:ext cx="283464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TinyFish research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4160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Public reports, official pages, request procedures</a:t>
            </a:r>
            <a:endParaRPr lang="en-US" sz="1200" dirty="0"/>
          </a:p>
        </p:txBody>
      </p:sp>
      <p:sp>
        <p:nvSpPr>
          <p:cNvPr id="18" name="a4"/>
          <p:cNvSpPr/>
          <p:nvPr/>
        </p:nvSpPr>
        <p:spPr>
          <a:xfrm>
            <a:off x="7589520" y="2103120"/>
            <a:ext cx="36576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5"/>
          <p:cNvSpPr/>
          <p:nvPr/>
        </p:nvSpPr>
        <p:spPr>
          <a:xfrm>
            <a:off x="7589520" y="4389120"/>
            <a:ext cx="365760" cy="-8686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-ev"/>
          <p:cNvSpPr/>
          <p:nvPr/>
        </p:nvSpPr>
        <p:spPr>
          <a:xfrm>
            <a:off x="7955280" y="2514600"/>
            <a:ext cx="178308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5008" y="2569464"/>
            <a:ext cx="15636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Evidence and confidence assessment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Observed vs inferred, confidence levels</a:t>
            </a:r>
            <a:endParaRPr lang="en-US" sz="1400" dirty="0"/>
          </a:p>
        </p:txBody>
      </p:sp>
      <p:sp>
        <p:nvSpPr>
          <p:cNvPr id="22" name="a6"/>
          <p:cNvSpPr/>
          <p:nvPr/>
        </p:nvSpPr>
        <p:spPr>
          <a:xfrm>
            <a:off x="9738360" y="315468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a-rep"/>
          <p:cNvSpPr/>
          <p:nvPr/>
        </p:nvSpPr>
        <p:spPr>
          <a:xfrm>
            <a:off x="10012680" y="2514600"/>
            <a:ext cx="1627632" cy="128016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22408" y="2569464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Source-linked investigation report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Blockchain data APIs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5166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Open web (public pages only)</a:t>
            </a:r>
            <a:endParaRPr lang="en-US" sz="1100" dirty="0"/>
          </a:p>
        </p:txBody>
      </p:sp>
      <p:sp>
        <p:nvSpPr>
          <p:cNvPr id="27" name="a-future"/>
          <p:cNvSpPr/>
          <p:nvPr/>
        </p:nvSpPr>
        <p:spPr>
          <a:xfrm>
            <a:off x="548640" y="416052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8580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NCRP / SAHYOG integration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Future, subject to authorisation</a:t>
            </a:r>
            <a:endParaRPr lang="en-US" sz="1300" dirty="0"/>
          </a:p>
        </p:txBody>
      </p:sp>
      <p:sp>
        <p:nvSpPr>
          <p:cNvPr id="29" name="a-future-line"/>
          <p:cNvSpPr/>
          <p:nvPr/>
        </p:nvSpPr>
        <p:spPr>
          <a:xfrm>
            <a:off x="1417320" y="379476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48640" y="5760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STACK</a:t>
            </a:r>
            <a:endParaRPr lang="en-US" sz="1200" dirty="0"/>
          </a:p>
        </p:txBody>
      </p:sp>
      <p:sp>
        <p:nvSpPr>
          <p:cNvPr id="31" name="stack0"/>
          <p:cNvSpPr/>
          <p:nvPr/>
        </p:nvSpPr>
        <p:spPr>
          <a:xfrm>
            <a:off x="1371600" y="5779008"/>
            <a:ext cx="1563624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71600" y="5779008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Python / FastAPI</a:t>
            </a:r>
            <a:endParaRPr lang="en-US" sz="1200" dirty="0"/>
          </a:p>
        </p:txBody>
      </p:sp>
      <p:sp>
        <p:nvSpPr>
          <p:cNvPr id="33" name="stack1"/>
          <p:cNvSpPr/>
          <p:nvPr/>
        </p:nvSpPr>
        <p:spPr>
          <a:xfrm>
            <a:off x="3044952" y="5779008"/>
            <a:ext cx="187452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44952" y="57790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Blockchain data APIs</a:t>
            </a:r>
            <a:endParaRPr lang="en-US" sz="1200" dirty="0"/>
          </a:p>
        </p:txBody>
      </p:sp>
      <p:sp>
        <p:nvSpPr>
          <p:cNvPr id="35" name="stack2"/>
          <p:cNvSpPr/>
          <p:nvPr/>
        </p:nvSpPr>
        <p:spPr>
          <a:xfrm>
            <a:off x="5029200" y="5779008"/>
            <a:ext cx="94183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0" y="577900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NetworkX</a:t>
            </a:r>
            <a:endParaRPr lang="en-US" sz="1200" dirty="0"/>
          </a:p>
        </p:txBody>
      </p:sp>
      <p:sp>
        <p:nvSpPr>
          <p:cNvPr id="37" name="stack3"/>
          <p:cNvSpPr/>
          <p:nvPr/>
        </p:nvSpPr>
        <p:spPr>
          <a:xfrm>
            <a:off x="6080760" y="577900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5779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39" name="stack4"/>
          <p:cNvSpPr/>
          <p:nvPr/>
        </p:nvSpPr>
        <p:spPr>
          <a:xfrm>
            <a:off x="7287768" y="5779008"/>
            <a:ext cx="70866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87768" y="5779008"/>
            <a:ext cx="708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</a:t>
            </a:r>
            <a:endParaRPr lang="en-US" sz="1200" dirty="0"/>
          </a:p>
        </p:txBody>
      </p:sp>
      <p:sp>
        <p:nvSpPr>
          <p:cNvPr id="41" name="stack5"/>
          <p:cNvSpPr/>
          <p:nvPr/>
        </p:nvSpPr>
        <p:spPr>
          <a:xfrm>
            <a:off x="8106156" y="5779008"/>
            <a:ext cx="1252728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06156" y="577900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TinyFish 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Plan to Integrate the TinyFish API</a:t>
            </a:r>
            <a:endParaRPr lang="en-US" sz="3200" dirty="0"/>
          </a:p>
        </p:txBody>
      </p:sp>
      <p:sp>
        <p:nvSpPr>
          <p:cNvPr id="3" name="tf-banner"/>
          <p:cNvSpPr/>
          <p:nvPr/>
        </p:nvSpPr>
        <p:spPr>
          <a:xfrm>
            <a:off x="548640" y="109728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972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TinyFish supports open-web research; blockchain transaction tracing is performed separately using blockchain data sources.</a:t>
            </a:r>
            <a:endParaRPr lang="en-US" sz="1600" dirty="0"/>
          </a:p>
        </p:txBody>
      </p:sp>
      <p:sp>
        <p:nvSpPr>
          <p:cNvPr id="5" name="step0"/>
          <p:cNvSpPr/>
          <p:nvPr/>
        </p:nvSpPr>
        <p:spPr>
          <a:xfrm>
            <a:off x="548640" y="1965960"/>
            <a:ext cx="3423818" cy="1783080"/>
          </a:xfrm>
          <a:prstGeom prst="roundRect">
            <a:avLst>
              <a:gd name="adj" fmla="val 410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6" name="sti0-circle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ti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2199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Search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Discover public scam reports and official exchange websites</a:t>
            </a:r>
            <a:endParaRPr lang="en-US" sz="1300" dirty="0"/>
          </a:p>
        </p:txBody>
      </p:sp>
      <p:sp>
        <p:nvSpPr>
          <p:cNvPr id="10" name="st-ar0"/>
          <p:cNvSpPr/>
          <p:nvPr/>
        </p:nvSpPr>
        <p:spPr>
          <a:xfrm>
            <a:off x="4045610" y="269748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1"/>
          <p:cNvSpPr/>
          <p:nvPr/>
        </p:nvSpPr>
        <p:spPr>
          <a:xfrm>
            <a:off x="4383938" y="1965960"/>
            <a:ext cx="3423818" cy="1783080"/>
          </a:xfrm>
          <a:prstGeom prst="roundRect">
            <a:avLst>
              <a:gd name="adj" fmla="val 410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12" name="sti1-circle"/>
          <p:cNvSpPr/>
          <p:nvPr/>
        </p:nvSpPr>
        <p:spPr>
          <a:xfrm>
            <a:off x="4612538" y="2194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sti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23372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98338" y="222199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Fetch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28803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Retrieve pages, extract relevant information, record URLs and retrieval times</a:t>
            </a:r>
            <a:endParaRPr lang="en-US" sz="1300" dirty="0"/>
          </a:p>
        </p:txBody>
      </p:sp>
      <p:sp>
        <p:nvSpPr>
          <p:cNvPr id="16" name="st-ar1"/>
          <p:cNvSpPr/>
          <p:nvPr/>
        </p:nvSpPr>
        <p:spPr>
          <a:xfrm>
            <a:off x="7880909" y="269748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2"/>
          <p:cNvSpPr/>
          <p:nvPr/>
        </p:nvSpPr>
        <p:spPr>
          <a:xfrm>
            <a:off x="8219237" y="1965960"/>
            <a:ext cx="3423818" cy="1783080"/>
          </a:xfrm>
          <a:prstGeom prst="roundRect">
            <a:avLst>
              <a:gd name="adj" fmla="val 410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18" name="sti2-circle"/>
          <p:cNvSpPr/>
          <p:nvPr/>
        </p:nvSpPr>
        <p:spPr>
          <a:xfrm>
            <a:off x="8447837" y="2194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sti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483" y="233720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33637" y="222199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Web Agent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447837" y="288036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Navigate publicly accessible exchange pages to find official law-enforcement procedures and required documents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SAMPLE OUTPUT (ILLUSTRATIVE)</a:t>
            </a:r>
            <a:endParaRPr lang="en-US" sz="1100" dirty="0"/>
          </a:p>
        </p:txBody>
      </p:sp>
      <p:graphicFrame>
        <p:nvGraphicFramePr>
          <p:cNvPr id="7" name="tf-s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6309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Source type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Official exchange website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Information found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Law-enforcement request procedure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Source URL and retrieval timestamp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Review status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Pending investigator verification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f-why"/>
          <p:cNvSpPr/>
          <p:nvPr/>
        </p:nvSpPr>
        <p:spPr>
          <a:xfrm>
            <a:off x="7178040" y="3931920"/>
            <a:ext cx="4465015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406640" y="3977640"/>
            <a:ext cx="4007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an agent, not a scraper?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Exchange sites differ, change often and have no API. One goal works across them.</a:t>
            </a:r>
            <a:endParaRPr lang="en-US" sz="1300" dirty="0"/>
          </a:p>
        </p:txBody>
      </p:sp>
      <p:sp>
        <p:nvSpPr>
          <p:cNvPr id="26" name="tf-limit"/>
          <p:cNvSpPr/>
          <p:nvPr/>
        </p:nvSpPr>
        <p:spPr>
          <a:xfrm>
            <a:off x="7178040" y="5120640"/>
            <a:ext cx="446501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406640" y="5138928"/>
            <a:ext cx="4007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Limits: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TinyFish does not verify wallet ownership or identify account holders. It gathers public information for investigators to verify.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Scalability, Feasibility and Use Case</a:t>
            </a:r>
            <a:endParaRPr lang="en-US" sz="3200" dirty="0"/>
          </a:p>
        </p:txBody>
      </p:sp>
      <p:sp>
        <p:nvSpPr>
          <p:cNvPr id="3" name="scope"/>
          <p:cNvSpPr/>
          <p:nvPr/>
        </p:nvSpPr>
        <p:spPr>
          <a:xfrm>
            <a:off x="548640" y="1188720"/>
            <a:ext cx="3657600" cy="498348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PROPOSED INITIAL SCOPE</a:t>
            </a:r>
            <a:endParaRPr lang="en-US" sz="1300" dirty="0"/>
          </a:p>
        </p:txBody>
      </p:sp>
      <p:sp>
        <p:nvSpPr>
          <p:cNvPr id="5" name="sc0-circle"/>
          <p:cNvSpPr/>
          <p:nvPr/>
        </p:nvSpPr>
        <p:spPr>
          <a:xfrm>
            <a:off x="822960" y="189280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sc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987906"/>
            <a:ext cx="175565" cy="1755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reported wallet per investigation</a:t>
            </a:r>
            <a:endParaRPr lang="en-US" sz="1400" dirty="0"/>
          </a:p>
        </p:txBody>
      </p:sp>
      <p:sp>
        <p:nvSpPr>
          <p:cNvPr id="8" name="sc1-circle"/>
          <p:cNvSpPr/>
          <p:nvPr/>
        </p:nvSpPr>
        <p:spPr>
          <a:xfrm>
            <a:off x="822960" y="267004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sc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2765146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56032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network initially, e.g. Tron</a:t>
            </a:r>
            <a:endParaRPr lang="en-US" sz="1400" dirty="0"/>
          </a:p>
        </p:txBody>
      </p:sp>
      <p:sp>
        <p:nvSpPr>
          <p:cNvPr id="11" name="sc2-circle"/>
          <p:cNvSpPr/>
          <p:nvPr/>
        </p:nvSpPr>
        <p:spPr>
          <a:xfrm>
            <a:off x="822960" y="344728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sc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3542386"/>
            <a:ext cx="175565" cy="1755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33756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Tracing through available data sources</a:t>
            </a:r>
            <a:endParaRPr lang="en-US" sz="1400" dirty="0"/>
          </a:p>
        </p:txBody>
      </p:sp>
      <p:sp>
        <p:nvSpPr>
          <p:cNvPr id="14" name="sc3-circle"/>
          <p:cNvSpPr/>
          <p:nvPr/>
        </p:nvSpPr>
        <p:spPr>
          <a:xfrm>
            <a:off x="822960" y="422452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sc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4319626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11480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TinyFish research on public reports and 1–2 exchange sites</a:t>
            </a:r>
            <a:endParaRPr lang="en-US" sz="1400" dirty="0"/>
          </a:p>
        </p:txBody>
      </p:sp>
      <p:sp>
        <p:nvSpPr>
          <p:cNvPr id="17" name="sc4-circle"/>
          <p:cNvSpPr/>
          <p:nvPr/>
        </p:nvSpPr>
        <p:spPr>
          <a:xfrm>
            <a:off x="822960" y="5001768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sc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5096866"/>
            <a:ext cx="175565" cy="1755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9204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sample report with explicit confidence levels and source references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44805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Roadmap</a:t>
            </a:r>
            <a:endParaRPr lang="en-US" sz="1700" dirty="0"/>
          </a:p>
        </p:txBody>
      </p:sp>
      <p:sp>
        <p:nvSpPr>
          <p:cNvPr id="21" name="road0"/>
          <p:cNvSpPr/>
          <p:nvPr/>
        </p:nvSpPr>
        <p:spPr>
          <a:xfrm>
            <a:off x="4480560" y="169164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road-t0"/>
          <p:cNvSpPr/>
          <p:nvPr/>
        </p:nvSpPr>
        <p:spPr>
          <a:xfrm>
            <a:off x="4663440" y="1856232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663440" y="1856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NEXT PHASE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466344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Additional networks, deeper tracing, improved risk rules</a:t>
            </a:r>
            <a:endParaRPr lang="en-US" sz="1300" dirty="0"/>
          </a:p>
        </p:txBody>
      </p:sp>
      <p:sp>
        <p:nvSpPr>
          <p:cNvPr id="25" name="road1"/>
          <p:cNvSpPr/>
          <p:nvPr/>
        </p:nvSpPr>
        <p:spPr>
          <a:xfrm>
            <a:off x="4480560" y="301752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road-t1"/>
          <p:cNvSpPr/>
          <p:nvPr/>
        </p:nvSpPr>
        <p:spPr>
          <a:xfrm>
            <a:off x="4663440" y="3182112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663440" y="3182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LONG-TERM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Authorised government integrations, advanced analytics, broader exchange coverage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4805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Scales by configuration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48056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new network or exchange is a configuration entry, not a new scraper. Tracing and research run in parallel.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8046720" y="118872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Risks and mitigations</a:t>
            </a:r>
            <a:endParaRPr lang="en-US" sz="1700" dirty="0"/>
          </a:p>
        </p:txBody>
      </p:sp>
      <p:sp>
        <p:nvSpPr>
          <p:cNvPr id="32" name="risk0"/>
          <p:cNvSpPr/>
          <p:nvPr/>
        </p:nvSpPr>
        <p:spPr>
          <a:xfrm>
            <a:off x="8046720" y="1691640"/>
            <a:ext cx="3596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229600" y="178308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Uncertain attribution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229600" y="2121408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Confidence levels plus investigator verification</a:t>
            </a:r>
            <a:endParaRPr lang="en-US" sz="1300" dirty="0"/>
          </a:p>
        </p:txBody>
      </p:sp>
      <p:sp>
        <p:nvSpPr>
          <p:cNvPr id="35" name="risk1"/>
          <p:cNvSpPr/>
          <p:nvPr/>
        </p:nvSpPr>
        <p:spPr>
          <a:xfrm>
            <a:off x="8046720" y="2807208"/>
            <a:ext cx="3596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229600" y="2898648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Incomplete transaction trails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0" y="3236976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Mark where the trail breaks (mixers, bridges) as unresolved</a:t>
            </a:r>
            <a:endParaRPr lang="en-US" sz="1300" dirty="0"/>
          </a:p>
        </p:txBody>
      </p:sp>
      <p:sp>
        <p:nvSpPr>
          <p:cNvPr id="38" name="risk2"/>
          <p:cNvSpPr/>
          <p:nvPr/>
        </p:nvSpPr>
        <p:spPr>
          <a:xfrm>
            <a:off x="8046720" y="3922776"/>
            <a:ext cx="3596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0" y="4014216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Inaccessible websites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229600" y="4352544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Retries, then flag for manual research</a:t>
            </a:r>
            <a:endParaRPr lang="en-US" sz="1300" dirty="0"/>
          </a:p>
        </p:txBody>
      </p:sp>
      <p:sp>
        <p:nvSpPr>
          <p:cNvPr id="41" name="risk3"/>
          <p:cNvSpPr/>
          <p:nvPr/>
        </p:nvSpPr>
        <p:spPr>
          <a:xfrm>
            <a:off x="8046720" y="5038344"/>
            <a:ext cx="359633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229600" y="5129784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False positives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8229600" y="5468112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Explainable reasons and human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Real-World Precedent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Coordinated crypto fund tracing. It shows the problem is real; it is not a ChainSight result.</a:t>
            </a:r>
            <a:endParaRPr lang="en-US" sz="1500" dirty="0"/>
          </a:p>
        </p:txBody>
      </p:sp>
      <p:sp>
        <p:nvSpPr>
          <p:cNvPr id="4" name="case"/>
          <p:cNvSpPr/>
          <p:nvPr/>
        </p:nvSpPr>
        <p:spPr>
          <a:xfrm>
            <a:off x="548640" y="1554480"/>
            <a:ext cx="11094415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NOVEMBER 2023  |  PIG-BUTCHERING SCAM SYNDICATE</a:t>
            </a:r>
            <a:endParaRPr lang="en-US" sz="1200" dirty="0"/>
          </a:p>
        </p:txBody>
      </p:sp>
      <p:sp>
        <p:nvSpPr>
          <p:cNvPr id="6" name="case-trail-line"/>
          <p:cNvSpPr/>
          <p:nvPr/>
        </p:nvSpPr>
        <p:spPr>
          <a:xfrm>
            <a:off x="1914114" y="2295144"/>
            <a:ext cx="836346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7" name="case-trail-n0"/>
          <p:cNvSpPr/>
          <p:nvPr/>
        </p:nvSpPr>
        <p:spPr>
          <a:xfrm>
            <a:off x="1813530" y="2194560"/>
            <a:ext cx="201168" cy="201168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8" name="case-trail-n1"/>
          <p:cNvSpPr/>
          <p:nvPr/>
        </p:nvSpPr>
        <p:spPr>
          <a:xfrm>
            <a:off x="3904397" y="2194560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9" name="case-trail-n2"/>
          <p:cNvSpPr/>
          <p:nvPr/>
        </p:nvSpPr>
        <p:spPr>
          <a:xfrm>
            <a:off x="5995264" y="2194560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0" name="case-trail-n3"/>
          <p:cNvSpPr/>
          <p:nvPr/>
        </p:nvSpPr>
        <p:spPr>
          <a:xfrm>
            <a:off x="8086131" y="2194560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1" name="case-trail-n4"/>
          <p:cNvSpPr/>
          <p:nvPr/>
        </p:nvSpPr>
        <p:spPr>
          <a:xfrm>
            <a:off x="10140422" y="2157984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56032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70+ victims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1089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targeted by a Southeast Asian scam syndicate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05267" y="256032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Self-custody USDT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05267" y="31089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funds held across the syndicate's wallets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96134" y="256032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Traced on-chain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96134" y="31089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by OKX and Tether, using Chainalysis tools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87001" y="256032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Coordinated with US authorities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77868" y="256032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</a:rPr>
              <a:t>~$225M USDT frozen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77868" y="31089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reported as Tether's largest freeze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Sources: Blockworks, "Tether says it froze $225M in USDT following DOJ collaboration" (blockworks.co/news/tether-freezes-funds-doj); OCCRP, "Crypto Firms Help Take Down International 'Pig Butchering' Scam" (occrp.org); Benzinga (Nov 2023).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ILLUSTRATIVE APPLICATION OF OUR PROPOSED WORKFLOW</a:t>
            </a:r>
            <a:endParaRPr lang="en-US" sz="1200" dirty="0"/>
          </a:p>
        </p:txBody>
      </p:sp>
      <p:sp>
        <p:nvSpPr>
          <p:cNvPr id="23" name="fit0"/>
          <p:cNvSpPr/>
          <p:nvPr/>
        </p:nvSpPr>
        <p:spPr>
          <a:xfrm>
            <a:off x="548640" y="475488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24" name="fit-i0-circle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fit-i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5068519"/>
            <a:ext cx="241402" cy="24140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2647874" y="4846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1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4864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 officer enters a reported wallet</a:t>
            </a:r>
            <a:endParaRPr lang="en-US" sz="1300" dirty="0"/>
          </a:p>
        </p:txBody>
      </p:sp>
      <p:sp>
        <p:nvSpPr>
          <p:cNvPr id="28" name="fit1"/>
          <p:cNvSpPr/>
          <p:nvPr/>
        </p:nvSpPr>
        <p:spPr>
          <a:xfrm>
            <a:off x="3379394" y="475488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29" name="fit-i1-circle"/>
          <p:cNvSpPr/>
          <p:nvPr/>
        </p:nvSpPr>
        <p:spPr>
          <a:xfrm>
            <a:off x="3562274" y="4937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fit-i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033" y="5068519"/>
            <a:ext cx="241402" cy="24140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478628" y="4846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2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3562274" y="54864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system traces observable transactions</a:t>
            </a:r>
            <a:endParaRPr lang="en-US" sz="1300" dirty="0"/>
          </a:p>
        </p:txBody>
      </p:sp>
      <p:sp>
        <p:nvSpPr>
          <p:cNvPr id="33" name="fit2"/>
          <p:cNvSpPr/>
          <p:nvPr/>
        </p:nvSpPr>
        <p:spPr>
          <a:xfrm>
            <a:off x="6210148" y="475488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34" name="fit-i2-circle"/>
          <p:cNvSpPr/>
          <p:nvPr/>
        </p:nvSpPr>
        <p:spPr>
          <a:xfrm>
            <a:off x="6393028" y="4937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fit-i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87" y="5068519"/>
            <a:ext cx="241402" cy="24140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309381" y="4846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3</a:t>
            </a:r>
            <a:endParaRPr lang="en-US" sz="2000" dirty="0"/>
          </a:p>
        </p:txBody>
      </p:sp>
      <p:sp>
        <p:nvSpPr>
          <p:cNvPr id="37" name="Text 32"/>
          <p:cNvSpPr txBox="1"/>
          <p:nvPr/>
        </p:nvSpPr>
        <p:spPr>
          <a:xfrm>
            <a:off x="6393028" y="54864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Potential exchange links and public intelligence are assembled</a:t>
            </a:r>
            <a:endParaRPr lang="en-US" sz="1300" dirty="0"/>
          </a:p>
        </p:txBody>
      </p:sp>
      <p:sp>
        <p:nvSpPr>
          <p:cNvPr id="38" name="fit3"/>
          <p:cNvSpPr/>
          <p:nvPr/>
        </p:nvSpPr>
        <p:spPr>
          <a:xfrm>
            <a:off x="9040901" y="4754880"/>
            <a:ext cx="2602154" cy="1371600"/>
          </a:xfrm>
          <a:prstGeom prst="roundRect">
            <a:avLst>
              <a:gd name="adj" fmla="val 5333"/>
            </a:avLst>
          </a:prstGeom>
          <a:solidFill>
            <a:srgbClr val="E3ECFD"/>
          </a:solidFill>
          <a:ln w="12700">
            <a:solidFill>
              <a:srgbClr val="E3ECFD"/>
            </a:solidFill>
            <a:prstDash val="solid"/>
          </a:ln>
        </p:spPr>
      </p:sp>
      <p:sp>
        <p:nvSpPr>
          <p:cNvPr id="39" name="fit-i3-circle"/>
          <p:cNvSpPr/>
          <p:nvPr/>
        </p:nvSpPr>
        <p:spPr>
          <a:xfrm>
            <a:off x="9223781" y="4937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fit-i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541" y="5068519"/>
            <a:ext cx="241402" cy="241402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1140135" y="4846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4</a:t>
            </a:r>
            <a:endParaRPr lang="en-US" sz="2000" dirty="0"/>
          </a:p>
        </p:txBody>
      </p:sp>
      <p:sp>
        <p:nvSpPr>
          <p:cNvPr id="42" name="Text 36"/>
          <p:cNvSpPr txBox="1"/>
          <p:nvPr/>
        </p:nvSpPr>
        <p:spPr>
          <a:xfrm>
            <a:off x="9223781" y="54864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officer verifies the lead and follows the exchange's official process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/ Prototype: Proposed Investigator Report</a:t>
            </a:r>
            <a:endParaRPr lang="en-US" sz="3200" dirty="0"/>
          </a:p>
        </p:txBody>
      </p:sp>
      <p:sp>
        <p:nvSpPr>
          <p:cNvPr id="3" name="mk-label"/>
          <p:cNvSpPr/>
          <p:nvPr/>
        </p:nvSpPr>
        <p:spPr>
          <a:xfrm>
            <a:off x="548640" y="1024128"/>
            <a:ext cx="402336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24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CONCEPTUAL UI DESIGN  |  ILLUSTRATIVE DATA</a:t>
            </a:r>
            <a:endParaRPr lang="en-US" sz="1200" dirty="0"/>
          </a:p>
        </p:txBody>
      </p:sp>
      <p:sp>
        <p:nvSpPr>
          <p:cNvPr id="5" name="mk-frame"/>
          <p:cNvSpPr/>
          <p:nvPr/>
        </p:nvSpPr>
        <p:spPr>
          <a:xfrm>
            <a:off x="548640" y="1463040"/>
            <a:ext cx="11094415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9050">
            <a:solidFill>
              <a:srgbClr val="EEF2F7"/>
            </a:solidFill>
            <a:prstDash val="solid"/>
          </a:ln>
        </p:spPr>
      </p:sp>
      <p:sp>
        <p:nvSpPr>
          <p:cNvPr id="6" name="mk-bar"/>
          <p:cNvSpPr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ChainSight   |   Case ID: DEMO-001   |   Network: Tron   |   Illustrative data</a:t>
            </a:r>
            <a:endParaRPr lang="en-US" sz="1200" dirty="0"/>
          </a:p>
        </p:txBody>
      </p:sp>
      <p:sp>
        <p:nvSpPr>
          <p:cNvPr id="8" name="mk-export"/>
          <p:cNvSpPr/>
          <p:nvPr/>
        </p:nvSpPr>
        <p:spPr>
          <a:xfrm>
            <a:off x="8671255" y="1536192"/>
            <a:ext cx="2788920" cy="265176"/>
          </a:xfrm>
          <a:prstGeom prst="roundRect">
            <a:avLst>
              <a:gd name="adj" fmla="val 17241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671255" y="1536192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Report export: proposed feature</a:t>
            </a:r>
            <a:endParaRPr lang="en-US" sz="1000" dirty="0"/>
          </a:p>
        </p:txBody>
      </p:sp>
      <p:sp>
        <p:nvSpPr>
          <p:cNvPr id="10" name="mk-graph"/>
          <p:cNvSpPr/>
          <p:nvPr/>
        </p:nvSpPr>
        <p:spPr>
          <a:xfrm>
            <a:off x="731520" y="2011680"/>
            <a:ext cx="448056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084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Transaction graph</a:t>
            </a:r>
            <a:endParaRPr lang="en-US" sz="1100" dirty="0"/>
          </a:p>
        </p:txBody>
      </p:sp>
      <p:sp>
        <p:nvSpPr>
          <p:cNvPr id="12" name="mk-e0"/>
          <p:cNvSpPr/>
          <p:nvPr/>
        </p:nvSpPr>
        <p:spPr>
          <a:xfrm>
            <a:off x="1106424" y="2980944"/>
            <a:ext cx="9601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3" name="mk-e1"/>
          <p:cNvSpPr/>
          <p:nvPr/>
        </p:nvSpPr>
        <p:spPr>
          <a:xfrm flipV="1">
            <a:off x="2066544" y="2660904"/>
            <a:ext cx="96012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mk-e2"/>
          <p:cNvSpPr/>
          <p:nvPr/>
        </p:nvSpPr>
        <p:spPr>
          <a:xfrm>
            <a:off x="3026664" y="2660904"/>
            <a:ext cx="9601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mk-e3"/>
          <p:cNvSpPr/>
          <p:nvPr/>
        </p:nvSpPr>
        <p:spPr>
          <a:xfrm>
            <a:off x="3986784" y="2660904"/>
            <a:ext cx="8686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dash"/>
          </a:ln>
        </p:spPr>
      </p:sp>
      <p:sp>
        <p:nvSpPr>
          <p:cNvPr id="16" name="mk-e4"/>
          <p:cNvSpPr/>
          <p:nvPr/>
        </p:nvSpPr>
        <p:spPr>
          <a:xfrm>
            <a:off x="2066544" y="2980944"/>
            <a:ext cx="960120" cy="36576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7" name="mk-n0"/>
          <p:cNvSpPr/>
          <p:nvPr/>
        </p:nvSpPr>
        <p:spPr>
          <a:xfrm>
            <a:off x="1005840" y="2880360"/>
            <a:ext cx="201168" cy="201168"/>
          </a:xfrm>
          <a:prstGeom prst="ellipse">
            <a:avLst>
              <a:gd name="adj" fmla="val 22727"/>
            </a:avLst>
          </a:prstGeom>
          <a:solidFill>
            <a:schemeClr val="accent4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Example Wallet A</a:t>
            </a:r>
            <a:endParaRPr lang="en-US" sz="900" dirty="0"/>
          </a:p>
        </p:txBody>
      </p:sp>
      <p:sp>
        <p:nvSpPr>
          <p:cNvPr id="19" name="mk-n1"/>
          <p:cNvSpPr/>
          <p:nvPr/>
        </p:nvSpPr>
        <p:spPr>
          <a:xfrm>
            <a:off x="1965960" y="2880360"/>
            <a:ext cx="201168" cy="201168"/>
          </a:xfrm>
          <a:prstGeom prst="ellipse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0" name="mk-n2"/>
          <p:cNvSpPr/>
          <p:nvPr/>
        </p:nvSpPr>
        <p:spPr>
          <a:xfrm>
            <a:off x="2926080" y="2560320"/>
            <a:ext cx="201168" cy="201168"/>
          </a:xfrm>
          <a:prstGeom prst="ellipse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mk-n3"/>
          <p:cNvSpPr/>
          <p:nvPr/>
        </p:nvSpPr>
        <p:spPr>
          <a:xfrm>
            <a:off x="3886200" y="2560320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23134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Likely deposit</a:t>
            </a:r>
            <a:endParaRPr lang="en-US" sz="900" dirty="0"/>
          </a:p>
        </p:txBody>
      </p:sp>
      <p:sp>
        <p:nvSpPr>
          <p:cNvPr id="23" name="mk-n4"/>
          <p:cNvSpPr/>
          <p:nvPr/>
        </p:nvSpPr>
        <p:spPr>
          <a:xfrm>
            <a:off x="4754880" y="2560320"/>
            <a:ext cx="201168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23134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Exchange X</a:t>
            </a:r>
            <a:endParaRPr lang="en-US" sz="900" dirty="0"/>
          </a:p>
        </p:txBody>
      </p:sp>
      <p:sp>
        <p:nvSpPr>
          <p:cNvPr id="25" name="mk-n5"/>
          <p:cNvSpPr/>
          <p:nvPr/>
        </p:nvSpPr>
        <p:spPr>
          <a:xfrm>
            <a:off x="2926080" y="3246120"/>
            <a:ext cx="201168" cy="201168"/>
          </a:xfrm>
          <a:prstGeom prst="ellipse">
            <a:avLst>
              <a:gd name="adj" fmla="val 22727"/>
            </a:avLst>
          </a:prstGeom>
          <a:solidFill>
            <a:schemeClr val="accent5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68880" y="346557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Unresolved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2084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solid = observed   dashed = inferred</a:t>
            </a:r>
            <a:endParaRPr lang="en-US" sz="900" dirty="0"/>
          </a:p>
        </p:txBody>
      </p:sp>
      <p:sp>
        <p:nvSpPr>
          <p:cNvPr id="28" name="mk-link"/>
          <p:cNvSpPr/>
          <p:nvPr/>
        </p:nvSpPr>
        <p:spPr>
          <a:xfrm>
            <a:off x="5349240" y="2011680"/>
            <a:ext cx="3200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Potential exchange link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Exchange X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Confidence: Medium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Funds swept into a wallet with a public Exchange X label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Deposit-address pattern observed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accent4"/>
                </a:solidFill>
              </a:rPr>
              <a:t>Not proof that Exchange X still holds the funds</a:t>
            </a:r>
            <a:endParaRPr lang="en-US" sz="1000" dirty="0"/>
          </a:p>
        </p:txBody>
      </p:sp>
      <p:sp>
        <p:nvSpPr>
          <p:cNvPr id="32" name="mk-src"/>
          <p:cNvSpPr/>
          <p:nvPr/>
        </p:nvSpPr>
        <p:spPr>
          <a:xfrm>
            <a:off x="8686800" y="2011680"/>
            <a:ext cx="277337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23960" y="2084832"/>
            <a:ext cx="2499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Sources (illustrative)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823960" y="2423160"/>
            <a:ext cx="24990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example-scam-reports.org/report/…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retrieved 10:42 UTC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exchange-x.example/law-enforcement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retrieved 10:44 UTC</a:t>
            </a:r>
            <a:endParaRPr lang="en-US" sz="1000" dirty="0"/>
          </a:p>
        </p:txBody>
      </p:sp>
      <p:sp>
        <p:nvSpPr>
          <p:cNvPr id="35" name="mk-tx"/>
          <p:cNvSpPr/>
          <p:nvPr/>
        </p:nvSpPr>
        <p:spPr>
          <a:xfrm>
            <a:off x="731520" y="3886200"/>
            <a:ext cx="44805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3959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Transactions (illustrative hashes)</a:t>
            </a:r>
            <a:endParaRPr lang="en-US" sz="1100" dirty="0"/>
          </a:p>
        </p:txBody>
      </p:sp>
      <p:sp>
        <p:nvSpPr>
          <p:cNvPr id="37" name="mk-txk0"/>
          <p:cNvSpPr/>
          <p:nvPr/>
        </p:nvSpPr>
        <p:spPr>
          <a:xfrm>
            <a:off x="868680" y="429768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42976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OBSERVED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828800" y="42976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Wallet A → Wallet B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4297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0xA1…(illustrative)</a:t>
            </a:r>
            <a:endParaRPr lang="en-US" sz="1000" dirty="0"/>
          </a:p>
        </p:txBody>
      </p:sp>
      <p:sp>
        <p:nvSpPr>
          <p:cNvPr id="41" name="mk-txk1"/>
          <p:cNvSpPr/>
          <p:nvPr/>
        </p:nvSpPr>
        <p:spPr>
          <a:xfrm>
            <a:off x="868680" y="470916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8680" y="47091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OBSERVED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828800" y="47091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Wallet B → Wallet C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566160" y="4709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0xB2…(illustrative)</a:t>
            </a:r>
            <a:endParaRPr lang="en-US" sz="1000" dirty="0"/>
          </a:p>
        </p:txBody>
      </p:sp>
      <p:sp>
        <p:nvSpPr>
          <p:cNvPr id="45" name="mk-txk2"/>
          <p:cNvSpPr/>
          <p:nvPr/>
        </p:nvSpPr>
        <p:spPr>
          <a:xfrm>
            <a:off x="868680" y="5120640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8680" y="51206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INFERRED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828800" y="5120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Wallet D → Exchange X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566160" y="5120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n/a</a:t>
            </a:r>
            <a:endParaRPr lang="en-US" sz="1000" dirty="0"/>
          </a:p>
        </p:txBody>
      </p:sp>
      <p:sp>
        <p:nvSpPr>
          <p:cNvPr id="49" name="mk-q"/>
          <p:cNvSpPr/>
          <p:nvPr/>
        </p:nvSpPr>
        <p:spPr>
          <a:xfrm>
            <a:off x="5349240" y="3886200"/>
            <a:ext cx="3200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0" y="3959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Unresolved questions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0" y="4270248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Where did the branch to the unresolved wallet go?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Is the Exchange X label current?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Do funds remain at the address?</a:t>
            </a:r>
            <a:endParaRPr lang="en-US" sz="1000" dirty="0"/>
          </a:p>
        </p:txBody>
      </p:sp>
      <p:sp>
        <p:nvSpPr>
          <p:cNvPr id="52" name="mk-chk"/>
          <p:cNvSpPr/>
          <p:nvPr/>
        </p:nvSpPr>
        <p:spPr>
          <a:xfrm>
            <a:off x="8686800" y="3886200"/>
            <a:ext cx="2773375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23960" y="3959352"/>
            <a:ext cx="2499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Investigator verification checklist</a:t>
            </a:r>
            <a:endParaRPr lang="en-US" sz="1100" dirty="0"/>
          </a:p>
        </p:txBody>
      </p:sp>
      <p:sp>
        <p:nvSpPr>
          <p:cNvPr id="54" name="mk-cb0"/>
          <p:cNvSpPr/>
          <p:nvPr/>
        </p:nvSpPr>
        <p:spPr>
          <a:xfrm>
            <a:off x="8823960" y="4334256"/>
            <a:ext cx="164592" cy="1645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98280" y="429768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Verify transaction hashes on an explorer</a:t>
            </a:r>
            <a:endParaRPr lang="en-US" sz="1000" dirty="0"/>
          </a:p>
        </p:txBody>
      </p:sp>
      <p:sp>
        <p:nvSpPr>
          <p:cNvPr id="56" name="mk-cb1"/>
          <p:cNvSpPr/>
          <p:nvPr/>
        </p:nvSpPr>
        <p:spPr>
          <a:xfrm>
            <a:off x="8823960" y="4718304"/>
            <a:ext cx="164592" cy="1645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098280" y="4681728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Confirm sources and timestamps</a:t>
            </a:r>
            <a:endParaRPr lang="en-US" sz="1000" dirty="0"/>
          </a:p>
        </p:txBody>
      </p:sp>
      <p:sp>
        <p:nvSpPr>
          <p:cNvPr id="58" name="mk-cb2"/>
          <p:cNvSpPr/>
          <p:nvPr/>
        </p:nvSpPr>
        <p:spPr>
          <a:xfrm>
            <a:off x="8823960" y="5102352"/>
            <a:ext cx="164592" cy="1645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098280" y="5065776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Follow the exchange's official process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Conceptual prototype using illustrative data. No live investigation or exchange attribution has been performed by ChainSight.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inSight Trail">
  <a:themeElements>
    <a:clrScheme name="ChainSight Trail">
      <a:dk1>
        <a:srgbClr val="0B1220"/>
      </a:dk1>
      <a:lt1>
        <a:srgbClr val="FFFFFF"/>
      </a:lt1>
      <a:dk2>
        <a:srgbClr val="1B2A41"/>
      </a:dk2>
      <a:lt2>
        <a:srgbClr val="EEF2F7"/>
      </a:lt2>
      <a:accent1>
        <a:srgbClr val="E8762B"/>
      </a:accent1>
      <a:accent2>
        <a:srgbClr val="2F6FED"/>
      </a:accent2>
      <a:accent3>
        <a:srgbClr val="23944A"/>
      </a:accent3>
      <a:accent4>
        <a:srgbClr val="D64545"/>
      </a:accent4>
      <a:accent5>
        <a:srgbClr val="64748B"/>
      </a:accent5>
      <a:accent6>
        <a:srgbClr val="0E9AA7"/>
      </a:accent6>
      <a:hlink>
        <a:srgbClr val="2F6FED"/>
      </a:hlink>
      <a:folHlink>
        <a:srgbClr val="6D28D9"/>
      </a:folHlink>
    </a:clrScheme>
    <a:fontScheme name="ChainSight Trai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ChainSight - Round 1 submission</dc:title>
  <dc:subject>PptxGenJS Presentation</dc:subject>
  <dc:creator>PptxGenJS</dc:creator>
  <cp:lastModifiedBy>PptxGenJS</cp:lastModifiedBy>
  <cp:revision>1</cp:revision>
  <dcterms:created xsi:type="dcterms:W3CDTF">2026-10-14T17:24:32Z</dcterms:created>
  <dcterms:modified xsi:type="dcterms:W3CDTF">2026-10-14T17:24:32Z</dcterms:modified>
</cp:coreProperties>
</file>