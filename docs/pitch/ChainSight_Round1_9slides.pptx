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eam Details" id="{2533f81c-ac1c-f298-4185-85b772a3aace}">
          <p14:sldIdLst>
            <p14:sldId id="256"/>
          </p14:sldIdLst>
        </p14:section>
        <p14:section name="Problem" id="{0ce983b5-1662-539d-3cfe-1ccb2e9a20cd}">
          <p14:sldIdLst>
            <p14:sldId id="257"/>
          </p14:sldIdLst>
        </p14:section>
        <p14:section name="Solution" id="{1f3b1db0-ba7d-8f6f-b2df-1f6100514c42}">
          <p14:sldIdLst>
            <p14:sldId id="258"/>
          </p14:sldIdLst>
        </p14:section>
        <p14:section name="Users" id="{cd91ef24-dac8-529d-41ab-347c8c5eee22}">
          <p14:sldIdLst>
            <p14:sldId id="259"/>
          </p14:sldIdLst>
        </p14:section>
        <p14:section name="Architecture" id="{aadbf60c-982c-f9c9-e310-0657b75ffb5a}">
          <p14:sldIdLst>
            <p14:sldId id="260"/>
          </p14:sldIdLst>
        </p14:section>
        <p14:section name="TinyFish" id="{d34ea300-f261-c071-6337-fa32691b1a2d}">
          <p14:sldIdLst>
            <p14:sldId id="261"/>
          </p14:sldIdLst>
        </p14:section>
        <p14:section name="Scale" id="{f79befba-6ef0-3df3-738f-d75f56be0532}">
          <p14:sldIdLst>
            <p14:sldId id="262"/>
            <p14:sldId id="263"/>
          </p14:sldIdLst>
        </p14:section>
        <p14:section name="Prototype" id="{92588646-8c6d-ba22-0099-1fbd81393e87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 title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85800"/>
            <a:ext cx="67665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993392"/>
            <a:ext cx="749808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7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ChainSight  |  Round 1 submission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</a:rPr>
              <a:t>TEAM DETAILS</a:t>
            </a:r>
            <a:endParaRPr lang="en-US" sz="13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85800"/>
            <a:ext cx="6766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ChainSight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36192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Crypto Fraud Investigation Intelligence</a:t>
            </a:r>
            <a:endParaRPr lang="en-US" sz="2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548640" y="1993392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2"/>
                </a:solidFill>
              </a:rPr>
              <a:t>From a reported wallet to traceable fund flows, likely exchange links and source-backed evidence.</a:t>
            </a:r>
            <a:endParaRPr lang="en-US" sz="1700" dirty="0"/>
          </a:p>
        </p:txBody>
      </p:sp>
      <p:sp>
        <p:nvSpPr>
          <p:cNvPr id="6" name="t-edge0"/>
          <p:cNvSpPr/>
          <p:nvPr/>
        </p:nvSpPr>
        <p:spPr>
          <a:xfrm>
            <a:off x="8906256" y="630936"/>
            <a:ext cx="914400" cy="45720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dash"/>
          </a:ln>
        </p:spPr>
      </p:sp>
      <p:sp>
        <p:nvSpPr>
          <p:cNvPr id="7" name="t-edge1"/>
          <p:cNvSpPr/>
          <p:nvPr/>
        </p:nvSpPr>
        <p:spPr>
          <a:xfrm flipH="1">
            <a:off x="9363456" y="1088136"/>
            <a:ext cx="457200" cy="73152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dash"/>
          </a:ln>
        </p:spPr>
      </p:sp>
      <p:sp>
        <p:nvSpPr>
          <p:cNvPr id="8" name="t-edge2"/>
          <p:cNvSpPr/>
          <p:nvPr/>
        </p:nvSpPr>
        <p:spPr>
          <a:xfrm>
            <a:off x="9363456" y="1819656"/>
            <a:ext cx="1097280" cy="32004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dash"/>
          </a:ln>
        </p:spPr>
      </p:sp>
      <p:sp>
        <p:nvSpPr>
          <p:cNvPr id="9" name="t-edge3"/>
          <p:cNvSpPr/>
          <p:nvPr/>
        </p:nvSpPr>
        <p:spPr>
          <a:xfrm flipH="1">
            <a:off x="10460736" y="1408176"/>
            <a:ext cx="822960" cy="73152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dash"/>
          </a:ln>
        </p:spPr>
      </p:sp>
      <p:sp>
        <p:nvSpPr>
          <p:cNvPr id="10" name="t-node0"/>
          <p:cNvSpPr/>
          <p:nvPr/>
        </p:nvSpPr>
        <p:spPr>
          <a:xfrm>
            <a:off x="8778240" y="502920"/>
            <a:ext cx="256032" cy="256032"/>
          </a:xfrm>
          <a:prstGeom prst="ellipse">
            <a:avLst/>
          </a:prstGeom>
          <a:solidFill>
            <a:schemeClr val="accent4"/>
          </a:solidFill>
          <a:ln w="25400">
            <a:solidFill>
              <a:srgbClr val="0B1220"/>
            </a:solidFill>
            <a:prstDash val="solid"/>
          </a:ln>
        </p:spPr>
      </p:sp>
      <p:sp>
        <p:nvSpPr>
          <p:cNvPr id="11" name="t-node1"/>
          <p:cNvSpPr/>
          <p:nvPr/>
        </p:nvSpPr>
        <p:spPr>
          <a:xfrm>
            <a:off x="9692640" y="960120"/>
            <a:ext cx="256032" cy="256032"/>
          </a:xfrm>
          <a:prstGeom prst="ellipse">
            <a:avLst/>
          </a:prstGeom>
          <a:solidFill>
            <a:schemeClr val="accent1"/>
          </a:solidFill>
          <a:ln w="25400">
            <a:solidFill>
              <a:srgbClr val="0B1220"/>
            </a:solidFill>
            <a:prstDash val="solid"/>
          </a:ln>
        </p:spPr>
      </p:sp>
      <p:sp>
        <p:nvSpPr>
          <p:cNvPr id="12" name="t-node2"/>
          <p:cNvSpPr/>
          <p:nvPr/>
        </p:nvSpPr>
        <p:spPr>
          <a:xfrm>
            <a:off x="9235440" y="1691640"/>
            <a:ext cx="256032" cy="256032"/>
          </a:xfrm>
          <a:prstGeom prst="ellipse">
            <a:avLst/>
          </a:prstGeom>
          <a:solidFill>
            <a:schemeClr val="accent1"/>
          </a:solidFill>
          <a:ln w="25400">
            <a:solidFill>
              <a:srgbClr val="0B1220"/>
            </a:solidFill>
            <a:prstDash val="solid"/>
          </a:ln>
        </p:spPr>
      </p:sp>
      <p:sp>
        <p:nvSpPr>
          <p:cNvPr id="13" name="t-node3"/>
          <p:cNvSpPr/>
          <p:nvPr/>
        </p:nvSpPr>
        <p:spPr>
          <a:xfrm>
            <a:off x="10332720" y="2011680"/>
            <a:ext cx="256032" cy="256032"/>
          </a:xfrm>
          <a:prstGeom prst="ellipse">
            <a:avLst/>
          </a:prstGeom>
          <a:solidFill>
            <a:schemeClr val="accent1"/>
          </a:solidFill>
          <a:ln w="25400">
            <a:solidFill>
              <a:srgbClr val="0B1220"/>
            </a:solidFill>
            <a:prstDash val="solid"/>
          </a:ln>
        </p:spPr>
      </p:sp>
      <p:sp>
        <p:nvSpPr>
          <p:cNvPr id="14" name="t-node4"/>
          <p:cNvSpPr/>
          <p:nvPr/>
        </p:nvSpPr>
        <p:spPr>
          <a:xfrm>
            <a:off x="11155680" y="1280160"/>
            <a:ext cx="256032" cy="256032"/>
          </a:xfrm>
          <a:prstGeom prst="roundRect">
            <a:avLst>
              <a:gd name="adj" fmla="val 21429"/>
            </a:avLst>
          </a:prstGeom>
          <a:solidFill>
            <a:schemeClr val="accent3"/>
          </a:solidFill>
          <a:ln w="25400">
            <a:solidFill>
              <a:srgbClr val="0B1220"/>
            </a:solidFill>
            <a:prstDash val="solid"/>
          </a:ln>
        </p:spPr>
      </p:sp>
      <p:sp>
        <p:nvSpPr>
          <p:cNvPr id="15" name="ps-card"/>
          <p:cNvSpPr/>
          <p:nvPr/>
        </p:nvSpPr>
        <p:spPr>
          <a:xfrm>
            <a:off x="548640" y="2788920"/>
            <a:ext cx="11094415" cy="1234440"/>
          </a:xfrm>
          <a:prstGeom prst="roundRect">
            <a:avLst>
              <a:gd name="adj" fmla="val 592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2898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PROBLEM STATEMENT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3172968"/>
            <a:ext cx="7406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Real-Time Identification of Fraud-Linked Cryptocurrency Exchanges from Victim-Reported Suspect Wallet Addresses through Automated Blockchain Analytics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641080" y="3172968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Theme: 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Blockchain &amp; Cybersecurity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Category: 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Software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2062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TEAM EXPERTISE</a:t>
            </a:r>
            <a:endParaRPr lang="en-US" sz="1100" dirty="0"/>
          </a:p>
        </p:txBody>
      </p:sp>
      <p:sp>
        <p:nvSpPr>
          <p:cNvPr id="20" name="exp0"/>
          <p:cNvSpPr/>
          <p:nvPr/>
        </p:nvSpPr>
        <p:spPr>
          <a:xfrm>
            <a:off x="548640" y="4526280"/>
            <a:ext cx="5410048" cy="1828800"/>
          </a:xfrm>
          <a:prstGeom prst="roundRect">
            <a:avLst>
              <a:gd name="adj" fmla="val 4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1" name="mem0-circle"/>
          <p:cNvSpPr/>
          <p:nvPr/>
        </p:nvSpPr>
        <p:spPr>
          <a:xfrm>
            <a:off x="777240" y="47274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2" name="mem0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4870094"/>
            <a:ext cx="263347" cy="263347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1463040" y="4663440"/>
            <a:ext cx="4312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Ayush Sharma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1463040" y="5010912"/>
            <a:ext cx="43127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Crypto Domain &amp; Product Research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822960" y="5422392"/>
            <a:ext cx="49528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bg2"/>
                </a:solidFill>
              </a:rPr>
              <a:t>1+ year of hands-on experience in cryptocurrency markets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bg2"/>
                </a:solidFill>
              </a:rPr>
              <a:t>Understands crypto users, exchanges and market risks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bg2"/>
                </a:solidFill>
              </a:rPr>
              <a:t>Leads problem research; turns domain knowledge into product requirements</a:t>
            </a:r>
            <a:endParaRPr lang="en-US" sz="1200" dirty="0"/>
          </a:p>
        </p:txBody>
      </p:sp>
      <p:sp>
        <p:nvSpPr>
          <p:cNvPr id="26" name="exp1"/>
          <p:cNvSpPr/>
          <p:nvPr/>
        </p:nvSpPr>
        <p:spPr>
          <a:xfrm>
            <a:off x="6233008" y="4526280"/>
            <a:ext cx="5410048" cy="1828800"/>
          </a:xfrm>
          <a:prstGeom prst="roundRect">
            <a:avLst>
              <a:gd name="adj" fmla="val 4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7" name="mem1-circle"/>
          <p:cNvSpPr/>
          <p:nvPr/>
        </p:nvSpPr>
        <p:spPr>
          <a:xfrm>
            <a:off x="6461608" y="4727448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8" name="mem1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4254" y="4870094"/>
            <a:ext cx="263347" cy="263347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7147408" y="4663440"/>
            <a:ext cx="4312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Chhaya Attri</a:t>
            </a:r>
            <a:endParaRPr lang="en-US" sz="1800" dirty="0"/>
          </a:p>
        </p:txBody>
      </p:sp>
      <p:sp>
        <p:nvSpPr>
          <p:cNvPr id="30" name="Text 26"/>
          <p:cNvSpPr txBox="1"/>
          <p:nvPr/>
        </p:nvSpPr>
        <p:spPr>
          <a:xfrm>
            <a:off x="7147408" y="5010912"/>
            <a:ext cx="43127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FB3FF"/>
                </a:solidFill>
              </a:rPr>
              <a:t>Full-Stack Development &amp; Intelligence Research</a:t>
            </a:r>
            <a:endParaRPr lang="en-US" sz="1300" dirty="0"/>
          </a:p>
        </p:txBody>
      </p:sp>
      <p:sp>
        <p:nvSpPr>
          <p:cNvPr id="31" name="Text 27"/>
          <p:cNvSpPr txBox="1"/>
          <p:nvPr/>
        </p:nvSpPr>
        <p:spPr>
          <a:xfrm>
            <a:off x="6507328" y="5422392"/>
            <a:ext cx="49528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bg2"/>
                </a:solidFill>
              </a:rPr>
              <a:t>Full-stack developer: builds the dashboard, backend and APIs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bg2"/>
                </a:solidFill>
              </a:rPr>
              <a:t>Scam-intelligence research and TinyFish research workflows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bg2"/>
                </a:solidFill>
              </a:rPr>
              <a:t>Source verification and evidence documentation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Victims report the scammer's wallet. Investigators can't quickly see which exchange (VASP) the funds may have reached, so money moves on before a request goes out.</a:t>
            </a:r>
            <a:endParaRPr lang="en-US" sz="1800" dirty="0"/>
          </a:p>
        </p:txBody>
      </p:sp>
      <p:sp>
        <p:nvSpPr>
          <p:cNvPr id="4" name="stat-card"/>
          <p:cNvSpPr/>
          <p:nvPr/>
        </p:nvSpPr>
        <p:spPr>
          <a:xfrm>
            <a:off x="548640" y="1920240"/>
            <a:ext cx="3749040" cy="4206240"/>
          </a:xfrm>
          <a:prstGeom prst="roundRect">
            <a:avLst>
              <a:gd name="adj" fmla="val 1951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14884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₹22,845 cr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06324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lost by Indians to cyber fraud in 2024, about 3× the ₹7,465 crore lost in 2023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06908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22.68 lakh cybercrime complaints on NCRP in 2024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539496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bg2"/>
                </a:solidFill>
              </a:rPr>
              <a:t>Source: Ministry of Home Affairs, written reply in the Lok Sabha (2025)</a:t>
            </a:r>
            <a:endParaRPr lang="en-US" sz="1100" dirty="0"/>
          </a:p>
        </p:txBody>
      </p:sp>
      <p:sp>
        <p:nvSpPr>
          <p:cNvPr id="9" name="grp0-circle"/>
          <p:cNvSpPr/>
          <p:nvPr/>
        </p:nvSpPr>
        <p:spPr>
          <a:xfrm>
            <a:off x="4572000" y="1965960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0" name="grp0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14646" y="2108606"/>
            <a:ext cx="263347" cy="263347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303520" y="1920240"/>
            <a:ext cx="6309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Fraud types</a:t>
            </a:r>
            <a:endParaRPr lang="en-US" sz="1600" dirty="0"/>
          </a:p>
        </p:txBody>
      </p:sp>
      <p:sp>
        <p:nvSpPr>
          <p:cNvPr id="12" name="chip0-0"/>
          <p:cNvSpPr/>
          <p:nvPr/>
        </p:nvSpPr>
        <p:spPr>
          <a:xfrm>
            <a:off x="5303520" y="2359152"/>
            <a:ext cx="859536" cy="329184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303520" y="2359152"/>
            <a:ext cx="8595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Investment</a:t>
            </a:r>
            <a:endParaRPr lang="en-US" sz="1100" dirty="0"/>
          </a:p>
        </p:txBody>
      </p:sp>
      <p:sp>
        <p:nvSpPr>
          <p:cNvPr id="14" name="chip0-1"/>
          <p:cNvSpPr/>
          <p:nvPr/>
        </p:nvSpPr>
        <p:spPr>
          <a:xfrm>
            <a:off x="6236208" y="2359152"/>
            <a:ext cx="859536" cy="329184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236208" y="2359152"/>
            <a:ext cx="8595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Task-based</a:t>
            </a:r>
            <a:endParaRPr lang="en-US" sz="1100" dirty="0"/>
          </a:p>
        </p:txBody>
      </p:sp>
      <p:sp>
        <p:nvSpPr>
          <p:cNvPr id="16" name="chip0-2"/>
          <p:cNvSpPr/>
          <p:nvPr/>
        </p:nvSpPr>
        <p:spPr>
          <a:xfrm>
            <a:off x="7168896" y="2359152"/>
            <a:ext cx="859536" cy="329184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168896" y="2359152"/>
            <a:ext cx="8595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Sextortion</a:t>
            </a:r>
            <a:endParaRPr lang="en-US" sz="1100" dirty="0"/>
          </a:p>
        </p:txBody>
      </p:sp>
      <p:sp>
        <p:nvSpPr>
          <p:cNvPr id="18" name="chip0-3"/>
          <p:cNvSpPr/>
          <p:nvPr/>
        </p:nvSpPr>
        <p:spPr>
          <a:xfrm>
            <a:off x="8101584" y="2359152"/>
            <a:ext cx="859536" cy="329184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101584" y="2359152"/>
            <a:ext cx="8595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Ransomware</a:t>
            </a:r>
            <a:endParaRPr lang="en-US" sz="1100" dirty="0"/>
          </a:p>
        </p:txBody>
      </p:sp>
      <p:sp>
        <p:nvSpPr>
          <p:cNvPr id="20" name="chip0-4"/>
          <p:cNvSpPr/>
          <p:nvPr/>
        </p:nvSpPr>
        <p:spPr>
          <a:xfrm>
            <a:off x="9034272" y="2359152"/>
            <a:ext cx="724205" cy="329184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034272" y="2359152"/>
            <a:ext cx="72420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Phishing</a:t>
            </a:r>
            <a:endParaRPr lang="en-US" sz="1100" dirty="0"/>
          </a:p>
        </p:txBody>
      </p:sp>
      <p:sp>
        <p:nvSpPr>
          <p:cNvPr id="22" name="chip0-5"/>
          <p:cNvSpPr/>
          <p:nvPr/>
        </p:nvSpPr>
        <p:spPr>
          <a:xfrm>
            <a:off x="9831629" y="2359152"/>
            <a:ext cx="656539" cy="329184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831629" y="2359152"/>
            <a:ext cx="6565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Darknet</a:t>
            </a:r>
            <a:endParaRPr lang="en-US" sz="1100" dirty="0"/>
          </a:p>
        </p:txBody>
      </p:sp>
      <p:sp>
        <p:nvSpPr>
          <p:cNvPr id="24" name="chip0-6"/>
          <p:cNvSpPr/>
          <p:nvPr/>
        </p:nvSpPr>
        <p:spPr>
          <a:xfrm>
            <a:off x="10561320" y="2359152"/>
            <a:ext cx="791870" cy="329184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561320" y="2359152"/>
            <a:ext cx="7918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Organised</a:t>
            </a:r>
            <a:endParaRPr lang="en-US" sz="1100" dirty="0"/>
          </a:p>
        </p:txBody>
      </p:sp>
      <p:sp>
        <p:nvSpPr>
          <p:cNvPr id="26" name="grp1-circle"/>
          <p:cNvSpPr/>
          <p:nvPr/>
        </p:nvSpPr>
        <p:spPr>
          <a:xfrm>
            <a:off x="4572000" y="303580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7" name="grp1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4646" y="3178454"/>
            <a:ext cx="263347" cy="263347"/>
          </a:xfrm>
          <a:prstGeom prst="rect">
            <a:avLst/>
          </a:prstGeom>
        </p:spPr>
      </p:pic>
      <p:sp>
        <p:nvSpPr>
          <p:cNvPr id="28" name="Text 24"/>
          <p:cNvSpPr txBox="1"/>
          <p:nvPr/>
        </p:nvSpPr>
        <p:spPr>
          <a:xfrm>
            <a:off x="5303520" y="2990088"/>
            <a:ext cx="6309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Reported wallets are</a:t>
            </a:r>
            <a:endParaRPr lang="en-US" sz="1600" dirty="0"/>
          </a:p>
        </p:txBody>
      </p:sp>
      <p:sp>
        <p:nvSpPr>
          <p:cNvPr id="29" name="chip1-0"/>
          <p:cNvSpPr/>
          <p:nvPr/>
        </p:nvSpPr>
        <p:spPr>
          <a:xfrm>
            <a:off x="5303520" y="3429000"/>
            <a:ext cx="1062533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303520" y="3429000"/>
            <a:ext cx="106253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Non-custodial</a:t>
            </a:r>
            <a:endParaRPr lang="en-US" sz="1100" dirty="0"/>
          </a:p>
        </p:txBody>
      </p:sp>
      <p:sp>
        <p:nvSpPr>
          <p:cNvPr id="31" name="chip1-1"/>
          <p:cNvSpPr/>
          <p:nvPr/>
        </p:nvSpPr>
        <p:spPr>
          <a:xfrm>
            <a:off x="6439205" y="3429000"/>
            <a:ext cx="1333195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439205" y="3429000"/>
            <a:ext cx="13331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Temporary burners</a:t>
            </a:r>
            <a:endParaRPr lang="en-US" sz="1100" dirty="0"/>
          </a:p>
        </p:txBody>
      </p:sp>
      <p:sp>
        <p:nvSpPr>
          <p:cNvPr id="33" name="chip1-2"/>
          <p:cNvSpPr/>
          <p:nvPr/>
        </p:nvSpPr>
        <p:spPr>
          <a:xfrm>
            <a:off x="7845552" y="3429000"/>
            <a:ext cx="1739189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7845552" y="3429000"/>
            <a:ext cx="173918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Layering intermediaries</a:t>
            </a:r>
            <a:endParaRPr lang="en-US" sz="1100" dirty="0"/>
          </a:p>
        </p:txBody>
      </p:sp>
      <p:sp>
        <p:nvSpPr>
          <p:cNvPr id="35" name="grp2-circle"/>
          <p:cNvSpPr/>
          <p:nvPr/>
        </p:nvSpPr>
        <p:spPr>
          <a:xfrm>
            <a:off x="4572000" y="4105656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6" name="grp2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4646" y="4248302"/>
            <a:ext cx="263347" cy="263347"/>
          </a:xfrm>
          <a:prstGeom prst="rect">
            <a:avLst/>
          </a:prstGeom>
        </p:spPr>
      </p:pic>
      <p:sp>
        <p:nvSpPr>
          <p:cNvPr id="37" name="Text 32"/>
          <p:cNvSpPr txBox="1"/>
          <p:nvPr/>
        </p:nvSpPr>
        <p:spPr>
          <a:xfrm>
            <a:off x="5303520" y="4059936"/>
            <a:ext cx="6309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Manual tracing breaks on</a:t>
            </a:r>
            <a:endParaRPr lang="en-US" sz="1600" dirty="0"/>
          </a:p>
        </p:txBody>
      </p:sp>
      <p:sp>
        <p:nvSpPr>
          <p:cNvPr id="38" name="chip2-0"/>
          <p:cNvSpPr/>
          <p:nvPr/>
        </p:nvSpPr>
        <p:spPr>
          <a:xfrm>
            <a:off x="5303520" y="4498848"/>
            <a:ext cx="1603858" cy="32918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5303520" y="4498848"/>
            <a:ext cx="160385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Multi-chain transfers</a:t>
            </a:r>
            <a:endParaRPr lang="en-US" sz="1100" dirty="0"/>
          </a:p>
        </p:txBody>
      </p:sp>
      <p:sp>
        <p:nvSpPr>
          <p:cNvPr id="40" name="chip2-1"/>
          <p:cNvSpPr/>
          <p:nvPr/>
        </p:nvSpPr>
        <p:spPr>
          <a:xfrm>
            <a:off x="6980530" y="4498848"/>
            <a:ext cx="1130198" cy="32918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6980530" y="4498848"/>
            <a:ext cx="113019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DeFi protocols</a:t>
            </a:r>
            <a:endParaRPr lang="en-US" sz="1100" dirty="0"/>
          </a:p>
        </p:txBody>
      </p:sp>
      <p:sp>
        <p:nvSpPr>
          <p:cNvPr id="42" name="chip2-2"/>
          <p:cNvSpPr/>
          <p:nvPr/>
        </p:nvSpPr>
        <p:spPr>
          <a:xfrm>
            <a:off x="8183880" y="4498848"/>
            <a:ext cx="1333195" cy="32918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3" name="Text 38"/>
          <p:cNvSpPr txBox="1"/>
          <p:nvPr/>
        </p:nvSpPr>
        <p:spPr>
          <a:xfrm>
            <a:off x="8183880" y="4498848"/>
            <a:ext cx="13331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Mixers / tumblers</a:t>
            </a:r>
            <a:endParaRPr lang="en-US" sz="1100" dirty="0"/>
          </a:p>
        </p:txBody>
      </p:sp>
      <p:sp>
        <p:nvSpPr>
          <p:cNvPr id="44" name="chip2-3"/>
          <p:cNvSpPr/>
          <p:nvPr/>
        </p:nvSpPr>
        <p:spPr>
          <a:xfrm>
            <a:off x="9590227" y="4498848"/>
            <a:ext cx="656539" cy="32918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5" name="Text 40"/>
          <p:cNvSpPr txBox="1"/>
          <p:nvPr/>
        </p:nvSpPr>
        <p:spPr>
          <a:xfrm>
            <a:off x="9590227" y="4498848"/>
            <a:ext cx="6565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Bridges</a:t>
            </a:r>
            <a:endParaRPr lang="en-US" sz="1100" dirty="0"/>
          </a:p>
        </p:txBody>
      </p:sp>
      <p:sp>
        <p:nvSpPr>
          <p:cNvPr id="46" name="chip2-4"/>
          <p:cNvSpPr/>
          <p:nvPr/>
        </p:nvSpPr>
        <p:spPr>
          <a:xfrm>
            <a:off x="10319918" y="4498848"/>
            <a:ext cx="1062533" cy="32918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7" name="Text 42"/>
          <p:cNvSpPr txBox="1"/>
          <p:nvPr/>
        </p:nvSpPr>
        <p:spPr>
          <a:xfrm>
            <a:off x="10319918" y="4498848"/>
            <a:ext cx="106253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Privacy tools</a:t>
            </a:r>
            <a:endParaRPr lang="en-US" sz="1100" dirty="0"/>
          </a:p>
        </p:txBody>
      </p:sp>
      <p:sp>
        <p:nvSpPr>
          <p:cNvPr id="48" name="grp3-circle"/>
          <p:cNvSpPr/>
          <p:nvPr/>
        </p:nvSpPr>
        <p:spPr>
          <a:xfrm>
            <a:off x="4572000" y="5175504"/>
            <a:ext cx="548640" cy="54864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49" name="grp3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4646" y="5318150"/>
            <a:ext cx="263347" cy="263347"/>
          </a:xfrm>
          <a:prstGeom prst="rect">
            <a:avLst/>
          </a:prstGeom>
        </p:spPr>
      </p:pic>
      <p:sp>
        <p:nvSpPr>
          <p:cNvPr id="50" name="Text 44"/>
          <p:cNvSpPr txBox="1"/>
          <p:nvPr/>
        </p:nvSpPr>
        <p:spPr>
          <a:xfrm>
            <a:off x="5303520" y="5129784"/>
            <a:ext cx="6309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Delay costs</a:t>
            </a:r>
            <a:endParaRPr lang="en-US" sz="1600" dirty="0"/>
          </a:p>
        </p:txBody>
      </p:sp>
      <p:sp>
        <p:nvSpPr>
          <p:cNvPr id="51" name="chip3-0"/>
          <p:cNvSpPr/>
          <p:nvPr/>
        </p:nvSpPr>
        <p:spPr>
          <a:xfrm>
            <a:off x="5303520" y="5568696"/>
            <a:ext cx="1130198" cy="32918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52" name="Text 46"/>
          <p:cNvSpPr txBox="1"/>
          <p:nvPr/>
        </p:nvSpPr>
        <p:spPr>
          <a:xfrm>
            <a:off x="5303520" y="5568696"/>
            <a:ext cx="113019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Asset freezing</a:t>
            </a:r>
            <a:endParaRPr lang="en-US" sz="1100" dirty="0"/>
          </a:p>
        </p:txBody>
      </p:sp>
      <p:sp>
        <p:nvSpPr>
          <p:cNvPr id="53" name="chip3-1"/>
          <p:cNvSpPr/>
          <p:nvPr/>
        </p:nvSpPr>
        <p:spPr>
          <a:xfrm>
            <a:off x="6506870" y="5568696"/>
            <a:ext cx="1603858" cy="32918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54" name="Text 48"/>
          <p:cNvSpPr txBox="1"/>
          <p:nvPr/>
        </p:nvSpPr>
        <p:spPr>
          <a:xfrm>
            <a:off x="6506870" y="5568696"/>
            <a:ext cx="160385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Evidence preservation</a:t>
            </a:r>
            <a:endParaRPr lang="en-US" sz="1100" dirty="0"/>
          </a:p>
        </p:txBody>
      </p:sp>
      <p:sp>
        <p:nvSpPr>
          <p:cNvPr id="55" name="chip3-2"/>
          <p:cNvSpPr/>
          <p:nvPr/>
        </p:nvSpPr>
        <p:spPr>
          <a:xfrm>
            <a:off x="8183880" y="5568696"/>
            <a:ext cx="1333195" cy="32918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56" name="Text 50"/>
          <p:cNvSpPr txBox="1"/>
          <p:nvPr/>
        </p:nvSpPr>
        <p:spPr>
          <a:xfrm>
            <a:off x="8183880" y="5568696"/>
            <a:ext cx="13331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Fund-flow tracing</a:t>
            </a:r>
            <a:endParaRPr lang="en-US" sz="1100" dirty="0"/>
          </a:p>
        </p:txBody>
      </p:sp>
      <p:sp>
        <p:nvSpPr>
          <p:cNvPr id="57" name="chip3-3"/>
          <p:cNvSpPr/>
          <p:nvPr/>
        </p:nvSpPr>
        <p:spPr>
          <a:xfrm>
            <a:off x="9590227" y="5568696"/>
            <a:ext cx="1197864" cy="32918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58" name="Text 52"/>
          <p:cNvSpPr txBox="1"/>
          <p:nvPr/>
        </p:nvSpPr>
        <p:spPr>
          <a:xfrm>
            <a:off x="9590227" y="5568696"/>
            <a:ext cx="1197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Victim recovery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Proposed Solution</a:t>
            </a:r>
            <a:endParaRPr lang="en-US" sz="3200" dirty="0"/>
          </a:p>
        </p:txBody>
      </p:sp>
      <p:sp>
        <p:nvSpPr>
          <p:cNvPr id="3" name="pitch"/>
          <p:cNvSpPr/>
          <p:nvPr/>
        </p:nvSpPr>
        <p:spPr>
          <a:xfrm>
            <a:off x="548640" y="1097280"/>
            <a:ext cx="11094415" cy="777240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097280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Wallet in  </a:t>
            </a:r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</a:t>
            </a:r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confidence-rated, source-linked leads out</a:t>
            </a:r>
            <a:endParaRPr lang="en-US" sz="2400" dirty="0"/>
          </a:p>
        </p:txBody>
      </p:sp>
      <p:sp>
        <p:nvSpPr>
          <p:cNvPr id="5" name="sol-line"/>
          <p:cNvSpPr/>
          <p:nvPr/>
        </p:nvSpPr>
        <p:spPr>
          <a:xfrm>
            <a:off x="1548354" y="2395728"/>
            <a:ext cx="9094988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dash"/>
          </a:ln>
        </p:spPr>
      </p:sp>
      <p:sp>
        <p:nvSpPr>
          <p:cNvPr id="6" name="sol0-circle"/>
          <p:cNvSpPr/>
          <p:nvPr/>
        </p:nvSpPr>
        <p:spPr>
          <a:xfrm>
            <a:off x="1182594" y="2029968"/>
            <a:ext cx="731520" cy="7315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7" name="sol0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2789" y="2220163"/>
            <a:ext cx="351130" cy="351130"/>
          </a:xfrm>
          <a:prstGeom prst="rect">
            <a:avLst/>
          </a:prstGeom>
        </p:spPr>
      </p:pic>
      <p:sp>
        <p:nvSpPr>
          <p:cNvPr id="8" name="sol-card0"/>
          <p:cNvSpPr/>
          <p:nvPr/>
        </p:nvSpPr>
        <p:spPr>
          <a:xfrm>
            <a:off x="548640" y="2926080"/>
            <a:ext cx="1999427" cy="17830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3035808"/>
            <a:ext cx="163366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1. Ingest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3456432"/>
            <a:ext cx="163366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Reported wallet via dashboard or API</a:t>
            </a:r>
            <a:endParaRPr lang="en-US" sz="1400" dirty="0"/>
          </a:p>
        </p:txBody>
      </p:sp>
      <p:sp>
        <p:nvSpPr>
          <p:cNvPr id="11" name="sol1-circle"/>
          <p:cNvSpPr/>
          <p:nvPr/>
        </p:nvSpPr>
        <p:spPr>
          <a:xfrm>
            <a:off x="3456341" y="2029968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sol1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6536" y="2220163"/>
            <a:ext cx="351130" cy="351130"/>
          </a:xfrm>
          <a:prstGeom prst="rect">
            <a:avLst/>
          </a:prstGeom>
        </p:spPr>
      </p:pic>
      <p:sp>
        <p:nvSpPr>
          <p:cNvPr id="13" name="sol-card1"/>
          <p:cNvSpPr/>
          <p:nvPr/>
        </p:nvSpPr>
        <p:spPr>
          <a:xfrm>
            <a:off x="2822387" y="2926080"/>
            <a:ext cx="1999427" cy="17830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05267" y="3035808"/>
            <a:ext cx="163366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2. Trace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3005267" y="3456432"/>
            <a:ext cx="163366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Hop-by-hop transaction graph; layering patterns</a:t>
            </a:r>
            <a:endParaRPr lang="en-US" sz="1400" dirty="0"/>
          </a:p>
        </p:txBody>
      </p:sp>
      <p:sp>
        <p:nvSpPr>
          <p:cNvPr id="16" name="sol2-circle"/>
          <p:cNvSpPr/>
          <p:nvPr/>
        </p:nvSpPr>
        <p:spPr>
          <a:xfrm>
            <a:off x="5730088" y="2029968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sol2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0283" y="2220163"/>
            <a:ext cx="351130" cy="351130"/>
          </a:xfrm>
          <a:prstGeom prst="rect">
            <a:avLst/>
          </a:prstGeom>
        </p:spPr>
      </p:pic>
      <p:sp>
        <p:nvSpPr>
          <p:cNvPr id="18" name="sol-card2"/>
          <p:cNvSpPr/>
          <p:nvPr/>
        </p:nvSpPr>
        <p:spPr>
          <a:xfrm>
            <a:off x="5096134" y="2926080"/>
            <a:ext cx="1999427" cy="17830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5279014" y="3035808"/>
            <a:ext cx="163366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3. Flag</a:t>
            </a:r>
            <a:endParaRPr lang="en-US" sz="1800" dirty="0"/>
          </a:p>
        </p:txBody>
      </p:sp>
      <p:sp>
        <p:nvSpPr>
          <p:cNvPr id="20" name="Text 15"/>
          <p:cNvSpPr txBox="1"/>
          <p:nvPr/>
        </p:nvSpPr>
        <p:spPr>
          <a:xfrm>
            <a:off x="5279014" y="3456432"/>
            <a:ext cx="163366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Likely exchange-associated addresses, each confidence-rated</a:t>
            </a:r>
            <a:endParaRPr lang="en-US" sz="1400" dirty="0"/>
          </a:p>
        </p:txBody>
      </p:sp>
      <p:sp>
        <p:nvSpPr>
          <p:cNvPr id="21" name="sol3-circle"/>
          <p:cNvSpPr/>
          <p:nvPr/>
        </p:nvSpPr>
        <p:spPr>
          <a:xfrm>
            <a:off x="8003835" y="2029968"/>
            <a:ext cx="731520" cy="7315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2" name="sol3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4030" y="2220163"/>
            <a:ext cx="351130" cy="351130"/>
          </a:xfrm>
          <a:prstGeom prst="rect">
            <a:avLst/>
          </a:prstGeom>
        </p:spPr>
      </p:pic>
      <p:sp>
        <p:nvSpPr>
          <p:cNvPr id="23" name="sol-card3"/>
          <p:cNvSpPr/>
          <p:nvPr/>
        </p:nvSpPr>
        <p:spPr>
          <a:xfrm>
            <a:off x="7369881" y="2926080"/>
            <a:ext cx="1999427" cy="17830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552761" y="3035808"/>
            <a:ext cx="163366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4. Research</a:t>
            </a:r>
            <a:endParaRPr lang="en-US" sz="1800" dirty="0"/>
          </a:p>
        </p:txBody>
      </p:sp>
      <p:sp>
        <p:nvSpPr>
          <p:cNvPr id="25" name="Text 19"/>
          <p:cNvSpPr txBox="1"/>
          <p:nvPr/>
        </p:nvSpPr>
        <p:spPr>
          <a:xfrm>
            <a:off x="7552761" y="3456432"/>
            <a:ext cx="163366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Public scam reports + the exchange's official process</a:t>
            </a:r>
            <a:endParaRPr lang="en-US" sz="1400" dirty="0"/>
          </a:p>
        </p:txBody>
      </p:sp>
      <p:sp>
        <p:nvSpPr>
          <p:cNvPr id="26" name="sol-tf3"/>
          <p:cNvSpPr/>
          <p:nvPr/>
        </p:nvSpPr>
        <p:spPr>
          <a:xfrm>
            <a:off x="7552761" y="4315968"/>
            <a:ext cx="1005840" cy="2743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7552761" y="431596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TinyFish</a:t>
            </a:r>
            <a:endParaRPr lang="en-US" sz="1100" dirty="0"/>
          </a:p>
        </p:txBody>
      </p:sp>
      <p:sp>
        <p:nvSpPr>
          <p:cNvPr id="28" name="sol4-circle"/>
          <p:cNvSpPr/>
          <p:nvPr/>
        </p:nvSpPr>
        <p:spPr>
          <a:xfrm>
            <a:off x="10277582" y="2029968"/>
            <a:ext cx="731520" cy="7315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9" name="sol4-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67777" y="2220163"/>
            <a:ext cx="351130" cy="351130"/>
          </a:xfrm>
          <a:prstGeom prst="rect">
            <a:avLst/>
          </a:prstGeom>
        </p:spPr>
      </p:pic>
      <p:sp>
        <p:nvSpPr>
          <p:cNvPr id="30" name="sol-card4"/>
          <p:cNvSpPr/>
          <p:nvPr/>
        </p:nvSpPr>
        <p:spPr>
          <a:xfrm>
            <a:off x="9643628" y="2926080"/>
            <a:ext cx="1999427" cy="17830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9826508" y="3035808"/>
            <a:ext cx="163366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5. Report</a:t>
            </a:r>
            <a:endParaRPr lang="en-US" sz="1800" dirty="0"/>
          </a:p>
        </p:txBody>
      </p:sp>
      <p:sp>
        <p:nvSpPr>
          <p:cNvPr id="32" name="Text 25"/>
          <p:cNvSpPr txBox="1"/>
          <p:nvPr/>
        </p:nvSpPr>
        <p:spPr>
          <a:xfrm>
            <a:off x="9826508" y="3456432"/>
            <a:ext cx="163366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Leads, sources and evidence for the officer to verify</a:t>
            </a:r>
            <a:endParaRPr lang="en-US" sz="1400" dirty="0"/>
          </a:p>
        </p:txBody>
      </p:sp>
      <p:sp>
        <p:nvSpPr>
          <p:cNvPr id="33" name="sol-tf4"/>
          <p:cNvSpPr/>
          <p:nvPr/>
        </p:nvSpPr>
        <p:spPr>
          <a:xfrm>
            <a:off x="9826508" y="4315968"/>
            <a:ext cx="1005840" cy="2743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9826508" y="431596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TinyFish</a:t>
            </a:r>
            <a:endParaRPr lang="en-US" sz="1100" dirty="0"/>
          </a:p>
        </p:txBody>
      </p:sp>
      <p:sp>
        <p:nvSpPr>
          <p:cNvPr id="35" name="novelty"/>
          <p:cNvSpPr/>
          <p:nvPr/>
        </p:nvSpPr>
        <p:spPr>
          <a:xfrm>
            <a:off x="548640" y="4892040"/>
            <a:ext cx="11094415" cy="1325880"/>
          </a:xfrm>
          <a:prstGeom prst="roundRect">
            <a:avLst>
              <a:gd name="adj" fmla="val 5517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868680" y="50017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WHAT MAKES CHAINSIGHT DIFFERENT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868680" y="5303520"/>
            <a:ext cx="104543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On-chain fund-flow analysis + TinyFish-powered discovery of public scam intelligence and official exchange law-enforcement procedures, in one source-linked investigation report. Built for investigator verification and evidence traceability: risk scores are leads, never proof.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Users</a:t>
            </a:r>
            <a:endParaRPr lang="en-US" sz="3200" dirty="0"/>
          </a:p>
        </p:txBody>
      </p:sp>
      <p:sp>
        <p:nvSpPr>
          <p:cNvPr id="3" name="user0"/>
          <p:cNvSpPr/>
          <p:nvPr/>
        </p:nvSpPr>
        <p:spPr>
          <a:xfrm>
            <a:off x="548640" y="1188720"/>
            <a:ext cx="3484778" cy="2834640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ui0-circle"/>
          <p:cNvSpPr/>
          <p:nvPr/>
        </p:nvSpPr>
        <p:spPr>
          <a:xfrm>
            <a:off x="868680" y="1463040"/>
            <a:ext cx="822960" cy="82296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5" name="ui0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650" y="1677010"/>
            <a:ext cx="395021" cy="395021"/>
          </a:xfrm>
          <a:prstGeom prst="rect">
            <a:avLst/>
          </a:prstGeom>
        </p:spPr>
      </p:pic>
      <p:sp>
        <p:nvSpPr>
          <p:cNvPr id="6" name="ut0"/>
          <p:cNvSpPr/>
          <p:nvPr/>
        </p:nvSpPr>
        <p:spPr>
          <a:xfrm>
            <a:off x="2570378" y="1600200"/>
            <a:ext cx="1143000" cy="27432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2570378" y="160020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PRIMARY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2514600"/>
            <a:ext cx="28446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State cyber cells and police units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3200400"/>
            <a:ext cx="28446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Investigators handling NCRP complaints and SAHYOG requests</a:t>
            </a:r>
            <a:endParaRPr lang="en-US" sz="1400" dirty="0"/>
          </a:p>
        </p:txBody>
      </p:sp>
      <p:sp>
        <p:nvSpPr>
          <p:cNvPr id="10" name="user1"/>
          <p:cNvSpPr/>
          <p:nvPr/>
        </p:nvSpPr>
        <p:spPr>
          <a:xfrm>
            <a:off x="4353458" y="1188720"/>
            <a:ext cx="3484778" cy="2834640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ui1-circle"/>
          <p:cNvSpPr/>
          <p:nvPr/>
        </p:nvSpPr>
        <p:spPr>
          <a:xfrm>
            <a:off x="4673498" y="1463040"/>
            <a:ext cx="822960" cy="8229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2" name="ui1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7468" y="1677010"/>
            <a:ext cx="395021" cy="395021"/>
          </a:xfrm>
          <a:prstGeom prst="rect">
            <a:avLst/>
          </a:prstGeom>
        </p:spPr>
      </p:pic>
      <p:sp>
        <p:nvSpPr>
          <p:cNvPr id="13" name="ut1"/>
          <p:cNvSpPr/>
          <p:nvPr/>
        </p:nvSpPr>
        <p:spPr>
          <a:xfrm>
            <a:off x="6375197" y="1600200"/>
            <a:ext cx="1143000" cy="2743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375197" y="160020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SECONDARY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4673498" y="2514600"/>
            <a:ext cx="28446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Exchange and VASP compliance teams</a:t>
            </a:r>
            <a:endParaRPr lang="en-US" sz="1900" dirty="0"/>
          </a:p>
        </p:txBody>
      </p:sp>
      <p:sp>
        <p:nvSpPr>
          <p:cNvPr id="16" name="Text 12"/>
          <p:cNvSpPr txBox="1"/>
          <p:nvPr/>
        </p:nvSpPr>
        <p:spPr>
          <a:xfrm>
            <a:off x="4673498" y="3200400"/>
            <a:ext cx="28446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Faster, standard requests about reported fraud flows</a:t>
            </a:r>
            <a:endParaRPr lang="en-US" sz="1400" dirty="0"/>
          </a:p>
        </p:txBody>
      </p:sp>
      <p:sp>
        <p:nvSpPr>
          <p:cNvPr id="17" name="user2"/>
          <p:cNvSpPr/>
          <p:nvPr/>
        </p:nvSpPr>
        <p:spPr>
          <a:xfrm>
            <a:off x="8158277" y="1188720"/>
            <a:ext cx="3484778" cy="2834640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ui2-circle"/>
          <p:cNvSpPr/>
          <p:nvPr/>
        </p:nvSpPr>
        <p:spPr>
          <a:xfrm>
            <a:off x="8478317" y="1463040"/>
            <a:ext cx="822960" cy="82296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9" name="ui2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2286" y="1677010"/>
            <a:ext cx="395021" cy="395021"/>
          </a:xfrm>
          <a:prstGeom prst="rect">
            <a:avLst/>
          </a:prstGeom>
        </p:spPr>
      </p:pic>
      <p:sp>
        <p:nvSpPr>
          <p:cNvPr id="20" name="ut2"/>
          <p:cNvSpPr/>
          <p:nvPr/>
        </p:nvSpPr>
        <p:spPr>
          <a:xfrm>
            <a:off x="10180015" y="1600200"/>
            <a:ext cx="1143000" cy="274320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10180015" y="160020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SECONDARY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8478317" y="2514600"/>
            <a:ext cx="28446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Banks' fraud units</a:t>
            </a:r>
            <a:endParaRPr lang="en-US" sz="1900" dirty="0"/>
          </a:p>
        </p:txBody>
      </p:sp>
      <p:sp>
        <p:nvSpPr>
          <p:cNvPr id="23" name="Text 18"/>
          <p:cNvSpPr txBox="1"/>
          <p:nvPr/>
        </p:nvSpPr>
        <p:spPr>
          <a:xfrm>
            <a:off x="8478317" y="3200400"/>
            <a:ext cx="28446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Link crypto cash-outs to the accounts they hold</a:t>
            </a:r>
            <a:endParaRPr lang="en-US" sz="1400" dirty="0"/>
          </a:p>
        </p:txBody>
      </p:sp>
      <p:sp>
        <p:nvSpPr>
          <p:cNvPr id="24" name="value-band"/>
          <p:cNvSpPr/>
          <p:nvPr/>
        </p:nvSpPr>
        <p:spPr>
          <a:xfrm>
            <a:off x="548640" y="4343400"/>
            <a:ext cx="11094415" cy="1737360"/>
          </a:xfrm>
          <a:prstGeom prst="roundRect">
            <a:avLst>
              <a:gd name="adj" fmla="val 4211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868680" y="45262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VALUE TO THEM</a:t>
            </a:r>
            <a:endParaRPr lang="en-US" sz="1200" dirty="0"/>
          </a:p>
        </p:txBody>
      </p:sp>
      <p:sp>
        <p:nvSpPr>
          <p:cNvPr id="26" name="val0-circle"/>
          <p:cNvSpPr/>
          <p:nvPr/>
        </p:nvSpPr>
        <p:spPr>
          <a:xfrm>
            <a:off x="868680" y="4983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7" name="val0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126126"/>
            <a:ext cx="263347" cy="263347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1554480" y="4919472"/>
            <a:ext cx="1836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Faster response</a:t>
            </a:r>
            <a:endParaRPr lang="en-US" sz="1500" dirty="0"/>
          </a:p>
        </p:txBody>
      </p:sp>
      <p:sp>
        <p:nvSpPr>
          <p:cNvPr id="29" name="Text 23"/>
          <p:cNvSpPr txBox="1"/>
          <p:nvPr/>
        </p:nvSpPr>
        <p:spPr>
          <a:xfrm>
            <a:off x="1554480" y="5285232"/>
            <a:ext cx="18363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exchange found in one run</a:t>
            </a:r>
            <a:endParaRPr lang="en-US" sz="1300" dirty="0"/>
          </a:p>
        </p:txBody>
      </p:sp>
      <p:sp>
        <p:nvSpPr>
          <p:cNvPr id="30" name="val1-circle"/>
          <p:cNvSpPr/>
          <p:nvPr/>
        </p:nvSpPr>
        <p:spPr>
          <a:xfrm>
            <a:off x="3482264" y="4983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1" name="val1-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24910" y="5126126"/>
            <a:ext cx="263347" cy="263347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4168064" y="4919472"/>
            <a:ext cx="1836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More freezes</a:t>
            </a:r>
            <a:endParaRPr lang="en-US" sz="1500" dirty="0"/>
          </a:p>
        </p:txBody>
      </p:sp>
      <p:sp>
        <p:nvSpPr>
          <p:cNvPr id="33" name="Text 26"/>
          <p:cNvSpPr txBox="1"/>
          <p:nvPr/>
        </p:nvSpPr>
        <p:spPr>
          <a:xfrm>
            <a:off x="4168064" y="5285232"/>
            <a:ext cx="18363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request reaches the VASP sooner</a:t>
            </a:r>
            <a:endParaRPr lang="en-US" sz="1300" dirty="0"/>
          </a:p>
        </p:txBody>
      </p:sp>
      <p:sp>
        <p:nvSpPr>
          <p:cNvPr id="34" name="val2-circle"/>
          <p:cNvSpPr/>
          <p:nvPr/>
        </p:nvSpPr>
        <p:spPr>
          <a:xfrm>
            <a:off x="6095848" y="4983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5" name="val2-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38494" y="5126126"/>
            <a:ext cx="263347" cy="263347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6781648" y="4919472"/>
            <a:ext cx="1836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VASP coordination</a:t>
            </a:r>
            <a:endParaRPr lang="en-US" sz="1500" dirty="0"/>
          </a:p>
        </p:txBody>
      </p:sp>
      <p:sp>
        <p:nvSpPr>
          <p:cNvPr id="37" name="Text 29"/>
          <p:cNvSpPr txBox="1"/>
          <p:nvPr/>
        </p:nvSpPr>
        <p:spPr>
          <a:xfrm>
            <a:off x="6781648" y="5285232"/>
            <a:ext cx="18363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right contact, standard format</a:t>
            </a:r>
            <a:endParaRPr lang="en-US" sz="1300" dirty="0"/>
          </a:p>
        </p:txBody>
      </p:sp>
      <p:sp>
        <p:nvSpPr>
          <p:cNvPr id="38" name="val3-circle"/>
          <p:cNvSpPr/>
          <p:nvPr/>
        </p:nvSpPr>
        <p:spPr>
          <a:xfrm>
            <a:off x="8709431" y="4983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9" name="val3-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52078" y="5126126"/>
            <a:ext cx="263347" cy="263347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9395231" y="4919472"/>
            <a:ext cx="1836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Stronger evidence</a:t>
            </a:r>
            <a:endParaRPr lang="en-US" sz="1500" dirty="0"/>
          </a:p>
        </p:txBody>
      </p:sp>
      <p:sp>
        <p:nvSpPr>
          <p:cNvPr id="41" name="Text 32"/>
          <p:cNvSpPr txBox="1"/>
          <p:nvPr/>
        </p:nvSpPr>
        <p:spPr>
          <a:xfrm>
            <a:off x="9395231" y="5285232"/>
            <a:ext cx="18363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timestamped, hashed snapshots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Architecture and Stack</a:t>
            </a:r>
            <a:endParaRPr lang="en-US" sz="3200" dirty="0"/>
          </a:p>
        </p:txBody>
      </p:sp>
      <p:sp>
        <p:nvSpPr>
          <p:cNvPr id="3" name="a-in"/>
          <p:cNvSpPr/>
          <p:nvPr/>
        </p:nvSpPr>
        <p:spPr>
          <a:xfrm>
            <a:off x="548640" y="2331720"/>
            <a:ext cx="160020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2386584"/>
            <a:ext cx="138074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Input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Dashboard  |  API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NCRP / SAHYOG (future)</a:t>
            </a:r>
            <a:endParaRPr lang="en-US" sz="1400" dirty="0"/>
          </a:p>
        </p:txBody>
      </p:sp>
      <p:sp>
        <p:nvSpPr>
          <p:cNvPr id="5" name="a1"/>
          <p:cNvSpPr/>
          <p:nvPr/>
        </p:nvSpPr>
        <p:spPr>
          <a:xfrm>
            <a:off x="2148840" y="2971800"/>
            <a:ext cx="274320" cy="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6" name="a-orch"/>
          <p:cNvSpPr/>
          <p:nvPr/>
        </p:nvSpPr>
        <p:spPr>
          <a:xfrm>
            <a:off x="2423160" y="2331720"/>
            <a:ext cx="1920240" cy="1280160"/>
          </a:xfrm>
          <a:prstGeom prst="roundRect">
            <a:avLst>
              <a:gd name="adj" fmla="val 5714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532888" y="2386584"/>
            <a:ext cx="170078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Orchestrator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Job queue runs both engines in parallel</a:t>
            </a:r>
            <a:endParaRPr lang="en-US" sz="1400" dirty="0"/>
          </a:p>
        </p:txBody>
      </p:sp>
      <p:sp>
        <p:nvSpPr>
          <p:cNvPr id="8" name="a2"/>
          <p:cNvSpPr/>
          <p:nvPr/>
        </p:nvSpPr>
        <p:spPr>
          <a:xfrm>
            <a:off x="4343400" y="2697480"/>
            <a:ext cx="411480" cy="-68580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9" name="a3"/>
          <p:cNvSpPr/>
          <p:nvPr/>
        </p:nvSpPr>
        <p:spPr>
          <a:xfrm>
            <a:off x="4343400" y="3246120"/>
            <a:ext cx="411480" cy="77724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0" name="a-on"/>
          <p:cNvSpPr/>
          <p:nvPr/>
        </p:nvSpPr>
        <p:spPr>
          <a:xfrm>
            <a:off x="4754880" y="1188720"/>
            <a:ext cx="3200400" cy="1325880"/>
          </a:xfrm>
          <a:prstGeom prst="roundRect">
            <a:avLst>
              <a:gd name="adj" fmla="val 551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64608" y="1243584"/>
            <a:ext cx="2980944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Blockchain engine: tracing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Transaction graph, laundering patterns, exchange-address matching with confidence</a:t>
            </a:r>
            <a:endParaRPr lang="en-US" sz="1400" dirty="0"/>
          </a:p>
        </p:txBody>
      </p:sp>
      <p:sp>
        <p:nvSpPr>
          <p:cNvPr id="12" name="a-tf"/>
          <p:cNvSpPr/>
          <p:nvPr/>
        </p:nvSpPr>
        <p:spPr>
          <a:xfrm>
            <a:off x="4754880" y="3429000"/>
            <a:ext cx="3200400" cy="2240280"/>
          </a:xfrm>
          <a:prstGeom prst="roundRect">
            <a:avLst>
              <a:gd name="adj" fmla="val 3265"/>
            </a:avLst>
          </a:prstGeom>
          <a:solidFill>
            <a:schemeClr val="bg1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13" name="a-tf-head"/>
          <p:cNvSpPr/>
          <p:nvPr/>
        </p:nvSpPr>
        <p:spPr>
          <a:xfrm>
            <a:off x="4754880" y="3429000"/>
            <a:ext cx="3200400" cy="54864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46320" y="34290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TinyFish: off-chain web research</a:t>
            </a:r>
            <a:endParaRPr lang="en-US" sz="1500" dirty="0"/>
          </a:p>
        </p:txBody>
      </p:sp>
      <p:sp>
        <p:nvSpPr>
          <p:cNvPr id="15" name="tfchip0"/>
          <p:cNvSpPr/>
          <p:nvPr/>
        </p:nvSpPr>
        <p:spPr>
          <a:xfrm>
            <a:off x="4937760" y="4160520"/>
            <a:ext cx="1371600" cy="4572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937760" y="41605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Search</a:t>
            </a:r>
            <a:endParaRPr lang="en-US" sz="1300" dirty="0"/>
          </a:p>
        </p:txBody>
      </p:sp>
      <p:sp>
        <p:nvSpPr>
          <p:cNvPr id="17" name="tfchip1"/>
          <p:cNvSpPr/>
          <p:nvPr/>
        </p:nvSpPr>
        <p:spPr>
          <a:xfrm>
            <a:off x="6400800" y="4160520"/>
            <a:ext cx="1371600" cy="4572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00800" y="41605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Fetch</a:t>
            </a:r>
            <a:endParaRPr lang="en-US" sz="1300" dirty="0"/>
          </a:p>
        </p:txBody>
      </p:sp>
      <p:sp>
        <p:nvSpPr>
          <p:cNvPr id="19" name="tfchip2"/>
          <p:cNvSpPr/>
          <p:nvPr/>
        </p:nvSpPr>
        <p:spPr>
          <a:xfrm>
            <a:off x="4937760" y="4800600"/>
            <a:ext cx="1371600" cy="4572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937760" y="48006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Web Agent</a:t>
            </a:r>
            <a:endParaRPr lang="en-US" sz="1300" dirty="0"/>
          </a:p>
        </p:txBody>
      </p:sp>
      <p:sp>
        <p:nvSpPr>
          <p:cNvPr id="21" name="tfchip3"/>
          <p:cNvSpPr/>
          <p:nvPr/>
        </p:nvSpPr>
        <p:spPr>
          <a:xfrm>
            <a:off x="6400800" y="4800600"/>
            <a:ext cx="1371600" cy="45720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0" y="48006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Browser*</a:t>
            </a:r>
            <a:endParaRPr lang="en-US" sz="1300" dirty="0"/>
          </a:p>
        </p:txBody>
      </p:sp>
      <p:sp>
        <p:nvSpPr>
          <p:cNvPr id="23" name="a4"/>
          <p:cNvSpPr/>
          <p:nvPr/>
        </p:nvSpPr>
        <p:spPr>
          <a:xfrm>
            <a:off x="7955280" y="1874520"/>
            <a:ext cx="502920" cy="77724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4" name="a5"/>
          <p:cNvSpPr/>
          <p:nvPr/>
        </p:nvSpPr>
        <p:spPr>
          <a:xfrm>
            <a:off x="7955280" y="4526280"/>
            <a:ext cx="502920" cy="-109728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5" name="a-risk"/>
          <p:cNvSpPr/>
          <p:nvPr/>
        </p:nvSpPr>
        <p:spPr>
          <a:xfrm>
            <a:off x="8458200" y="2514600"/>
            <a:ext cx="1508760" cy="1097280"/>
          </a:xfrm>
          <a:prstGeom prst="roundRect">
            <a:avLst>
              <a:gd name="adj" fmla="val 6667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67928" y="2569464"/>
            <a:ext cx="12893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Risk engine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Rules now, ML typologies next</a:t>
            </a:r>
            <a:endParaRPr lang="en-US" sz="1400" dirty="0"/>
          </a:p>
        </p:txBody>
      </p:sp>
      <p:sp>
        <p:nvSpPr>
          <p:cNvPr id="27" name="a6"/>
          <p:cNvSpPr/>
          <p:nvPr/>
        </p:nvSpPr>
        <p:spPr>
          <a:xfrm>
            <a:off x="9966960" y="3063240"/>
            <a:ext cx="274320" cy="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8" name="a-out"/>
          <p:cNvSpPr/>
          <p:nvPr/>
        </p:nvSpPr>
        <p:spPr>
          <a:xfrm>
            <a:off x="10241280" y="2331720"/>
            <a:ext cx="1399032" cy="1463040"/>
          </a:xfrm>
          <a:prstGeom prst="roundRect">
            <a:avLst>
              <a:gd name="adj" fmla="val 5229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0351008" y="2386584"/>
            <a:ext cx="1179576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Outputs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Dashboard, alerts, source-linked report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406908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Blockchain explorer / node APIs feed the on-chain engine. The open web (scam-report sites, exchange sites) feeds TinyFish.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8458200" y="41148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* Browser: stretch goal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58064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STACK</a:t>
            </a:r>
            <a:endParaRPr lang="en-US" sz="1200" dirty="0"/>
          </a:p>
        </p:txBody>
      </p:sp>
      <p:sp>
        <p:nvSpPr>
          <p:cNvPr id="33" name="stack0"/>
          <p:cNvSpPr/>
          <p:nvPr/>
        </p:nvSpPr>
        <p:spPr>
          <a:xfrm>
            <a:off x="1371600" y="5833872"/>
            <a:ext cx="1444752" cy="329184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371600" y="5833872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Python + FastAPI</a:t>
            </a:r>
            <a:endParaRPr lang="en-US" sz="1200" dirty="0"/>
          </a:p>
        </p:txBody>
      </p:sp>
      <p:sp>
        <p:nvSpPr>
          <p:cNvPr id="35" name="stack1"/>
          <p:cNvSpPr/>
          <p:nvPr/>
        </p:nvSpPr>
        <p:spPr>
          <a:xfrm>
            <a:off x="2907792" y="5833872"/>
            <a:ext cx="1152144" cy="329184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2907792" y="5833872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Redis worker</a:t>
            </a:r>
            <a:endParaRPr lang="en-US" sz="1200" dirty="0"/>
          </a:p>
        </p:txBody>
      </p:sp>
      <p:sp>
        <p:nvSpPr>
          <p:cNvPr id="37" name="stack2"/>
          <p:cNvSpPr/>
          <p:nvPr/>
        </p:nvSpPr>
        <p:spPr>
          <a:xfrm>
            <a:off x="4151376" y="5833872"/>
            <a:ext cx="1005840" cy="329184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4151376" y="583387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PostgreSQL</a:t>
            </a:r>
            <a:endParaRPr lang="en-US" sz="1200" dirty="0"/>
          </a:p>
        </p:txBody>
      </p:sp>
      <p:sp>
        <p:nvSpPr>
          <p:cNvPr id="39" name="stack3"/>
          <p:cNvSpPr/>
          <p:nvPr/>
        </p:nvSpPr>
        <p:spPr>
          <a:xfrm>
            <a:off x="5248656" y="5833872"/>
            <a:ext cx="1298448" cy="329184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248656" y="5833872"/>
            <a:ext cx="129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NetworkX graph</a:t>
            </a:r>
            <a:endParaRPr lang="en-US" sz="1200" dirty="0"/>
          </a:p>
        </p:txBody>
      </p:sp>
      <p:sp>
        <p:nvSpPr>
          <p:cNvPr id="41" name="stack4"/>
          <p:cNvSpPr/>
          <p:nvPr/>
        </p:nvSpPr>
        <p:spPr>
          <a:xfrm>
            <a:off x="6638544" y="5833872"/>
            <a:ext cx="1371600" cy="329184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638544" y="5833872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React dashboard</a:t>
            </a:r>
            <a:endParaRPr lang="en-US" sz="1200" dirty="0"/>
          </a:p>
        </p:txBody>
      </p:sp>
      <p:sp>
        <p:nvSpPr>
          <p:cNvPr id="43" name="stack5"/>
          <p:cNvSpPr/>
          <p:nvPr/>
        </p:nvSpPr>
        <p:spPr>
          <a:xfrm>
            <a:off x="8101584" y="5833872"/>
            <a:ext cx="1591056" cy="329184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8101584" y="5833872"/>
            <a:ext cx="1591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PDF / JSON reports</a:t>
            </a:r>
            <a:endParaRPr lang="en-US" sz="1200" dirty="0"/>
          </a:p>
        </p:txBody>
      </p:sp>
      <p:sp>
        <p:nvSpPr>
          <p:cNvPr id="45" name="stack6"/>
          <p:cNvSpPr/>
          <p:nvPr/>
        </p:nvSpPr>
        <p:spPr>
          <a:xfrm>
            <a:off x="9784080" y="5833872"/>
            <a:ext cx="1152144" cy="32918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9784080" y="5833872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TinyFish API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You Plan to Integrate the TinyFish API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The blockchain engine traces transactions. TinyFish does the off-chain web research.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2788920" y="1600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IN OUR FLOW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0" y="1600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WHY TINYFISH</a:t>
            </a:r>
            <a:endParaRPr lang="en-US" sz="1100" dirty="0"/>
          </a:p>
        </p:txBody>
      </p:sp>
      <p:sp>
        <p:nvSpPr>
          <p:cNvPr id="6" name="tf0"/>
          <p:cNvSpPr/>
          <p:nvPr/>
        </p:nvSpPr>
        <p:spPr>
          <a:xfrm>
            <a:off x="548640" y="1920240"/>
            <a:ext cx="11094415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fi0-circle"/>
          <p:cNvSpPr/>
          <p:nvPr/>
        </p:nvSpPr>
        <p:spPr>
          <a:xfrm>
            <a:off x="713232" y="2057400"/>
            <a:ext cx="594360" cy="5943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8" name="tfi0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7766" y="2211934"/>
            <a:ext cx="285293" cy="285293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463040" y="1920240"/>
            <a:ext cx="1280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Search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2788920" y="192024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Discover public scam reports about the wallet and the exchange's official pages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772400" y="192024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Structured live results with URLs</a:t>
            </a:r>
            <a:endParaRPr lang="en-US" sz="1400" dirty="0"/>
          </a:p>
        </p:txBody>
      </p:sp>
      <p:sp>
        <p:nvSpPr>
          <p:cNvPr id="12" name="tf1"/>
          <p:cNvSpPr/>
          <p:nvPr/>
        </p:nvSpPr>
        <p:spPr>
          <a:xfrm>
            <a:off x="548640" y="2907792"/>
            <a:ext cx="11094415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fi1-circle"/>
          <p:cNvSpPr/>
          <p:nvPr/>
        </p:nvSpPr>
        <p:spPr>
          <a:xfrm>
            <a:off x="713232" y="3044952"/>
            <a:ext cx="594360" cy="5943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4" name="tfi1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766" y="3199486"/>
            <a:ext cx="285293" cy="285293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463040" y="2907792"/>
            <a:ext cx="1280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Fetch</a:t>
            </a:r>
            <a:endParaRPr lang="en-US" sz="1900" dirty="0"/>
          </a:p>
        </p:txBody>
      </p:sp>
      <p:sp>
        <p:nvSpPr>
          <p:cNvPr id="16" name="Text 12"/>
          <p:cNvSpPr txBox="1"/>
          <p:nvPr/>
        </p:nvSpPr>
        <p:spPr>
          <a:xfrm>
            <a:off x="2788920" y="2907792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Retrieve and extract the content of those URLs; confirm the wallet appears; log URL + time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7772400" y="2907792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Clean text or JSON from any page</a:t>
            </a:r>
            <a:endParaRPr lang="en-US" sz="1400" dirty="0"/>
          </a:p>
        </p:txBody>
      </p:sp>
      <p:sp>
        <p:nvSpPr>
          <p:cNvPr id="18" name="tf2"/>
          <p:cNvSpPr/>
          <p:nvPr/>
        </p:nvSpPr>
        <p:spPr>
          <a:xfrm>
            <a:off x="548640" y="3895344"/>
            <a:ext cx="11094415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fi2-circle"/>
          <p:cNvSpPr/>
          <p:nvPr/>
        </p:nvSpPr>
        <p:spPr>
          <a:xfrm>
            <a:off x="713232" y="4032504"/>
            <a:ext cx="594360" cy="5943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0" name="tfi2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766" y="4187038"/>
            <a:ext cx="285293" cy="285293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463040" y="3895344"/>
            <a:ext cx="1280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Web Agent</a:t>
            </a:r>
            <a:endParaRPr lang="en-US" sz="1900" dirty="0"/>
          </a:p>
        </p:txBody>
      </p:sp>
      <p:sp>
        <p:nvSpPr>
          <p:cNvPr id="22" name="Text 17"/>
          <p:cNvSpPr txBox="1"/>
          <p:nvPr/>
        </p:nvSpPr>
        <p:spPr>
          <a:xfrm>
            <a:off x="2788920" y="3895344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Navigate the exchange's official site to its law-enforcement reporting process, where publicly accessible</a:t>
            </a:r>
            <a:endParaRPr lang="en-US" sz="1400" dirty="0"/>
          </a:p>
        </p:txBody>
      </p:sp>
      <p:sp>
        <p:nvSpPr>
          <p:cNvPr id="23" name="Text 18"/>
          <p:cNvSpPr txBox="1"/>
          <p:nvPr/>
        </p:nvSpPr>
        <p:spPr>
          <a:xfrm>
            <a:off x="7772400" y="3895344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Multi-step goal on any site; structured JSON; never logs in</a:t>
            </a:r>
            <a:endParaRPr lang="en-US" sz="1400" dirty="0"/>
          </a:p>
        </p:txBody>
      </p:sp>
      <p:sp>
        <p:nvSpPr>
          <p:cNvPr id="24" name="scraper"/>
          <p:cNvSpPr/>
          <p:nvPr/>
        </p:nvSpPr>
        <p:spPr>
          <a:xfrm>
            <a:off x="548640" y="4983480"/>
            <a:ext cx="5394960" cy="1280160"/>
          </a:xfrm>
          <a:prstGeom prst="roundRect">
            <a:avLst>
              <a:gd name="adj" fmla="val 5714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822960" y="50749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Why not a normal scraper?</a:t>
            </a:r>
            <a:endParaRPr lang="en-US" sz="1500" dirty="0"/>
          </a:p>
        </p:txBody>
      </p:sp>
      <p:sp>
        <p:nvSpPr>
          <p:cNvPr id="26" name="Text 21"/>
          <p:cNvSpPr txBox="1"/>
          <p:nvPr/>
        </p:nvSpPr>
        <p:spPr>
          <a:xfrm>
            <a:off x="822960" y="54406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Every exchange site is different, changes often and has no API. One agent goal works across all of them; a scraper needs a script per site.</a:t>
            </a:r>
            <a:endParaRPr lang="en-US" sz="1300" dirty="0"/>
          </a:p>
        </p:txBody>
      </p:sp>
      <p:sp>
        <p:nvSpPr>
          <p:cNvPr id="27" name="example"/>
          <p:cNvSpPr/>
          <p:nvPr/>
        </p:nvSpPr>
        <p:spPr>
          <a:xfrm>
            <a:off x="6172200" y="4983480"/>
            <a:ext cx="5470855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6446520" y="50749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Example agent goal</a:t>
            </a:r>
            <a:endParaRPr lang="en-US" sz="1500" dirty="0"/>
          </a:p>
        </p:txBody>
      </p:sp>
      <p:sp>
        <p:nvSpPr>
          <p:cNvPr id="29" name="Text 24"/>
          <p:cNvSpPr txBox="1"/>
          <p:nvPr/>
        </p:nvSpPr>
        <p:spPr>
          <a:xfrm>
            <a:off x="6446520" y="54406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1"/>
                </a:solidFill>
              </a:rPr>
              <a:t>"Find this exchange's law-enforcement request process. Don't log in. Return portal, steps, documents, contact."  Returns JSON fields we drop into the report.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Scalability, Feasibility and Use Case</a:t>
            </a:r>
            <a:endParaRPr lang="en-US" sz="3200" dirty="0"/>
          </a:p>
        </p:txBody>
      </p:sp>
      <p:sp>
        <p:nvSpPr>
          <p:cNvPr id="3" name="scope"/>
          <p:cNvSpPr/>
          <p:nvPr/>
        </p:nvSpPr>
        <p:spPr>
          <a:xfrm>
            <a:off x="548640" y="1188720"/>
            <a:ext cx="3657600" cy="4983480"/>
          </a:xfrm>
          <a:prstGeom prst="roundRect">
            <a:avLst>
              <a:gd name="adj" fmla="val 2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3716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</a:rPr>
              <a:t>24H MVP: ONE WORKING FLOW</a:t>
            </a:r>
            <a:endParaRPr lang="en-US" sz="1300" dirty="0"/>
          </a:p>
        </p:txBody>
      </p:sp>
      <p:sp>
        <p:nvSpPr>
          <p:cNvPr id="5" name="sc0-circle"/>
          <p:cNvSpPr/>
          <p:nvPr/>
        </p:nvSpPr>
        <p:spPr>
          <a:xfrm>
            <a:off x="822960" y="1874520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6" name="sc0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058" y="1969618"/>
            <a:ext cx="175565" cy="17556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25880" y="18288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One reported wallet → one report</a:t>
            </a:r>
            <a:endParaRPr lang="en-US" sz="1400" dirty="0"/>
          </a:p>
        </p:txBody>
      </p:sp>
      <p:sp>
        <p:nvSpPr>
          <p:cNvPr id="8" name="sc1-circle"/>
          <p:cNvSpPr/>
          <p:nvPr/>
        </p:nvSpPr>
        <p:spPr>
          <a:xfrm>
            <a:off x="822960" y="2441448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9" name="sc1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058" y="2536546"/>
            <a:ext cx="175565" cy="17556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325880" y="239572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Tron, with live APIs where feasible</a:t>
            </a:r>
            <a:endParaRPr lang="en-US" sz="1400" dirty="0"/>
          </a:p>
        </p:txBody>
      </p:sp>
      <p:sp>
        <p:nvSpPr>
          <p:cNvPr id="11" name="sc2-circle"/>
          <p:cNvSpPr/>
          <p:nvPr/>
        </p:nvSpPr>
        <p:spPr>
          <a:xfrm>
            <a:off x="822960" y="3008376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2" name="sc2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058" y="3103474"/>
            <a:ext cx="175565" cy="175565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296265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Tested on known public wallets</a:t>
            </a:r>
            <a:endParaRPr lang="en-US" sz="1400" dirty="0"/>
          </a:p>
        </p:txBody>
      </p:sp>
      <p:sp>
        <p:nvSpPr>
          <p:cNvPr id="14" name="sc3-circle"/>
          <p:cNvSpPr/>
          <p:nvPr/>
        </p:nvSpPr>
        <p:spPr>
          <a:xfrm>
            <a:off x="822960" y="3575304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5" name="sc3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058" y="3670402"/>
            <a:ext cx="175565" cy="175565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325880" y="352958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TinyFish on 1–2 exchanges</a:t>
            </a:r>
            <a:endParaRPr lang="en-US" sz="1400" dirty="0"/>
          </a:p>
        </p:txBody>
      </p:sp>
      <p:sp>
        <p:nvSpPr>
          <p:cNvPr id="17" name="sc4-circle"/>
          <p:cNvSpPr/>
          <p:nvPr/>
        </p:nvSpPr>
        <p:spPr>
          <a:xfrm>
            <a:off x="822960" y="4142232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8" name="sc4-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058" y="4237330"/>
            <a:ext cx="175565" cy="175565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325880" y="409651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Leads labelled with confidence</a:t>
            </a:r>
            <a:endParaRPr lang="en-US" sz="1400" dirty="0"/>
          </a:p>
        </p:txBody>
      </p:sp>
      <p:sp>
        <p:nvSpPr>
          <p:cNvPr id="20" name="Text 13"/>
          <p:cNvSpPr txBox="1"/>
          <p:nvPr/>
        </p:nvSpPr>
        <p:spPr>
          <a:xfrm>
            <a:off x="822960" y="484632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bg2"/>
                </a:solidFill>
              </a:rPr>
              <a:t>Stretch: Ethereum, deeper tracing. Later: more chains, cross-chain, ML, NCRP / SAHYOG integration (with authorised access)</a:t>
            </a:r>
            <a:endParaRPr lang="en-US" sz="1300" dirty="0"/>
          </a:p>
        </p:txBody>
      </p:sp>
      <p:sp>
        <p:nvSpPr>
          <p:cNvPr id="21" name="Text 14"/>
          <p:cNvSpPr txBox="1"/>
          <p:nvPr/>
        </p:nvSpPr>
        <p:spPr>
          <a:xfrm>
            <a:off x="4480560" y="118872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Scales by configuration</a:t>
            </a:r>
            <a:endParaRPr lang="en-US" sz="1700" dirty="0"/>
          </a:p>
        </p:txBody>
      </p:sp>
      <p:sp>
        <p:nvSpPr>
          <p:cNvPr id="22" name="scl0-circle"/>
          <p:cNvSpPr/>
          <p:nvPr/>
        </p:nvSpPr>
        <p:spPr>
          <a:xfrm>
            <a:off x="4480560" y="173736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3" name="scl0-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11319" y="1868119"/>
            <a:ext cx="241402" cy="241402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5166360" y="169164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New chain or exchange = one config entry, no new scraper</a:t>
            </a:r>
            <a:endParaRPr lang="en-US" sz="1400" dirty="0"/>
          </a:p>
        </p:txBody>
      </p:sp>
      <p:sp>
        <p:nvSpPr>
          <p:cNvPr id="25" name="scl1-circle"/>
          <p:cNvSpPr/>
          <p:nvPr/>
        </p:nvSpPr>
        <p:spPr>
          <a:xfrm>
            <a:off x="4480560" y="25603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6" name="scl1-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11319" y="2691079"/>
            <a:ext cx="241402" cy="241402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5166360" y="251460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Tracing and agents run in parallel via the job queue</a:t>
            </a:r>
            <a:endParaRPr lang="en-US" sz="1400" dirty="0"/>
          </a:p>
        </p:txBody>
      </p:sp>
      <p:sp>
        <p:nvSpPr>
          <p:cNvPr id="28" name="scl2-circle"/>
          <p:cNvSpPr/>
          <p:nvPr/>
        </p:nvSpPr>
        <p:spPr>
          <a:xfrm>
            <a:off x="4480560" y="33832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9" name="scl2-icon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11319" y="3514039"/>
            <a:ext cx="241402" cy="241402"/>
          </a:xfrm>
          <a:prstGeom prst="rect">
            <a:avLst/>
          </a:prstGeom>
        </p:spPr>
      </p:pic>
      <p:sp>
        <p:nvSpPr>
          <p:cNvPr id="30" name="Text 20"/>
          <p:cNvSpPr txBox="1"/>
          <p:nvPr/>
        </p:nvSpPr>
        <p:spPr>
          <a:xfrm>
            <a:off x="5166360" y="333756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VASP contacts cached and reused across cases</a:t>
            </a:r>
            <a:endParaRPr lang="en-US" sz="1400" dirty="0"/>
          </a:p>
        </p:txBody>
      </p:sp>
      <p:sp>
        <p:nvSpPr>
          <p:cNvPr id="31" name="scl3-circle"/>
          <p:cNvSpPr/>
          <p:nvPr/>
        </p:nvSpPr>
        <p:spPr>
          <a:xfrm>
            <a:off x="4480560" y="420624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2" name="scl3-icon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11319" y="4336999"/>
            <a:ext cx="241402" cy="241402"/>
          </a:xfrm>
          <a:prstGeom prst="rect">
            <a:avLst/>
          </a:prstGeom>
        </p:spPr>
      </p:pic>
      <p:sp>
        <p:nvSpPr>
          <p:cNvPr id="33" name="Text 22"/>
          <p:cNvSpPr txBox="1"/>
          <p:nvPr/>
        </p:nvSpPr>
        <p:spPr>
          <a:xfrm>
            <a:off x="5166360" y="41605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REST API ready for future NCRP / SAHYOG integration, once authorised</a:t>
            </a:r>
            <a:endParaRPr lang="en-US" sz="1400" dirty="0"/>
          </a:p>
        </p:txBody>
      </p:sp>
      <p:sp>
        <p:nvSpPr>
          <p:cNvPr id="34" name="Text 23"/>
          <p:cNvSpPr txBox="1"/>
          <p:nvPr/>
        </p:nvSpPr>
        <p:spPr>
          <a:xfrm>
            <a:off x="4480560" y="512064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Feasible now: existing blockchain APIs + TinyFish, no custom indexer for the MVP</a:t>
            </a:r>
            <a:endParaRPr lang="en-US" sz="1400" dirty="0"/>
          </a:p>
        </p:txBody>
      </p:sp>
      <p:sp>
        <p:nvSpPr>
          <p:cNvPr id="35" name="Text 24"/>
          <p:cNvSpPr txBox="1"/>
          <p:nvPr/>
        </p:nvSpPr>
        <p:spPr>
          <a:xfrm>
            <a:off x="8046720" y="1188720"/>
            <a:ext cx="3596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Risks we plan for</a:t>
            </a:r>
            <a:endParaRPr lang="en-US" sz="1700" dirty="0"/>
          </a:p>
        </p:txBody>
      </p:sp>
      <p:sp>
        <p:nvSpPr>
          <p:cNvPr id="36" name="risk0"/>
          <p:cNvSpPr/>
          <p:nvPr/>
        </p:nvSpPr>
        <p:spPr>
          <a:xfrm>
            <a:off x="8046720" y="1691640"/>
            <a:ext cx="3596335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7" name="Text 26"/>
          <p:cNvSpPr txBox="1"/>
          <p:nvPr/>
        </p:nvSpPr>
        <p:spPr>
          <a:xfrm>
            <a:off x="8229600" y="1783080"/>
            <a:ext cx="32305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Attribution is uncertain</a:t>
            </a:r>
            <a:endParaRPr lang="en-US" sz="1400" dirty="0"/>
          </a:p>
        </p:txBody>
      </p:sp>
      <p:sp>
        <p:nvSpPr>
          <p:cNvPr id="38" name="Text 27"/>
          <p:cNvSpPr txBox="1"/>
          <p:nvPr/>
        </p:nvSpPr>
        <p:spPr>
          <a:xfrm>
            <a:off x="8229600" y="2121408"/>
            <a:ext cx="32305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Confidence levels; not proof the exchange holds funds</a:t>
            </a:r>
            <a:endParaRPr lang="en-US" sz="1300" dirty="0"/>
          </a:p>
        </p:txBody>
      </p:sp>
      <p:sp>
        <p:nvSpPr>
          <p:cNvPr id="39" name="risk1"/>
          <p:cNvSpPr/>
          <p:nvPr/>
        </p:nvSpPr>
        <p:spPr>
          <a:xfrm>
            <a:off x="8046720" y="2715768"/>
            <a:ext cx="3596335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0" name="Text 29"/>
          <p:cNvSpPr txBox="1"/>
          <p:nvPr/>
        </p:nvSpPr>
        <p:spPr>
          <a:xfrm>
            <a:off x="8229600" y="2807208"/>
            <a:ext cx="32305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Agent fails on an odd site</a:t>
            </a:r>
            <a:endParaRPr lang="en-US" sz="1400" dirty="0"/>
          </a:p>
        </p:txBody>
      </p:sp>
      <p:sp>
        <p:nvSpPr>
          <p:cNvPr id="41" name="Text 30"/>
          <p:cNvSpPr txBox="1"/>
          <p:nvPr/>
        </p:nvSpPr>
        <p:spPr>
          <a:xfrm>
            <a:off x="8229600" y="3145536"/>
            <a:ext cx="32305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Retries, then manual-review flag</a:t>
            </a:r>
            <a:endParaRPr lang="en-US" sz="1300" dirty="0"/>
          </a:p>
        </p:txBody>
      </p:sp>
      <p:sp>
        <p:nvSpPr>
          <p:cNvPr id="42" name="risk2"/>
          <p:cNvSpPr/>
          <p:nvPr/>
        </p:nvSpPr>
        <p:spPr>
          <a:xfrm>
            <a:off x="8046720" y="3739896"/>
            <a:ext cx="3596335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3" name="Text 32"/>
          <p:cNvSpPr txBox="1"/>
          <p:nvPr/>
        </p:nvSpPr>
        <p:spPr>
          <a:xfrm>
            <a:off x="8229600" y="3831336"/>
            <a:ext cx="32305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Mixers and privacy tools</a:t>
            </a:r>
            <a:endParaRPr lang="en-US" sz="1400" dirty="0"/>
          </a:p>
        </p:txBody>
      </p:sp>
      <p:sp>
        <p:nvSpPr>
          <p:cNvPr id="44" name="Text 33"/>
          <p:cNvSpPr txBox="1"/>
          <p:nvPr/>
        </p:nvSpPr>
        <p:spPr>
          <a:xfrm>
            <a:off x="8229600" y="4169664"/>
            <a:ext cx="32305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Flag where the trail breaks; expert review</a:t>
            </a:r>
            <a:endParaRPr lang="en-US" sz="1300" dirty="0"/>
          </a:p>
        </p:txBody>
      </p:sp>
      <p:sp>
        <p:nvSpPr>
          <p:cNvPr id="45" name="risk3"/>
          <p:cNvSpPr/>
          <p:nvPr/>
        </p:nvSpPr>
        <p:spPr>
          <a:xfrm>
            <a:off x="8046720" y="4764024"/>
            <a:ext cx="3596335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6" name="Text 35"/>
          <p:cNvSpPr txBox="1"/>
          <p:nvPr/>
        </p:nvSpPr>
        <p:spPr>
          <a:xfrm>
            <a:off x="8229600" y="4855464"/>
            <a:ext cx="32305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False positives</a:t>
            </a:r>
            <a:endParaRPr lang="en-US" sz="1400" dirty="0"/>
          </a:p>
        </p:txBody>
      </p:sp>
      <p:sp>
        <p:nvSpPr>
          <p:cNvPr id="47" name="Text 36"/>
          <p:cNvSpPr txBox="1"/>
          <p:nvPr/>
        </p:nvSpPr>
        <p:spPr>
          <a:xfrm>
            <a:off x="8229600" y="5193792"/>
            <a:ext cx="32305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Human review; score explained point by point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Case: Worked Example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 real-world precedent for coordinated tracing and freezing (not a ChainSight result)</a:t>
            </a:r>
            <a:endParaRPr lang="en-US" sz="1700" dirty="0"/>
          </a:p>
        </p:txBody>
      </p:sp>
      <p:sp>
        <p:nvSpPr>
          <p:cNvPr id="4" name="case"/>
          <p:cNvSpPr/>
          <p:nvPr/>
        </p:nvSpPr>
        <p:spPr>
          <a:xfrm>
            <a:off x="548640" y="1691640"/>
            <a:ext cx="11094415" cy="2240280"/>
          </a:xfrm>
          <a:prstGeom prst="roundRect">
            <a:avLst>
              <a:gd name="adj" fmla="val 3265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828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NOVEMBER 2023  |  PIG-BUTCHERING SCAM</a:t>
            </a:r>
            <a:endParaRPr lang="en-US" sz="1200" dirty="0"/>
          </a:p>
        </p:txBody>
      </p:sp>
      <p:sp>
        <p:nvSpPr>
          <p:cNvPr id="6" name="case-trail-line"/>
          <p:cNvSpPr/>
          <p:nvPr/>
        </p:nvSpPr>
        <p:spPr>
          <a:xfrm>
            <a:off x="1914114" y="2432304"/>
            <a:ext cx="8363468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dash"/>
          </a:ln>
        </p:spPr>
      </p:sp>
      <p:sp>
        <p:nvSpPr>
          <p:cNvPr id="7" name="case-trail-n0"/>
          <p:cNvSpPr/>
          <p:nvPr/>
        </p:nvSpPr>
        <p:spPr>
          <a:xfrm>
            <a:off x="1813530" y="2331720"/>
            <a:ext cx="201168" cy="201168"/>
          </a:xfrm>
          <a:prstGeom prst="ellipse">
            <a:avLst/>
          </a:prstGeom>
          <a:solidFill>
            <a:schemeClr val="accent4"/>
          </a:solidFill>
          <a:ln w="19050">
            <a:solidFill>
              <a:srgbClr val="0B1220"/>
            </a:solidFill>
            <a:prstDash val="solid"/>
          </a:ln>
        </p:spPr>
      </p:sp>
      <p:sp>
        <p:nvSpPr>
          <p:cNvPr id="8" name="case-trail-n1"/>
          <p:cNvSpPr/>
          <p:nvPr/>
        </p:nvSpPr>
        <p:spPr>
          <a:xfrm>
            <a:off x="3904397" y="2331720"/>
            <a:ext cx="201168" cy="20116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0B1220"/>
            </a:solidFill>
            <a:prstDash val="solid"/>
          </a:ln>
        </p:spPr>
      </p:sp>
      <p:sp>
        <p:nvSpPr>
          <p:cNvPr id="9" name="case-trail-n2"/>
          <p:cNvSpPr/>
          <p:nvPr/>
        </p:nvSpPr>
        <p:spPr>
          <a:xfrm>
            <a:off x="5995264" y="2331720"/>
            <a:ext cx="201168" cy="20116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0B1220"/>
            </a:solidFill>
            <a:prstDash val="solid"/>
          </a:ln>
        </p:spPr>
      </p:sp>
      <p:sp>
        <p:nvSpPr>
          <p:cNvPr id="10" name="case-trail-n3"/>
          <p:cNvSpPr/>
          <p:nvPr/>
        </p:nvSpPr>
        <p:spPr>
          <a:xfrm>
            <a:off x="8086131" y="2331720"/>
            <a:ext cx="201168" cy="20116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0B1220"/>
            </a:solidFill>
            <a:prstDash val="solid"/>
          </a:ln>
        </p:spPr>
      </p:sp>
      <p:sp>
        <p:nvSpPr>
          <p:cNvPr id="11" name="case-trail-n4"/>
          <p:cNvSpPr/>
          <p:nvPr/>
        </p:nvSpPr>
        <p:spPr>
          <a:xfrm>
            <a:off x="10140422" y="2295144"/>
            <a:ext cx="274320" cy="274320"/>
          </a:xfrm>
          <a:prstGeom prst="roundRect">
            <a:avLst>
              <a:gd name="adj" fmla="val 16667"/>
            </a:avLst>
          </a:prstGeom>
          <a:solidFill>
            <a:schemeClr val="accent3"/>
          </a:solidFill>
          <a:ln w="19050">
            <a:solidFill>
              <a:srgbClr val="0B122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2697480"/>
            <a:ext cx="199942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70+ victims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3108960"/>
            <a:ext cx="199942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paid a Southeast Asian scam syndicate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005267" y="2697480"/>
            <a:ext cx="199942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Self-custody USDT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005267" y="3108960"/>
            <a:ext cx="199942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funds parked across the syndicate's wallets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096134" y="2697480"/>
            <a:ext cx="199942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Traced on-chain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096134" y="3108960"/>
            <a:ext cx="199942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by OKX and Tether using Chainalysis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7187001" y="2697480"/>
            <a:ext cx="199942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Freeze request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187001" y="3108960"/>
            <a:ext cx="199942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from the US Secret Service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277868" y="2697480"/>
            <a:ext cx="199942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$225M frozen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9277868" y="3108960"/>
            <a:ext cx="199942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largest USDT freeze to date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397764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Sources: Blockworks, OCCRP, Benzinga coverage of the Tether / OKX announcement (Nov 2023)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389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Where ChainSight could help an Indian cyber cell in a similar case</a:t>
            </a:r>
            <a:endParaRPr lang="en-US" sz="1700" dirty="0"/>
          </a:p>
        </p:txBody>
      </p:sp>
      <p:sp>
        <p:nvSpPr>
          <p:cNvPr id="24" name="fit0-circle"/>
          <p:cNvSpPr/>
          <p:nvPr/>
        </p:nvSpPr>
        <p:spPr>
          <a:xfrm>
            <a:off x="548640" y="48920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fit0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1286" y="5034686"/>
            <a:ext cx="263347" cy="263347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1234440" y="4846320"/>
            <a:ext cx="187063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Officer enters the reported wallet from the complaint</a:t>
            </a:r>
            <a:endParaRPr lang="en-US" sz="1400" dirty="0"/>
          </a:p>
        </p:txBody>
      </p:sp>
      <p:sp>
        <p:nvSpPr>
          <p:cNvPr id="27" name="fit1-circle"/>
          <p:cNvSpPr/>
          <p:nvPr/>
        </p:nvSpPr>
        <p:spPr>
          <a:xfrm>
            <a:off x="3379394" y="48920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8" name="fit1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2040" y="5034686"/>
            <a:ext cx="263347" cy="263347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4065194" y="4846320"/>
            <a:ext cx="187063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Leads to likely exchange-linked addresses, confidence-rated</a:t>
            </a:r>
            <a:endParaRPr lang="en-US" sz="1400" dirty="0"/>
          </a:p>
        </p:txBody>
      </p:sp>
      <p:sp>
        <p:nvSpPr>
          <p:cNvPr id="30" name="fit2-circle"/>
          <p:cNvSpPr/>
          <p:nvPr/>
        </p:nvSpPr>
        <p:spPr>
          <a:xfrm>
            <a:off x="6210148" y="48920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1" name="fit2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2794" y="5034686"/>
            <a:ext cx="263347" cy="263347"/>
          </a:xfrm>
          <a:prstGeom prst="rect">
            <a:avLst/>
          </a:prstGeom>
        </p:spPr>
      </p:pic>
      <p:sp>
        <p:nvSpPr>
          <p:cNvPr id="32" name="Text 27"/>
          <p:cNvSpPr txBox="1"/>
          <p:nvPr/>
        </p:nvSpPr>
        <p:spPr>
          <a:xfrm>
            <a:off x="6895948" y="4846320"/>
            <a:ext cx="187063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TinyFish finds public reports and the official request process</a:t>
            </a:r>
            <a:endParaRPr lang="en-US" sz="1400" dirty="0"/>
          </a:p>
        </p:txBody>
      </p:sp>
      <p:sp>
        <p:nvSpPr>
          <p:cNvPr id="33" name="fit3-circle"/>
          <p:cNvSpPr/>
          <p:nvPr/>
        </p:nvSpPr>
        <p:spPr>
          <a:xfrm>
            <a:off x="9040901" y="489204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34" name="fit3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3548" y="5034686"/>
            <a:ext cx="263347" cy="263347"/>
          </a:xfrm>
          <a:prstGeom prst="rect">
            <a:avLst/>
          </a:prstGeom>
        </p:spPr>
      </p:pic>
      <p:sp>
        <p:nvSpPr>
          <p:cNvPr id="35" name="Text 29"/>
          <p:cNvSpPr txBox="1"/>
          <p:nvPr/>
        </p:nvSpPr>
        <p:spPr>
          <a:xfrm>
            <a:off x="9726701" y="4846320"/>
            <a:ext cx="187063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Officer verifies, then requests via the exchange's process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548640" y="5897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Aim: cut manual research time. We will measure it in the build, not assume it.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/ Prototype</a:t>
            </a:r>
            <a:endParaRPr lang="en-US" sz="3200" dirty="0"/>
          </a:p>
        </p:txBody>
      </p:sp>
      <p:sp>
        <p:nvSpPr>
          <p:cNvPr id="3" name="mk-label"/>
          <p:cNvSpPr/>
          <p:nvPr/>
        </p:nvSpPr>
        <p:spPr>
          <a:xfrm>
            <a:off x="548640" y="1024128"/>
            <a:ext cx="6035040" cy="329184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24128"/>
            <a:ext cx="6035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ILLUSTRATIVE MOCKUP: SAMPLE DATA, NOT A REAL INVESTIGATION RESULT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766560" y="1024128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Status: design only, to be built during the hackathon. No live findings.</a:t>
            </a:r>
            <a:endParaRPr lang="en-US" sz="1200" dirty="0"/>
          </a:p>
        </p:txBody>
      </p:sp>
      <p:sp>
        <p:nvSpPr>
          <p:cNvPr id="6" name="mk-frame"/>
          <p:cNvSpPr/>
          <p:nvPr/>
        </p:nvSpPr>
        <p:spPr>
          <a:xfrm>
            <a:off x="548640" y="1508760"/>
            <a:ext cx="7863840" cy="4754880"/>
          </a:xfrm>
          <a:prstGeom prst="roundRect">
            <a:avLst>
              <a:gd name="adj" fmla="val 1538"/>
            </a:avLst>
          </a:prstGeom>
          <a:solidFill>
            <a:schemeClr val="bg1"/>
          </a:solidFill>
          <a:ln w="19050">
            <a:solidFill>
              <a:srgbClr val="EEF2F7"/>
            </a:solidFill>
            <a:prstDash val="solid"/>
          </a:ln>
        </p:spPr>
      </p:sp>
      <p:sp>
        <p:nvSpPr>
          <p:cNvPr id="7" name="mk-bar"/>
          <p:cNvSpPr/>
          <p:nvPr/>
        </p:nvSpPr>
        <p:spPr>
          <a:xfrm>
            <a:off x="548640" y="1508760"/>
            <a:ext cx="7863840" cy="45720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ChainSight   Case DEMO-001 (sample)   |   Tron</a:t>
            </a:r>
            <a:endParaRPr lang="en-US" sz="1200" dirty="0"/>
          </a:p>
        </p:txBody>
      </p:sp>
      <p:sp>
        <p:nvSpPr>
          <p:cNvPr id="9" name="mk-dl"/>
          <p:cNvSpPr/>
          <p:nvPr/>
        </p:nvSpPr>
        <p:spPr>
          <a:xfrm>
            <a:off x="6903720" y="1600200"/>
            <a:ext cx="132588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903720" y="160020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Export report</a:t>
            </a:r>
            <a:endParaRPr lang="en-US" sz="1100" dirty="0"/>
          </a:p>
        </p:txBody>
      </p:sp>
      <p:sp>
        <p:nvSpPr>
          <p:cNvPr id="11" name="mk-k0"/>
          <p:cNvSpPr/>
          <p:nvPr/>
        </p:nvSpPr>
        <p:spPr>
          <a:xfrm>
            <a:off x="777240" y="2103120"/>
            <a:ext cx="174879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86968" y="2167128"/>
            <a:ext cx="152933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LEAD CONFIDENCE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886968" y="2404872"/>
            <a:ext cx="152933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Medium</a:t>
            </a:r>
            <a:endParaRPr lang="en-US" sz="1400" dirty="0"/>
          </a:p>
        </p:txBody>
      </p:sp>
      <p:sp>
        <p:nvSpPr>
          <p:cNvPr id="14" name="mk-k1"/>
          <p:cNvSpPr/>
          <p:nvPr/>
        </p:nvSpPr>
        <p:spPr>
          <a:xfrm>
            <a:off x="2663190" y="2103120"/>
            <a:ext cx="174879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772918" y="2167128"/>
            <a:ext cx="152933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LIKELY EXCHANGE-LINKED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2772918" y="2404872"/>
            <a:ext cx="152933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Exchange X</a:t>
            </a:r>
            <a:endParaRPr lang="en-US" sz="1400" dirty="0"/>
          </a:p>
        </p:txBody>
      </p:sp>
      <p:sp>
        <p:nvSpPr>
          <p:cNvPr id="17" name="mk-k2"/>
          <p:cNvSpPr/>
          <p:nvPr/>
        </p:nvSpPr>
        <p:spPr>
          <a:xfrm>
            <a:off x="4549140" y="2103120"/>
            <a:ext cx="174879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658868" y="2167128"/>
            <a:ext cx="152933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OBSERVED TXS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4658868" y="2404872"/>
            <a:ext cx="152933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 tx hashes</a:t>
            </a:r>
            <a:endParaRPr lang="en-US" sz="1400" dirty="0"/>
          </a:p>
        </p:txBody>
      </p:sp>
      <p:sp>
        <p:nvSpPr>
          <p:cNvPr id="20" name="mk-k3"/>
          <p:cNvSpPr/>
          <p:nvPr/>
        </p:nvSpPr>
        <p:spPr>
          <a:xfrm>
            <a:off x="6435090" y="2103120"/>
            <a:ext cx="174879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44818" y="2167128"/>
            <a:ext cx="152933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SOURCES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6544818" y="2404872"/>
            <a:ext cx="152933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4 URLs, timed</a:t>
            </a:r>
            <a:endParaRPr lang="en-US" sz="1400" dirty="0"/>
          </a:p>
        </p:txBody>
      </p:sp>
      <p:sp>
        <p:nvSpPr>
          <p:cNvPr id="23" name="mk-graph"/>
          <p:cNvSpPr/>
          <p:nvPr/>
        </p:nvSpPr>
        <p:spPr>
          <a:xfrm>
            <a:off x="777240" y="2971800"/>
            <a:ext cx="4206240" cy="1600200"/>
          </a:xfrm>
          <a:prstGeom prst="roundRect">
            <a:avLst>
              <a:gd name="adj" fmla="val 4571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3044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Fund flow</a:t>
            </a:r>
            <a:endParaRPr lang="en-US" sz="1100" dirty="0"/>
          </a:p>
        </p:txBody>
      </p:sp>
      <p:sp>
        <p:nvSpPr>
          <p:cNvPr id="25" name="mk-e0"/>
          <p:cNvSpPr/>
          <p:nvPr/>
        </p:nvSpPr>
        <p:spPr>
          <a:xfrm>
            <a:off x="1207008" y="3995928"/>
            <a:ext cx="822960" cy="0"/>
          </a:xfrm>
          <a:prstGeom prst="line">
            <a:avLst/>
          </a:prstGeom>
          <a:noFill/>
          <a:ln w="38100">
            <a:solidFill>
              <a:schemeClr val="accent1"/>
            </a:solidFill>
            <a:prstDash val="solid"/>
          </a:ln>
        </p:spPr>
      </p:sp>
      <p:sp>
        <p:nvSpPr>
          <p:cNvPr id="26" name="mk-e1"/>
          <p:cNvSpPr/>
          <p:nvPr/>
        </p:nvSpPr>
        <p:spPr>
          <a:xfrm flipV="1">
            <a:off x="2029968" y="3630168"/>
            <a:ext cx="822960" cy="365760"/>
          </a:xfrm>
          <a:prstGeom prst="line">
            <a:avLst/>
          </a:prstGeom>
          <a:noFill/>
          <a:ln w="38100">
            <a:solidFill>
              <a:schemeClr val="accent1"/>
            </a:solidFill>
            <a:prstDash val="solid"/>
          </a:ln>
        </p:spPr>
      </p:sp>
      <p:sp>
        <p:nvSpPr>
          <p:cNvPr id="27" name="mk-e2"/>
          <p:cNvSpPr/>
          <p:nvPr/>
        </p:nvSpPr>
        <p:spPr>
          <a:xfrm>
            <a:off x="2029968" y="3995928"/>
            <a:ext cx="822960" cy="36576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</a:ln>
        </p:spPr>
      </p:sp>
      <p:sp>
        <p:nvSpPr>
          <p:cNvPr id="28" name="mk-e3"/>
          <p:cNvSpPr/>
          <p:nvPr/>
        </p:nvSpPr>
        <p:spPr>
          <a:xfrm>
            <a:off x="2852928" y="3630168"/>
            <a:ext cx="822960" cy="0"/>
          </a:xfrm>
          <a:prstGeom prst="line">
            <a:avLst/>
          </a:prstGeom>
          <a:noFill/>
          <a:ln w="38100">
            <a:solidFill>
              <a:schemeClr val="accent1"/>
            </a:solidFill>
            <a:prstDash val="solid"/>
          </a:ln>
        </p:spPr>
      </p:sp>
      <p:sp>
        <p:nvSpPr>
          <p:cNvPr id="29" name="mk-e4"/>
          <p:cNvSpPr/>
          <p:nvPr/>
        </p:nvSpPr>
        <p:spPr>
          <a:xfrm>
            <a:off x="3675888" y="3630168"/>
            <a:ext cx="822960" cy="0"/>
          </a:xfrm>
          <a:prstGeom prst="line">
            <a:avLst/>
          </a:prstGeom>
          <a:noFill/>
          <a:ln w="38100">
            <a:solidFill>
              <a:schemeClr val="accent1"/>
            </a:solidFill>
            <a:prstDash val="dash"/>
          </a:ln>
        </p:spPr>
      </p:sp>
      <p:sp>
        <p:nvSpPr>
          <p:cNvPr id="30" name="mk-e5"/>
          <p:cNvSpPr/>
          <p:nvPr/>
        </p:nvSpPr>
        <p:spPr>
          <a:xfrm>
            <a:off x="2852928" y="4361688"/>
            <a:ext cx="822960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</a:ln>
        </p:spPr>
      </p:sp>
      <p:sp>
        <p:nvSpPr>
          <p:cNvPr id="31" name="mk-n0"/>
          <p:cNvSpPr/>
          <p:nvPr/>
        </p:nvSpPr>
        <p:spPr>
          <a:xfrm>
            <a:off x="1097280" y="3886200"/>
            <a:ext cx="219456" cy="219456"/>
          </a:xfrm>
          <a:prstGeom prst="ellipse">
            <a:avLst>
              <a:gd name="adj" fmla="val 20833"/>
            </a:avLst>
          </a:prstGeom>
          <a:solidFill>
            <a:schemeClr val="accent4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2" name="mk-n1"/>
          <p:cNvSpPr/>
          <p:nvPr/>
        </p:nvSpPr>
        <p:spPr>
          <a:xfrm>
            <a:off x="1920240" y="3886200"/>
            <a:ext cx="219456" cy="219456"/>
          </a:xfrm>
          <a:prstGeom prst="ellipse">
            <a:avLst>
              <a:gd name="adj" fmla="val 20833"/>
            </a:avLst>
          </a:prstGeom>
          <a:solidFill>
            <a:schemeClr val="accent1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3" name="mk-n2"/>
          <p:cNvSpPr/>
          <p:nvPr/>
        </p:nvSpPr>
        <p:spPr>
          <a:xfrm>
            <a:off x="2743200" y="3520440"/>
            <a:ext cx="219456" cy="219456"/>
          </a:xfrm>
          <a:prstGeom prst="ellipse">
            <a:avLst>
              <a:gd name="adj" fmla="val 20833"/>
            </a:avLst>
          </a:prstGeom>
          <a:solidFill>
            <a:schemeClr val="accent1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4" name="mk-n3"/>
          <p:cNvSpPr/>
          <p:nvPr/>
        </p:nvSpPr>
        <p:spPr>
          <a:xfrm>
            <a:off x="2743200" y="4251960"/>
            <a:ext cx="219456" cy="219456"/>
          </a:xfrm>
          <a:prstGeom prst="ellipse">
            <a:avLst>
              <a:gd name="adj" fmla="val 20833"/>
            </a:avLst>
          </a:prstGeom>
          <a:solidFill>
            <a:schemeClr val="accent5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5" name="mk-n4"/>
          <p:cNvSpPr/>
          <p:nvPr/>
        </p:nvSpPr>
        <p:spPr>
          <a:xfrm>
            <a:off x="3566160" y="3520440"/>
            <a:ext cx="219456" cy="219456"/>
          </a:xfrm>
          <a:prstGeom prst="roundRect">
            <a:avLst>
              <a:gd name="adj" fmla="val 20833"/>
            </a:avLst>
          </a:prstGeom>
          <a:solidFill>
            <a:schemeClr val="accent1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6" name="mk-n5"/>
          <p:cNvSpPr/>
          <p:nvPr/>
        </p:nvSpPr>
        <p:spPr>
          <a:xfrm>
            <a:off x="4389120" y="3520440"/>
            <a:ext cx="219456" cy="219456"/>
          </a:xfrm>
          <a:prstGeom prst="roundRect">
            <a:avLst>
              <a:gd name="adj" fmla="val 20833"/>
            </a:avLst>
          </a:prstGeom>
          <a:solidFill>
            <a:schemeClr val="accent3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7" name="mk-n6"/>
          <p:cNvSpPr/>
          <p:nvPr/>
        </p:nvSpPr>
        <p:spPr>
          <a:xfrm>
            <a:off x="3566160" y="4251960"/>
            <a:ext cx="219456" cy="219456"/>
          </a:xfrm>
          <a:prstGeom prst="ellipse">
            <a:avLst>
              <a:gd name="adj" fmla="val 20833"/>
            </a:avLst>
          </a:prstGeom>
          <a:solidFill>
            <a:schemeClr val="accent5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68680" y="414223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reported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3200400" y="3282696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likely deposit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4069080" y="3282696"/>
            <a:ext cx="86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Exchange X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2148840" y="30449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solid = observed tx   dashed = inferred link</a:t>
            </a:r>
            <a:endParaRPr lang="en-US" sz="900" dirty="0"/>
          </a:p>
        </p:txBody>
      </p:sp>
      <p:sp>
        <p:nvSpPr>
          <p:cNvPr id="42" name="mk-contact"/>
          <p:cNvSpPr/>
          <p:nvPr/>
        </p:nvSpPr>
        <p:spPr>
          <a:xfrm>
            <a:off x="5166360" y="2971800"/>
            <a:ext cx="3017520" cy="1600200"/>
          </a:xfrm>
          <a:prstGeom prst="roundRect">
            <a:avLst>
              <a:gd name="adj" fmla="val 4571"/>
            </a:avLst>
          </a:prstGeom>
          <a:solidFill>
            <a:schemeClr val="bg1"/>
          </a:solidFill>
          <a:ln w="19050">
            <a:solidFill>
              <a:srgbClr val="EEF2F7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303520" y="3063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Exchange X: official LE process</a:t>
            </a:r>
            <a:endParaRPr lang="en-US" sz="1200" dirty="0"/>
          </a:p>
        </p:txBody>
      </p:sp>
      <p:sp>
        <p:nvSpPr>
          <p:cNvPr id="44" name="mk-tf"/>
          <p:cNvSpPr/>
          <p:nvPr/>
        </p:nvSpPr>
        <p:spPr>
          <a:xfrm>
            <a:off x="5303520" y="3383280"/>
            <a:ext cx="2103120" cy="23774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303520" y="3383280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via TinyFish Agent + source URL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5303520" y="37033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Portal: </a:t>
            </a:r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LE request form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Steps: </a:t>
            </a:r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official email, notice, submit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Retrieved: </a:t>
            </a:r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10:44 UTC</a:t>
            </a:r>
            <a:endParaRPr lang="en-US" sz="1000" dirty="0"/>
          </a:p>
        </p:txBody>
      </p:sp>
      <p:sp>
        <p:nvSpPr>
          <p:cNvPr id="47" name="mk-freeze"/>
          <p:cNvSpPr/>
          <p:nvPr/>
        </p:nvSpPr>
        <p:spPr>
          <a:xfrm>
            <a:off x="5303520" y="4233672"/>
            <a:ext cx="2743200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5303520" y="42336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Draft request (officer verifies)</a:t>
            </a:r>
            <a:endParaRPr lang="en-US" sz="1100" dirty="0"/>
          </a:p>
        </p:txBody>
      </p:sp>
      <p:sp>
        <p:nvSpPr>
          <p:cNvPr id="49" name="mk-ev"/>
          <p:cNvSpPr/>
          <p:nvPr/>
        </p:nvSpPr>
        <p:spPr>
          <a:xfrm>
            <a:off x="777240" y="4709160"/>
            <a:ext cx="74066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914400" y="476402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Evidence trail (sample entries)</a:t>
            </a:r>
            <a:endParaRPr lang="en-US" sz="1200" dirty="0"/>
          </a:p>
        </p:txBody>
      </p:sp>
      <p:sp>
        <p:nvSpPr>
          <p:cNvPr id="51" name="mk-ev0"/>
          <p:cNvSpPr/>
          <p:nvPr/>
        </p:nvSpPr>
        <p:spPr>
          <a:xfrm>
            <a:off x="914400" y="5074920"/>
            <a:ext cx="868680" cy="219456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914400" y="5074920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OBSERVED</a:t>
            </a:r>
            <a:endParaRPr lang="en-US" sz="900" dirty="0"/>
          </a:p>
        </p:txBody>
      </p:sp>
      <p:sp>
        <p:nvSpPr>
          <p:cNvPr id="53" name="Text 51"/>
          <p:cNvSpPr txBox="1"/>
          <p:nvPr/>
        </p:nvSpPr>
        <p:spPr>
          <a:xfrm>
            <a:off x="1874520" y="5074920"/>
            <a:ext cx="6126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tx 9c1e…44a0   reported wallet → TQ7…9F2   8,990 USDT   08 Oct 13:27 UTC</a:t>
            </a:r>
            <a:endParaRPr lang="en-US" sz="1000" dirty="0"/>
          </a:p>
        </p:txBody>
      </p:sp>
      <p:sp>
        <p:nvSpPr>
          <p:cNvPr id="54" name="mk-ev1"/>
          <p:cNvSpPr/>
          <p:nvPr/>
        </p:nvSpPr>
        <p:spPr>
          <a:xfrm>
            <a:off x="914400" y="5349240"/>
            <a:ext cx="868680" cy="21945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914400" y="5349240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INFERRED</a:t>
            </a:r>
            <a:endParaRPr lang="en-US" sz="900" dirty="0"/>
          </a:p>
        </p:txBody>
      </p:sp>
      <p:sp>
        <p:nvSpPr>
          <p:cNvPr id="56" name="Text 54"/>
          <p:cNvSpPr txBox="1"/>
          <p:nvPr/>
        </p:nvSpPr>
        <p:spPr>
          <a:xfrm>
            <a:off x="1874520" y="5349240"/>
            <a:ext cx="6126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TQ7…9F2 sweeps to an Exchange X wallet → likely deposit address (medium)</a:t>
            </a:r>
            <a:endParaRPr lang="en-US" sz="1000" dirty="0"/>
          </a:p>
        </p:txBody>
      </p:sp>
      <p:sp>
        <p:nvSpPr>
          <p:cNvPr id="57" name="mk-ev2"/>
          <p:cNvSpPr/>
          <p:nvPr/>
        </p:nvSpPr>
        <p:spPr>
          <a:xfrm>
            <a:off x="914400" y="5623560"/>
            <a:ext cx="868680" cy="219456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914400" y="5623560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SOURCE</a:t>
            </a:r>
            <a:endParaRPr lang="en-US" sz="900" dirty="0"/>
          </a:p>
        </p:txBody>
      </p:sp>
      <p:sp>
        <p:nvSpPr>
          <p:cNvPr id="59" name="Text 57"/>
          <p:cNvSpPr txBox="1"/>
          <p:nvPr/>
        </p:nvSpPr>
        <p:spPr>
          <a:xfrm>
            <a:off x="1874520" y="5623560"/>
            <a:ext cx="6126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scam-report page, retrieved 10:42 UTC   sha256 3f9a…c1</a:t>
            </a:r>
            <a:endParaRPr lang="en-US" sz="1000" dirty="0"/>
          </a:p>
        </p:txBody>
      </p:sp>
      <p:sp>
        <p:nvSpPr>
          <p:cNvPr id="60" name="co0"/>
          <p:cNvSpPr/>
          <p:nvPr/>
        </p:nvSpPr>
        <p:spPr>
          <a:xfrm>
            <a:off x="8732520" y="16002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873252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2" name="Text 60"/>
          <p:cNvSpPr txBox="1"/>
          <p:nvPr/>
        </p:nvSpPr>
        <p:spPr>
          <a:xfrm>
            <a:off x="9372600" y="1581912"/>
            <a:ext cx="2270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Confidence, not verdict</a:t>
            </a:r>
            <a:endParaRPr lang="en-US" sz="1600" dirty="0"/>
          </a:p>
        </p:txBody>
      </p:sp>
      <p:sp>
        <p:nvSpPr>
          <p:cNvPr id="63" name="Text 61"/>
          <p:cNvSpPr txBox="1"/>
          <p:nvPr/>
        </p:nvSpPr>
        <p:spPr>
          <a:xfrm>
            <a:off x="9372600" y="1965960"/>
            <a:ext cx="22704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Every lead rated High / Medium / Low</a:t>
            </a:r>
            <a:endParaRPr lang="en-US" sz="1300" dirty="0"/>
          </a:p>
        </p:txBody>
      </p:sp>
      <p:sp>
        <p:nvSpPr>
          <p:cNvPr id="64" name="co1"/>
          <p:cNvSpPr/>
          <p:nvPr/>
        </p:nvSpPr>
        <p:spPr>
          <a:xfrm>
            <a:off x="8732520" y="2770632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8732520" y="27706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66" name="Text 64"/>
          <p:cNvSpPr txBox="1"/>
          <p:nvPr/>
        </p:nvSpPr>
        <p:spPr>
          <a:xfrm>
            <a:off x="9372600" y="2752344"/>
            <a:ext cx="2270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Observed vs inferred</a:t>
            </a:r>
            <a:endParaRPr lang="en-US" sz="1600" dirty="0"/>
          </a:p>
        </p:txBody>
      </p:sp>
      <p:sp>
        <p:nvSpPr>
          <p:cNvPr id="67" name="Text 65"/>
          <p:cNvSpPr txBox="1"/>
          <p:nvPr/>
        </p:nvSpPr>
        <p:spPr>
          <a:xfrm>
            <a:off x="9372600" y="3136392"/>
            <a:ext cx="22704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Tx hashes are facts; exchange links are inferences</a:t>
            </a:r>
            <a:endParaRPr lang="en-US" sz="1300" dirty="0"/>
          </a:p>
        </p:txBody>
      </p:sp>
      <p:sp>
        <p:nvSpPr>
          <p:cNvPr id="68" name="co2"/>
          <p:cNvSpPr/>
          <p:nvPr/>
        </p:nvSpPr>
        <p:spPr>
          <a:xfrm>
            <a:off x="8732520" y="3941064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8732520" y="39410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70" name="Text 68"/>
          <p:cNvSpPr txBox="1"/>
          <p:nvPr/>
        </p:nvSpPr>
        <p:spPr>
          <a:xfrm>
            <a:off x="9372600" y="3922776"/>
            <a:ext cx="2270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Official process</a:t>
            </a:r>
            <a:endParaRPr lang="en-US" sz="1600" dirty="0"/>
          </a:p>
        </p:txBody>
      </p:sp>
      <p:sp>
        <p:nvSpPr>
          <p:cNvPr id="71" name="Text 69"/>
          <p:cNvSpPr txBox="1"/>
          <p:nvPr/>
        </p:nvSpPr>
        <p:spPr>
          <a:xfrm>
            <a:off x="9372600" y="4306824"/>
            <a:ext cx="22704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Found by the TinyFish agent, with its source URL</a:t>
            </a:r>
            <a:endParaRPr lang="en-US" sz="1300" dirty="0"/>
          </a:p>
        </p:txBody>
      </p:sp>
      <p:sp>
        <p:nvSpPr>
          <p:cNvPr id="72" name="co3"/>
          <p:cNvSpPr/>
          <p:nvPr/>
        </p:nvSpPr>
        <p:spPr>
          <a:xfrm>
            <a:off x="8732520" y="5111496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8732520" y="51114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74" name="Text 72"/>
          <p:cNvSpPr txBox="1"/>
          <p:nvPr/>
        </p:nvSpPr>
        <p:spPr>
          <a:xfrm>
            <a:off x="9372600" y="5093208"/>
            <a:ext cx="2270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Traceable evidence</a:t>
            </a:r>
            <a:endParaRPr lang="en-US" sz="1600" dirty="0"/>
          </a:p>
        </p:txBody>
      </p:sp>
      <p:sp>
        <p:nvSpPr>
          <p:cNvPr id="75" name="Text 73"/>
          <p:cNvSpPr txBox="1"/>
          <p:nvPr/>
        </p:nvSpPr>
        <p:spPr>
          <a:xfrm>
            <a:off x="9372600" y="5477256"/>
            <a:ext cx="22704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Source URLs, retrieval times, hashes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inSight Trail">
  <a:themeElements>
    <a:clrScheme name="ChainSight Trail">
      <a:dk1>
        <a:srgbClr val="0B1220"/>
      </a:dk1>
      <a:lt1>
        <a:srgbClr val="FFFFFF"/>
      </a:lt1>
      <a:dk2>
        <a:srgbClr val="1B2A41"/>
      </a:dk2>
      <a:lt2>
        <a:srgbClr val="EEF2F7"/>
      </a:lt2>
      <a:accent1>
        <a:srgbClr val="E8762B"/>
      </a:accent1>
      <a:accent2>
        <a:srgbClr val="2F6FED"/>
      </a:accent2>
      <a:accent3>
        <a:srgbClr val="23944A"/>
      </a:accent3>
      <a:accent4>
        <a:srgbClr val="D64545"/>
      </a:accent4>
      <a:accent5>
        <a:srgbClr val="64748B"/>
      </a:accent5>
      <a:accent6>
        <a:srgbClr val="0E9AA7"/>
      </a:accent6>
      <a:hlink>
        <a:srgbClr val="2F6FED"/>
      </a:hlink>
      <a:folHlink>
        <a:srgbClr val="6D28D9"/>
      </a:folHlink>
    </a:clrScheme>
    <a:fontScheme name="ChainSight Trail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ChainSight - Round 1 submission</dc:title>
  <dc:subject>PptxGenJS Presentation</dc:subject>
  <dc:creator>PptxGenJS</dc:creator>
  <cp:lastModifiedBy>PptxGenJS</cp:lastModifiedBy>
  <cp:revision>1</cp:revision>
  <dcterms:created xsi:type="dcterms:W3CDTF">2026-10-14T17:06:38Z</dcterms:created>
  <dcterms:modified xsi:type="dcterms:W3CDTF">2026-10-14T17:06:38Z</dcterms:modified>
</cp:coreProperties>
</file>