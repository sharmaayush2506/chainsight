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am Details" id="{6e4cd788-1c80-71c2-1c13-7e262ac037df}">
          <p14:sldIdLst>
            <p14:sldId id="256"/>
          </p14:sldIdLst>
        </p14:section>
        <p14:section name="Problem" id="{9996a751-3f9d-9e7b-ce78-890478f3ebc9}">
          <p14:sldIdLst>
            <p14:sldId id="257"/>
          </p14:sldIdLst>
        </p14:section>
        <p14:section name="Solution" id="{319ba565-1335-3e64-188d-a25f0200a6fe}">
          <p14:sldIdLst>
            <p14:sldId id="258"/>
          </p14:sldIdLst>
        </p14:section>
        <p14:section name="Users" id="{45e605ed-5ee1-7b34-49d7-98b9cf29d33e}">
          <p14:sldIdLst>
            <p14:sldId id="259"/>
          </p14:sldIdLst>
        </p14:section>
        <p14:section name="Architecture" id="{eeac9a9c-5bc7-c862-5650-7e6c33122dea}">
          <p14:sldIdLst>
            <p14:sldId id="260"/>
          </p14:sldIdLst>
        </p14:section>
        <p14:section name="TinyFish" id="{52d7420b-3be8-c7b5-4f5d-4ef99fecb17e}">
          <p14:sldIdLst>
            <p14:sldId id="261"/>
          </p14:sldIdLst>
        </p14:section>
        <p14:section name="Scale" id="{0b7506f0-c0a8-3758-e63c-f9891a141a39}">
          <p14:sldIdLst>
            <p14:sldId id="262"/>
            <p14:sldId id="263"/>
          </p14:sldIdLst>
        </p14:section>
        <p14:section name="Prototype" id="{b1893a3f-9013-a539-d6c9-af75ba47696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ChainSight  |  Round 1 submission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TEAM DETAILS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60020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ChainSight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889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Real-time crypto fraud attribution: wallet in, exchange, contact and evidence out</a:t>
            </a:r>
            <a:endParaRPr lang="en-US" sz="2200" dirty="0"/>
          </a:p>
        </p:txBody>
      </p:sp>
      <p:sp>
        <p:nvSpPr>
          <p:cNvPr id="5" name="t-edge0"/>
          <p:cNvSpPr/>
          <p:nvPr/>
        </p:nvSpPr>
        <p:spPr>
          <a:xfrm>
            <a:off x="8641080" y="1051560"/>
            <a:ext cx="1005840" cy="5486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6" name="t-edge1"/>
          <p:cNvSpPr/>
          <p:nvPr/>
        </p:nvSpPr>
        <p:spPr>
          <a:xfrm flipH="1">
            <a:off x="9098280" y="1600200"/>
            <a:ext cx="548640" cy="8229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7" name="t-edge2"/>
          <p:cNvSpPr/>
          <p:nvPr/>
        </p:nvSpPr>
        <p:spPr>
          <a:xfrm>
            <a:off x="9098280" y="2423160"/>
            <a:ext cx="1188720" cy="3657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8" name="t-edge3"/>
          <p:cNvSpPr/>
          <p:nvPr/>
        </p:nvSpPr>
        <p:spPr>
          <a:xfrm flipH="1">
            <a:off x="10287000" y="1965960"/>
            <a:ext cx="822960" cy="8229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9" name="t-node0"/>
          <p:cNvSpPr/>
          <p:nvPr/>
        </p:nvSpPr>
        <p:spPr>
          <a:xfrm>
            <a:off x="8503920" y="914400"/>
            <a:ext cx="292608" cy="292608"/>
          </a:xfrm>
          <a:prstGeom prst="ellipse">
            <a:avLst/>
          </a:prstGeom>
          <a:solidFill>
            <a:schemeClr val="accent4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0" name="t-node1"/>
          <p:cNvSpPr/>
          <p:nvPr/>
        </p:nvSpPr>
        <p:spPr>
          <a:xfrm>
            <a:off x="9509760" y="146304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1" name="t-node2"/>
          <p:cNvSpPr/>
          <p:nvPr/>
        </p:nvSpPr>
        <p:spPr>
          <a:xfrm>
            <a:off x="8961120" y="228600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2" name="t-node3"/>
          <p:cNvSpPr/>
          <p:nvPr/>
        </p:nvSpPr>
        <p:spPr>
          <a:xfrm>
            <a:off x="10149840" y="265176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3" name="t-node4"/>
          <p:cNvSpPr/>
          <p:nvPr/>
        </p:nvSpPr>
        <p:spPr>
          <a:xfrm>
            <a:off x="10972800" y="1828800"/>
            <a:ext cx="292608" cy="292608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0" y="566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scam wallet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exchange</a:t>
            </a:r>
            <a:endParaRPr lang="en-US" sz="1200" dirty="0"/>
          </a:p>
        </p:txBody>
      </p:sp>
      <p:sp>
        <p:nvSpPr>
          <p:cNvPr id="16" name="ps-card"/>
          <p:cNvSpPr/>
          <p:nvPr/>
        </p:nvSpPr>
        <p:spPr>
          <a:xfrm>
            <a:off x="548640" y="3886200"/>
            <a:ext cx="694944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4348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Real-Time Identification of Fraud-Linked Cryptocurrency Exchanges from Victim-Reported Suspect Wallet Addresses through Automated Blockchain Analytics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532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Theme: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Blockchain &amp; Cybersecurity      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Category: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Software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TEAM MEMBERS</a:t>
            </a:r>
            <a:endParaRPr lang="en-US" sz="1200" dirty="0"/>
          </a:p>
        </p:txBody>
      </p:sp>
      <p:sp>
        <p:nvSpPr>
          <p:cNvPr id="21" name="member0"/>
          <p:cNvSpPr/>
          <p:nvPr/>
        </p:nvSpPr>
        <p:spPr>
          <a:xfrm>
            <a:off x="7909560" y="4297680"/>
            <a:ext cx="3733495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mem0-circle"/>
          <p:cNvSpPr/>
          <p:nvPr/>
        </p:nvSpPr>
        <p:spPr>
          <a:xfrm>
            <a:off x="8092440" y="4434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mem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3199" y="4565599"/>
            <a:ext cx="241402" cy="24140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778240" y="42976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Ayush Sharma</a:t>
            </a:r>
            <a:endParaRPr lang="en-US" sz="1800" dirty="0"/>
          </a:p>
        </p:txBody>
      </p:sp>
      <p:sp>
        <p:nvSpPr>
          <p:cNvPr id="25" name="member1"/>
          <p:cNvSpPr/>
          <p:nvPr/>
        </p:nvSpPr>
        <p:spPr>
          <a:xfrm>
            <a:off x="7909560" y="5212080"/>
            <a:ext cx="3733495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mem1-circle"/>
          <p:cNvSpPr/>
          <p:nvPr/>
        </p:nvSpPr>
        <p:spPr>
          <a:xfrm>
            <a:off x="8092440" y="53492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7" name="mem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199" y="5479999"/>
            <a:ext cx="241402" cy="241402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778240" y="52120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Chhaya Attri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Victims report the scammer's wallet. Investigators can't quickly tell which exchange (VASP) holds the money, so it moves on before it can be frozen.</a:t>
            </a:r>
            <a:endParaRPr lang="en-US" sz="1800" dirty="0"/>
          </a:p>
        </p:txBody>
      </p:sp>
      <p:sp>
        <p:nvSpPr>
          <p:cNvPr id="4" name="stat-card"/>
          <p:cNvSpPr/>
          <p:nvPr/>
        </p:nvSpPr>
        <p:spPr>
          <a:xfrm>
            <a:off x="548640" y="1920240"/>
            <a:ext cx="3749040" cy="4206240"/>
          </a:xfrm>
          <a:prstGeom prst="roundRect">
            <a:avLst>
              <a:gd name="adj" fmla="val 19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₹22,845 cr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lost by Indians to cyber fraud in 2024, about 3× the ₹7,465 crore lost in 2023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22.68 lakh cybercrime complaints on NCRP in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394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Source: Ministry of Home Affairs, written reply in the Lok Sabha (2025)</a:t>
            </a:r>
            <a:endParaRPr lang="en-US" sz="1100" dirty="0"/>
          </a:p>
        </p:txBody>
      </p:sp>
      <p:sp>
        <p:nvSpPr>
          <p:cNvPr id="9" name="grp0-circle"/>
          <p:cNvSpPr/>
          <p:nvPr/>
        </p:nvSpPr>
        <p:spPr>
          <a:xfrm>
            <a:off x="4572000" y="19659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grp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4646" y="2108606"/>
            <a:ext cx="263347" cy="26334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0" y="1920240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Fraud types</a:t>
            </a:r>
            <a:endParaRPr lang="en-US" sz="1600" dirty="0"/>
          </a:p>
        </p:txBody>
      </p:sp>
      <p:sp>
        <p:nvSpPr>
          <p:cNvPr id="12" name="chip0-0"/>
          <p:cNvSpPr/>
          <p:nvPr/>
        </p:nvSpPr>
        <p:spPr>
          <a:xfrm>
            <a:off x="5303520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Investment</a:t>
            </a:r>
            <a:endParaRPr lang="en-US" sz="1100" dirty="0"/>
          </a:p>
        </p:txBody>
      </p:sp>
      <p:sp>
        <p:nvSpPr>
          <p:cNvPr id="14" name="chip0-1"/>
          <p:cNvSpPr/>
          <p:nvPr/>
        </p:nvSpPr>
        <p:spPr>
          <a:xfrm>
            <a:off x="6236208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36208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Task-based</a:t>
            </a:r>
            <a:endParaRPr lang="en-US" sz="1100" dirty="0"/>
          </a:p>
        </p:txBody>
      </p:sp>
      <p:sp>
        <p:nvSpPr>
          <p:cNvPr id="16" name="chip0-2"/>
          <p:cNvSpPr/>
          <p:nvPr/>
        </p:nvSpPr>
        <p:spPr>
          <a:xfrm>
            <a:off x="7168896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68896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Sextortion</a:t>
            </a:r>
            <a:endParaRPr lang="en-US" sz="1100" dirty="0"/>
          </a:p>
        </p:txBody>
      </p:sp>
      <p:sp>
        <p:nvSpPr>
          <p:cNvPr id="18" name="chip0-3"/>
          <p:cNvSpPr/>
          <p:nvPr/>
        </p:nvSpPr>
        <p:spPr>
          <a:xfrm>
            <a:off x="8101584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01584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Ransomware</a:t>
            </a:r>
            <a:endParaRPr lang="en-US" sz="1100" dirty="0"/>
          </a:p>
        </p:txBody>
      </p:sp>
      <p:sp>
        <p:nvSpPr>
          <p:cNvPr id="20" name="chip0-4"/>
          <p:cNvSpPr/>
          <p:nvPr/>
        </p:nvSpPr>
        <p:spPr>
          <a:xfrm>
            <a:off x="9034272" y="2359152"/>
            <a:ext cx="724205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34272" y="2359152"/>
            <a:ext cx="7242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Phishing</a:t>
            </a:r>
            <a:endParaRPr lang="en-US" sz="1100" dirty="0"/>
          </a:p>
        </p:txBody>
      </p:sp>
      <p:sp>
        <p:nvSpPr>
          <p:cNvPr id="22" name="chip0-5"/>
          <p:cNvSpPr/>
          <p:nvPr/>
        </p:nvSpPr>
        <p:spPr>
          <a:xfrm>
            <a:off x="9831629" y="2359152"/>
            <a:ext cx="656539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31629" y="2359152"/>
            <a:ext cx="6565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Darknet</a:t>
            </a:r>
            <a:endParaRPr lang="en-US" sz="1100" dirty="0"/>
          </a:p>
        </p:txBody>
      </p:sp>
      <p:sp>
        <p:nvSpPr>
          <p:cNvPr id="24" name="chip0-6"/>
          <p:cNvSpPr/>
          <p:nvPr/>
        </p:nvSpPr>
        <p:spPr>
          <a:xfrm>
            <a:off x="10561320" y="2359152"/>
            <a:ext cx="79187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61320" y="2359152"/>
            <a:ext cx="7918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Organised</a:t>
            </a:r>
            <a:endParaRPr lang="en-US" sz="1100" dirty="0"/>
          </a:p>
        </p:txBody>
      </p:sp>
      <p:sp>
        <p:nvSpPr>
          <p:cNvPr id="26" name="grp1-circle"/>
          <p:cNvSpPr/>
          <p:nvPr/>
        </p:nvSpPr>
        <p:spPr>
          <a:xfrm>
            <a:off x="4572000" y="30358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grp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3178454"/>
            <a:ext cx="263347" cy="263347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5303520" y="299008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Reported wallets are</a:t>
            </a:r>
            <a:endParaRPr lang="en-US" sz="1600" dirty="0"/>
          </a:p>
        </p:txBody>
      </p:sp>
      <p:sp>
        <p:nvSpPr>
          <p:cNvPr id="29" name="chip1-0"/>
          <p:cNvSpPr/>
          <p:nvPr/>
        </p:nvSpPr>
        <p:spPr>
          <a:xfrm>
            <a:off x="5303520" y="3429000"/>
            <a:ext cx="1062533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03520" y="3429000"/>
            <a:ext cx="10625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Non-custodial</a:t>
            </a:r>
            <a:endParaRPr lang="en-US" sz="1100" dirty="0"/>
          </a:p>
        </p:txBody>
      </p:sp>
      <p:sp>
        <p:nvSpPr>
          <p:cNvPr id="31" name="chip1-1"/>
          <p:cNvSpPr/>
          <p:nvPr/>
        </p:nvSpPr>
        <p:spPr>
          <a:xfrm>
            <a:off x="6439205" y="3429000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39205" y="3429000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Temporary burners</a:t>
            </a:r>
            <a:endParaRPr lang="en-US" sz="1100" dirty="0"/>
          </a:p>
        </p:txBody>
      </p:sp>
      <p:sp>
        <p:nvSpPr>
          <p:cNvPr id="33" name="chip1-2"/>
          <p:cNvSpPr/>
          <p:nvPr/>
        </p:nvSpPr>
        <p:spPr>
          <a:xfrm>
            <a:off x="7845552" y="3429000"/>
            <a:ext cx="1739189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845552" y="3429000"/>
            <a:ext cx="1739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Layering intermediaries</a:t>
            </a:r>
            <a:endParaRPr lang="en-US" sz="1100" dirty="0"/>
          </a:p>
        </p:txBody>
      </p:sp>
      <p:sp>
        <p:nvSpPr>
          <p:cNvPr id="35" name="grp2-circle"/>
          <p:cNvSpPr/>
          <p:nvPr/>
        </p:nvSpPr>
        <p:spPr>
          <a:xfrm>
            <a:off x="4572000" y="4105656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6" name="grp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4248302"/>
            <a:ext cx="263347" cy="263347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5303520" y="405993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Manual tracing breaks on</a:t>
            </a:r>
            <a:endParaRPr lang="en-US" sz="1600" dirty="0"/>
          </a:p>
        </p:txBody>
      </p:sp>
      <p:sp>
        <p:nvSpPr>
          <p:cNvPr id="38" name="chip2-0"/>
          <p:cNvSpPr/>
          <p:nvPr/>
        </p:nvSpPr>
        <p:spPr>
          <a:xfrm>
            <a:off x="5303520" y="4498848"/>
            <a:ext cx="1603858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303520" y="4498848"/>
            <a:ext cx="16038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Multi-chain transfers</a:t>
            </a:r>
            <a:endParaRPr lang="en-US" sz="1100" dirty="0"/>
          </a:p>
        </p:txBody>
      </p:sp>
      <p:sp>
        <p:nvSpPr>
          <p:cNvPr id="40" name="chip2-1"/>
          <p:cNvSpPr/>
          <p:nvPr/>
        </p:nvSpPr>
        <p:spPr>
          <a:xfrm>
            <a:off x="6980530" y="4498848"/>
            <a:ext cx="1130198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980530" y="4498848"/>
            <a:ext cx="11301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DeFi protocols</a:t>
            </a:r>
            <a:endParaRPr lang="en-US" sz="1100" dirty="0"/>
          </a:p>
        </p:txBody>
      </p:sp>
      <p:sp>
        <p:nvSpPr>
          <p:cNvPr id="42" name="chip2-2"/>
          <p:cNvSpPr/>
          <p:nvPr/>
        </p:nvSpPr>
        <p:spPr>
          <a:xfrm>
            <a:off x="8183880" y="4498848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183880" y="4498848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Mixers / tumblers</a:t>
            </a:r>
            <a:endParaRPr lang="en-US" sz="1100" dirty="0"/>
          </a:p>
        </p:txBody>
      </p:sp>
      <p:sp>
        <p:nvSpPr>
          <p:cNvPr id="44" name="chip2-3"/>
          <p:cNvSpPr/>
          <p:nvPr/>
        </p:nvSpPr>
        <p:spPr>
          <a:xfrm>
            <a:off x="9590227" y="4498848"/>
            <a:ext cx="656539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9590227" y="4498848"/>
            <a:ext cx="6565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Bridges</a:t>
            </a:r>
            <a:endParaRPr lang="en-US" sz="1100" dirty="0"/>
          </a:p>
        </p:txBody>
      </p:sp>
      <p:sp>
        <p:nvSpPr>
          <p:cNvPr id="46" name="chip2-4"/>
          <p:cNvSpPr/>
          <p:nvPr/>
        </p:nvSpPr>
        <p:spPr>
          <a:xfrm>
            <a:off x="10319918" y="4498848"/>
            <a:ext cx="1062533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10319918" y="4498848"/>
            <a:ext cx="10625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Privacy tools</a:t>
            </a:r>
            <a:endParaRPr lang="en-US" sz="1100" dirty="0"/>
          </a:p>
        </p:txBody>
      </p:sp>
      <p:sp>
        <p:nvSpPr>
          <p:cNvPr id="48" name="grp3-circle"/>
          <p:cNvSpPr/>
          <p:nvPr/>
        </p:nvSpPr>
        <p:spPr>
          <a:xfrm>
            <a:off x="4572000" y="5175504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9" name="grp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646" y="5318150"/>
            <a:ext cx="263347" cy="263347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5303520" y="512978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Delay costs</a:t>
            </a:r>
            <a:endParaRPr lang="en-US" sz="1600" dirty="0"/>
          </a:p>
        </p:txBody>
      </p:sp>
      <p:sp>
        <p:nvSpPr>
          <p:cNvPr id="51" name="chip3-0"/>
          <p:cNvSpPr/>
          <p:nvPr/>
        </p:nvSpPr>
        <p:spPr>
          <a:xfrm>
            <a:off x="5303520" y="5568696"/>
            <a:ext cx="1130198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303520" y="5568696"/>
            <a:ext cx="11301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Asset freezing</a:t>
            </a:r>
            <a:endParaRPr lang="en-US" sz="1100" dirty="0"/>
          </a:p>
        </p:txBody>
      </p:sp>
      <p:sp>
        <p:nvSpPr>
          <p:cNvPr id="53" name="chip3-1"/>
          <p:cNvSpPr/>
          <p:nvPr/>
        </p:nvSpPr>
        <p:spPr>
          <a:xfrm>
            <a:off x="6506870" y="5568696"/>
            <a:ext cx="1603858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6870" y="5568696"/>
            <a:ext cx="16038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Evidence preservation</a:t>
            </a:r>
            <a:endParaRPr lang="en-US" sz="1100" dirty="0"/>
          </a:p>
        </p:txBody>
      </p:sp>
      <p:sp>
        <p:nvSpPr>
          <p:cNvPr id="55" name="chip3-2"/>
          <p:cNvSpPr/>
          <p:nvPr/>
        </p:nvSpPr>
        <p:spPr>
          <a:xfrm>
            <a:off x="8183880" y="5568696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83880" y="5568696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Fund-flow tracing</a:t>
            </a:r>
            <a:endParaRPr lang="en-US" sz="1100" dirty="0"/>
          </a:p>
        </p:txBody>
      </p:sp>
      <p:sp>
        <p:nvSpPr>
          <p:cNvPr id="57" name="chip3-3"/>
          <p:cNvSpPr/>
          <p:nvPr/>
        </p:nvSpPr>
        <p:spPr>
          <a:xfrm>
            <a:off x="9590227" y="5568696"/>
            <a:ext cx="1197864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590227" y="5568696"/>
            <a:ext cx="119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Victim recovery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3200" dirty="0"/>
          </a:p>
        </p:txBody>
      </p:sp>
      <p:sp>
        <p:nvSpPr>
          <p:cNvPr id="3" name="pitch"/>
          <p:cNvSpPr/>
          <p:nvPr/>
        </p:nvSpPr>
        <p:spPr>
          <a:xfrm>
            <a:off x="548640" y="109728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9728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in 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exchange, its contact and evidence out</a:t>
            </a:r>
            <a:endParaRPr lang="en-US" sz="2600" dirty="0"/>
          </a:p>
        </p:txBody>
      </p:sp>
      <p:sp>
        <p:nvSpPr>
          <p:cNvPr id="5" name="sol-line"/>
          <p:cNvSpPr/>
          <p:nvPr/>
        </p:nvSpPr>
        <p:spPr>
          <a:xfrm>
            <a:off x="1548354" y="2697480"/>
            <a:ext cx="9094988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6" name="sol0-circle"/>
          <p:cNvSpPr/>
          <p:nvPr/>
        </p:nvSpPr>
        <p:spPr>
          <a:xfrm>
            <a:off x="1136874" y="228600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sol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843" y="2499970"/>
            <a:ext cx="395021" cy="395021"/>
          </a:xfrm>
          <a:prstGeom prst="rect">
            <a:avLst/>
          </a:prstGeom>
        </p:spPr>
      </p:pic>
      <p:sp>
        <p:nvSpPr>
          <p:cNvPr id="8" name="sol-card0"/>
          <p:cNvSpPr/>
          <p:nvPr/>
        </p:nvSpPr>
        <p:spPr>
          <a:xfrm>
            <a:off x="548640" y="3291840"/>
            <a:ext cx="1999427" cy="210312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42900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Ingest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88620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Wallets from NCRP / SAHYOG complaints, dashboard or API</a:t>
            </a:r>
            <a:endParaRPr lang="en-US" sz="1400" dirty="0"/>
          </a:p>
        </p:txBody>
      </p:sp>
      <p:sp>
        <p:nvSpPr>
          <p:cNvPr id="11" name="sol1-circle"/>
          <p:cNvSpPr/>
          <p:nvPr/>
        </p:nvSpPr>
        <p:spPr>
          <a:xfrm>
            <a:off x="3410621" y="228600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sol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590" y="2499970"/>
            <a:ext cx="395021" cy="395021"/>
          </a:xfrm>
          <a:prstGeom prst="rect">
            <a:avLst/>
          </a:prstGeom>
        </p:spPr>
      </p:pic>
      <p:sp>
        <p:nvSpPr>
          <p:cNvPr id="13" name="sol-card1"/>
          <p:cNvSpPr/>
          <p:nvPr/>
        </p:nvSpPr>
        <p:spPr>
          <a:xfrm>
            <a:off x="2822387" y="3291840"/>
            <a:ext cx="1999427" cy="210312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05267" y="342900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Trace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005267" y="388620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Hop-by-hop transaction graph; layering patterns; cross-chain hops flagged</a:t>
            </a:r>
            <a:endParaRPr lang="en-US" sz="1400" dirty="0"/>
          </a:p>
        </p:txBody>
      </p:sp>
      <p:sp>
        <p:nvSpPr>
          <p:cNvPr id="16" name="sol2-circle"/>
          <p:cNvSpPr/>
          <p:nvPr/>
        </p:nvSpPr>
        <p:spPr>
          <a:xfrm>
            <a:off x="5684368" y="228600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ol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2499970"/>
            <a:ext cx="395021" cy="395021"/>
          </a:xfrm>
          <a:prstGeom prst="rect">
            <a:avLst/>
          </a:prstGeom>
        </p:spPr>
      </p:pic>
      <p:sp>
        <p:nvSpPr>
          <p:cNvPr id="18" name="sol-card2"/>
          <p:cNvSpPr/>
          <p:nvPr/>
        </p:nvSpPr>
        <p:spPr>
          <a:xfrm>
            <a:off x="5096134" y="3291840"/>
            <a:ext cx="1999427" cy="210312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279014" y="342900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Attribute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79014" y="388620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Exchange-wallet clustering finds the nearest VASP deposit address</a:t>
            </a:r>
            <a:endParaRPr lang="en-US" sz="1400" dirty="0"/>
          </a:p>
        </p:txBody>
      </p:sp>
      <p:sp>
        <p:nvSpPr>
          <p:cNvPr id="21" name="sol3-circle"/>
          <p:cNvSpPr/>
          <p:nvPr/>
        </p:nvSpPr>
        <p:spPr>
          <a:xfrm>
            <a:off x="7958115" y="22860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sol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084" y="2499970"/>
            <a:ext cx="395021" cy="395021"/>
          </a:xfrm>
          <a:prstGeom prst="rect">
            <a:avLst/>
          </a:prstGeom>
        </p:spPr>
      </p:pic>
      <p:sp>
        <p:nvSpPr>
          <p:cNvPr id="23" name="sol-card3"/>
          <p:cNvSpPr/>
          <p:nvPr/>
        </p:nvSpPr>
        <p:spPr>
          <a:xfrm>
            <a:off x="7369881" y="3291840"/>
            <a:ext cx="1999427" cy="210312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52761" y="342900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Enrich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7552761" y="388620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Public scam reports + the VASP's law-enforcement contact</a:t>
            </a:r>
            <a:endParaRPr lang="en-US" sz="1400" dirty="0"/>
          </a:p>
        </p:txBody>
      </p:sp>
      <p:sp>
        <p:nvSpPr>
          <p:cNvPr id="26" name="sol-tf3"/>
          <p:cNvSpPr/>
          <p:nvPr/>
        </p:nvSpPr>
        <p:spPr>
          <a:xfrm>
            <a:off x="7552761" y="498348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552761" y="4983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TinyFish</a:t>
            </a:r>
            <a:endParaRPr lang="en-US" sz="1100" dirty="0"/>
          </a:p>
        </p:txBody>
      </p:sp>
      <p:sp>
        <p:nvSpPr>
          <p:cNvPr id="28" name="sol4-circle"/>
          <p:cNvSpPr/>
          <p:nvPr/>
        </p:nvSpPr>
        <p:spPr>
          <a:xfrm>
            <a:off x="10231862" y="228600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sol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5831" y="2499970"/>
            <a:ext cx="395021" cy="395021"/>
          </a:xfrm>
          <a:prstGeom prst="rect">
            <a:avLst/>
          </a:prstGeom>
        </p:spPr>
      </p:pic>
      <p:sp>
        <p:nvSpPr>
          <p:cNvPr id="30" name="sol-card4"/>
          <p:cNvSpPr/>
          <p:nvPr/>
        </p:nvSpPr>
        <p:spPr>
          <a:xfrm>
            <a:off x="9643628" y="3291840"/>
            <a:ext cx="1999427" cy="210312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826508" y="3429000"/>
            <a:ext cx="16336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5. Act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26508" y="388620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Risk category, alert, next steps, standard report, draft freeze request</a:t>
            </a:r>
            <a:endParaRPr lang="en-US" sz="1400" dirty="0"/>
          </a:p>
        </p:txBody>
      </p:sp>
      <p:sp>
        <p:nvSpPr>
          <p:cNvPr id="33" name="sol-tf4"/>
          <p:cNvSpPr/>
          <p:nvPr/>
        </p:nvSpPr>
        <p:spPr>
          <a:xfrm>
            <a:off x="9826508" y="498348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826508" y="4983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TinyFish</a:t>
            </a:r>
            <a:endParaRPr lang="en-US" sz="1100" dirty="0"/>
          </a:p>
        </p:txBody>
      </p:sp>
      <p:sp>
        <p:nvSpPr>
          <p:cNvPr id="35" name="review-circle"/>
          <p:cNvSpPr/>
          <p:nvPr/>
        </p:nvSpPr>
        <p:spPr>
          <a:xfrm>
            <a:off x="548640" y="5605272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6" name="review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" y="5736031"/>
            <a:ext cx="241402" cy="24140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234440" y="56052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 human investigator always decides.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risk category is a lead, not proof of guilt.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</a:t>
            </a:r>
            <a:endParaRPr lang="en-US" sz="3200" dirty="0"/>
          </a:p>
        </p:txBody>
      </p:sp>
      <p:sp>
        <p:nvSpPr>
          <p:cNvPr id="3" name="user0"/>
          <p:cNvSpPr/>
          <p:nvPr/>
        </p:nvSpPr>
        <p:spPr>
          <a:xfrm>
            <a:off x="548640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ui0-circle"/>
          <p:cNvSpPr/>
          <p:nvPr/>
        </p:nvSpPr>
        <p:spPr>
          <a:xfrm>
            <a:off x="868680" y="146304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ui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1677010"/>
            <a:ext cx="395021" cy="395021"/>
          </a:xfrm>
          <a:prstGeom prst="rect">
            <a:avLst/>
          </a:prstGeom>
        </p:spPr>
      </p:pic>
      <p:sp>
        <p:nvSpPr>
          <p:cNvPr id="6" name="ut0"/>
          <p:cNvSpPr/>
          <p:nvPr/>
        </p:nvSpPr>
        <p:spPr>
          <a:xfrm>
            <a:off x="2570378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70378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PRIMARY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State cyber cells and police units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Investigators handling NCRP complaints and SAHYOG requests</a:t>
            </a:r>
            <a:endParaRPr lang="en-US" sz="1400" dirty="0"/>
          </a:p>
        </p:txBody>
      </p:sp>
      <p:sp>
        <p:nvSpPr>
          <p:cNvPr id="10" name="user1"/>
          <p:cNvSpPr/>
          <p:nvPr/>
        </p:nvSpPr>
        <p:spPr>
          <a:xfrm>
            <a:off x="4353458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ui1-circle"/>
          <p:cNvSpPr/>
          <p:nvPr/>
        </p:nvSpPr>
        <p:spPr>
          <a:xfrm>
            <a:off x="4673498" y="1463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ui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7468" y="1677010"/>
            <a:ext cx="395021" cy="395021"/>
          </a:xfrm>
          <a:prstGeom prst="rect">
            <a:avLst/>
          </a:prstGeom>
        </p:spPr>
      </p:pic>
      <p:sp>
        <p:nvSpPr>
          <p:cNvPr id="13" name="ut1"/>
          <p:cNvSpPr/>
          <p:nvPr/>
        </p:nvSpPr>
        <p:spPr>
          <a:xfrm>
            <a:off x="6375197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75197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SECONDARY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673498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Exchange and VASP compliance teams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673498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Faster, standard requests about reported fraud flows</a:t>
            </a:r>
            <a:endParaRPr lang="en-US" sz="1400" dirty="0"/>
          </a:p>
        </p:txBody>
      </p:sp>
      <p:sp>
        <p:nvSpPr>
          <p:cNvPr id="17" name="user2"/>
          <p:cNvSpPr/>
          <p:nvPr/>
        </p:nvSpPr>
        <p:spPr>
          <a:xfrm>
            <a:off x="8158277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ui2-circle"/>
          <p:cNvSpPr/>
          <p:nvPr/>
        </p:nvSpPr>
        <p:spPr>
          <a:xfrm>
            <a:off x="8478317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ui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286" y="1677010"/>
            <a:ext cx="395021" cy="395021"/>
          </a:xfrm>
          <a:prstGeom prst="rect">
            <a:avLst/>
          </a:prstGeom>
        </p:spPr>
      </p:pic>
      <p:sp>
        <p:nvSpPr>
          <p:cNvPr id="20" name="ut2"/>
          <p:cNvSpPr/>
          <p:nvPr/>
        </p:nvSpPr>
        <p:spPr>
          <a:xfrm>
            <a:off x="10180015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0180015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SECONDARY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478317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Banks' fraud units</a:t>
            </a:r>
            <a:endParaRPr lang="en-US" sz="1900" dirty="0"/>
          </a:p>
        </p:txBody>
      </p:sp>
      <p:sp>
        <p:nvSpPr>
          <p:cNvPr id="23" name="Text 18"/>
          <p:cNvSpPr txBox="1"/>
          <p:nvPr/>
        </p:nvSpPr>
        <p:spPr>
          <a:xfrm>
            <a:off x="8478317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Link crypto cash-outs to the accounts they hold</a:t>
            </a:r>
            <a:endParaRPr lang="en-US" sz="1400" dirty="0"/>
          </a:p>
        </p:txBody>
      </p:sp>
      <p:sp>
        <p:nvSpPr>
          <p:cNvPr id="24" name="value-band"/>
          <p:cNvSpPr/>
          <p:nvPr/>
        </p:nvSpPr>
        <p:spPr>
          <a:xfrm>
            <a:off x="548640" y="4343400"/>
            <a:ext cx="11094415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VALUE TO THEM</a:t>
            </a:r>
            <a:endParaRPr lang="en-US" sz="1200" dirty="0"/>
          </a:p>
        </p:txBody>
      </p:sp>
      <p:sp>
        <p:nvSpPr>
          <p:cNvPr id="26" name="val0-circle"/>
          <p:cNvSpPr/>
          <p:nvPr/>
        </p:nvSpPr>
        <p:spPr>
          <a:xfrm>
            <a:off x="86868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val0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126126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554480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Faster response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1554480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exchange found in one run</a:t>
            </a:r>
            <a:endParaRPr lang="en-US" sz="1300" dirty="0"/>
          </a:p>
        </p:txBody>
      </p:sp>
      <p:sp>
        <p:nvSpPr>
          <p:cNvPr id="30" name="val1-circle"/>
          <p:cNvSpPr/>
          <p:nvPr/>
        </p:nvSpPr>
        <p:spPr>
          <a:xfrm>
            <a:off x="3482264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val1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4910" y="5126126"/>
            <a:ext cx="263347" cy="263347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4168064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More freezes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4168064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request reaches the VASP sooner</a:t>
            </a:r>
            <a:endParaRPr lang="en-US" sz="1300" dirty="0"/>
          </a:p>
        </p:txBody>
      </p:sp>
      <p:sp>
        <p:nvSpPr>
          <p:cNvPr id="34" name="val2-circle"/>
          <p:cNvSpPr/>
          <p:nvPr/>
        </p:nvSpPr>
        <p:spPr>
          <a:xfrm>
            <a:off x="6095848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val2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494" y="5126126"/>
            <a:ext cx="263347" cy="263347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781648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VASP coordination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6781648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right contact, standard format</a:t>
            </a:r>
            <a:endParaRPr lang="en-US" sz="1300" dirty="0"/>
          </a:p>
        </p:txBody>
      </p:sp>
      <p:sp>
        <p:nvSpPr>
          <p:cNvPr id="38" name="val3-circle"/>
          <p:cNvSpPr/>
          <p:nvPr/>
        </p:nvSpPr>
        <p:spPr>
          <a:xfrm>
            <a:off x="8709431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val3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2078" y="5126126"/>
            <a:ext cx="263347" cy="263347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395231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Stronger evidence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9395231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timestamped, hashed snapshots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and Stack</a:t>
            </a:r>
            <a:endParaRPr lang="en-US" sz="3200" dirty="0"/>
          </a:p>
        </p:txBody>
      </p:sp>
      <p:sp>
        <p:nvSpPr>
          <p:cNvPr id="3" name="a-in"/>
          <p:cNvSpPr/>
          <p:nvPr/>
        </p:nvSpPr>
        <p:spPr>
          <a:xfrm>
            <a:off x="548640" y="2331720"/>
            <a:ext cx="160020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386584"/>
            <a:ext cx="13807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Input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NCRP / SAHYOG feed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  |  API</a:t>
            </a:r>
            <a:endParaRPr lang="en-US" sz="1400" dirty="0"/>
          </a:p>
        </p:txBody>
      </p:sp>
      <p:sp>
        <p:nvSpPr>
          <p:cNvPr id="5" name="a1"/>
          <p:cNvSpPr/>
          <p:nvPr/>
        </p:nvSpPr>
        <p:spPr>
          <a:xfrm>
            <a:off x="2148840" y="2971800"/>
            <a:ext cx="27432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a-orch"/>
          <p:cNvSpPr/>
          <p:nvPr/>
        </p:nvSpPr>
        <p:spPr>
          <a:xfrm>
            <a:off x="2423160" y="233172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32888" y="2386584"/>
            <a:ext cx="17007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Orchestrator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Job queue runs both engines in parallel</a:t>
            </a:r>
            <a:endParaRPr lang="en-US" sz="1400" dirty="0"/>
          </a:p>
        </p:txBody>
      </p:sp>
      <p:sp>
        <p:nvSpPr>
          <p:cNvPr id="8" name="a2"/>
          <p:cNvSpPr/>
          <p:nvPr/>
        </p:nvSpPr>
        <p:spPr>
          <a:xfrm>
            <a:off x="4343400" y="2697480"/>
            <a:ext cx="411480" cy="-6858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a3"/>
          <p:cNvSpPr/>
          <p:nvPr/>
        </p:nvSpPr>
        <p:spPr>
          <a:xfrm>
            <a:off x="4343400" y="3246120"/>
            <a:ext cx="41148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a-on"/>
          <p:cNvSpPr/>
          <p:nvPr/>
        </p:nvSpPr>
        <p:spPr>
          <a:xfrm>
            <a:off x="4754880" y="1188720"/>
            <a:ext cx="320040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4608" y="1243584"/>
            <a:ext cx="298094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On-chain engine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Multi-chain transaction graph, exchange-wallet clustering, laundering patterns</a:t>
            </a:r>
            <a:endParaRPr lang="en-US" sz="1400" dirty="0"/>
          </a:p>
        </p:txBody>
      </p:sp>
      <p:sp>
        <p:nvSpPr>
          <p:cNvPr id="12" name="a-tf"/>
          <p:cNvSpPr/>
          <p:nvPr/>
        </p:nvSpPr>
        <p:spPr>
          <a:xfrm>
            <a:off x="4754880" y="3429000"/>
            <a:ext cx="3200400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a-tf-head"/>
          <p:cNvSpPr/>
          <p:nvPr/>
        </p:nvSpPr>
        <p:spPr>
          <a:xfrm>
            <a:off x="4754880" y="3429000"/>
            <a:ext cx="320040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Off-chain intelligence (TinyFish)</a:t>
            </a:r>
            <a:endParaRPr lang="en-US" sz="1500" dirty="0"/>
          </a:p>
        </p:txBody>
      </p:sp>
      <p:sp>
        <p:nvSpPr>
          <p:cNvPr id="15" name="tfchip0"/>
          <p:cNvSpPr/>
          <p:nvPr/>
        </p:nvSpPr>
        <p:spPr>
          <a:xfrm>
            <a:off x="4937760" y="416052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Search</a:t>
            </a:r>
            <a:endParaRPr lang="en-US" sz="1300" dirty="0"/>
          </a:p>
        </p:txBody>
      </p:sp>
      <p:sp>
        <p:nvSpPr>
          <p:cNvPr id="17" name="tfchip1"/>
          <p:cNvSpPr/>
          <p:nvPr/>
        </p:nvSpPr>
        <p:spPr>
          <a:xfrm>
            <a:off x="6400800" y="416052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Fetch</a:t>
            </a:r>
            <a:endParaRPr lang="en-US" sz="1300" dirty="0"/>
          </a:p>
        </p:txBody>
      </p:sp>
      <p:sp>
        <p:nvSpPr>
          <p:cNvPr id="19" name="tfchip2"/>
          <p:cNvSpPr/>
          <p:nvPr/>
        </p:nvSpPr>
        <p:spPr>
          <a:xfrm>
            <a:off x="4937760" y="480060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Web Agent</a:t>
            </a:r>
            <a:endParaRPr lang="en-US" sz="1300" dirty="0"/>
          </a:p>
        </p:txBody>
      </p:sp>
      <p:sp>
        <p:nvSpPr>
          <p:cNvPr id="21" name="tfchip3"/>
          <p:cNvSpPr/>
          <p:nvPr/>
        </p:nvSpPr>
        <p:spPr>
          <a:xfrm>
            <a:off x="6400800" y="480060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Browser*</a:t>
            </a:r>
            <a:endParaRPr lang="en-US" sz="1300" dirty="0"/>
          </a:p>
        </p:txBody>
      </p:sp>
      <p:sp>
        <p:nvSpPr>
          <p:cNvPr id="23" name="a4"/>
          <p:cNvSpPr/>
          <p:nvPr/>
        </p:nvSpPr>
        <p:spPr>
          <a:xfrm>
            <a:off x="7955280" y="1874520"/>
            <a:ext cx="50292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a5"/>
          <p:cNvSpPr/>
          <p:nvPr/>
        </p:nvSpPr>
        <p:spPr>
          <a:xfrm>
            <a:off x="7955280" y="4526280"/>
            <a:ext cx="502920" cy="-109728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a-risk"/>
          <p:cNvSpPr/>
          <p:nvPr/>
        </p:nvSpPr>
        <p:spPr>
          <a:xfrm>
            <a:off x="8458200" y="2514600"/>
            <a:ext cx="1508760" cy="109728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67928" y="2569464"/>
            <a:ext cx="1289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Risk engine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Rules now, ML typologies next</a:t>
            </a:r>
            <a:endParaRPr lang="en-US" sz="1400" dirty="0"/>
          </a:p>
        </p:txBody>
      </p:sp>
      <p:sp>
        <p:nvSpPr>
          <p:cNvPr id="27" name="a6"/>
          <p:cNvSpPr/>
          <p:nvPr/>
        </p:nvSpPr>
        <p:spPr>
          <a:xfrm>
            <a:off x="9966960" y="3063240"/>
            <a:ext cx="27432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a-out"/>
          <p:cNvSpPr/>
          <p:nvPr/>
        </p:nvSpPr>
        <p:spPr>
          <a:xfrm>
            <a:off x="10241280" y="2331720"/>
            <a:ext cx="1399032" cy="1463040"/>
          </a:xfrm>
          <a:prstGeom prst="roundRect">
            <a:avLst>
              <a:gd name="adj" fmla="val 52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51008" y="2386584"/>
            <a:ext cx="117957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Outputs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Dashboard, alerts, standard report, LEA APIs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690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Blockchain explorer / node APIs feed the on-chain engine. The open web (scam-report sites, exchange sites) feeds TinyFish.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* Browser: stretch goal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06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STACK</a:t>
            </a:r>
            <a:endParaRPr lang="en-US" sz="1200" dirty="0"/>
          </a:p>
        </p:txBody>
      </p:sp>
      <p:sp>
        <p:nvSpPr>
          <p:cNvPr id="33" name="stack0"/>
          <p:cNvSpPr/>
          <p:nvPr/>
        </p:nvSpPr>
        <p:spPr>
          <a:xfrm>
            <a:off x="1371600" y="5833872"/>
            <a:ext cx="1444752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371600" y="5833872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Python + FastAPI</a:t>
            </a:r>
            <a:endParaRPr lang="en-US" sz="1200" dirty="0"/>
          </a:p>
        </p:txBody>
      </p:sp>
      <p:sp>
        <p:nvSpPr>
          <p:cNvPr id="35" name="stack1"/>
          <p:cNvSpPr/>
          <p:nvPr/>
        </p:nvSpPr>
        <p:spPr>
          <a:xfrm>
            <a:off x="2907792" y="5833872"/>
            <a:ext cx="1152144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07792" y="5833872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Redis worker</a:t>
            </a:r>
            <a:endParaRPr lang="en-US" sz="1200" dirty="0"/>
          </a:p>
        </p:txBody>
      </p:sp>
      <p:sp>
        <p:nvSpPr>
          <p:cNvPr id="37" name="stack2"/>
          <p:cNvSpPr/>
          <p:nvPr/>
        </p:nvSpPr>
        <p:spPr>
          <a:xfrm>
            <a:off x="4151376" y="5833872"/>
            <a:ext cx="100584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151376" y="58338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39" name="stack3"/>
          <p:cNvSpPr/>
          <p:nvPr/>
        </p:nvSpPr>
        <p:spPr>
          <a:xfrm>
            <a:off x="5248656" y="5833872"/>
            <a:ext cx="1298448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48656" y="583387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NetworkX graph</a:t>
            </a:r>
            <a:endParaRPr lang="en-US" sz="1200" dirty="0"/>
          </a:p>
        </p:txBody>
      </p:sp>
      <p:sp>
        <p:nvSpPr>
          <p:cNvPr id="41" name="stack4"/>
          <p:cNvSpPr/>
          <p:nvPr/>
        </p:nvSpPr>
        <p:spPr>
          <a:xfrm>
            <a:off x="6638544" y="5833872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638544" y="583387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React dashboard</a:t>
            </a:r>
            <a:endParaRPr lang="en-US" sz="1200" dirty="0"/>
          </a:p>
        </p:txBody>
      </p:sp>
      <p:sp>
        <p:nvSpPr>
          <p:cNvPr id="43" name="stack5"/>
          <p:cNvSpPr/>
          <p:nvPr/>
        </p:nvSpPr>
        <p:spPr>
          <a:xfrm>
            <a:off x="8101584" y="5833872"/>
            <a:ext cx="1591056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01584" y="5833872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PDF / JSON reports</a:t>
            </a:r>
            <a:endParaRPr lang="en-US" sz="1200" dirty="0"/>
          </a:p>
        </p:txBody>
      </p:sp>
      <p:sp>
        <p:nvSpPr>
          <p:cNvPr id="45" name="stack6"/>
          <p:cNvSpPr/>
          <p:nvPr/>
        </p:nvSpPr>
        <p:spPr>
          <a:xfrm>
            <a:off x="9784080" y="5833872"/>
            <a:ext cx="1152144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784080" y="5833872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TinyFish API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Plan to Integrate the TinyFish API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TinyFish does every step that needs the open web, where no API exists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88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IN OUR FLOW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WHY TINYFISH</a:t>
            </a:r>
            <a:endParaRPr lang="en-US" sz="1100" dirty="0"/>
          </a:p>
        </p:txBody>
      </p:sp>
      <p:sp>
        <p:nvSpPr>
          <p:cNvPr id="6" name="tf0"/>
          <p:cNvSpPr/>
          <p:nvPr/>
        </p:nvSpPr>
        <p:spPr>
          <a:xfrm>
            <a:off x="548640" y="192024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fi0-circle"/>
          <p:cNvSpPr/>
          <p:nvPr/>
        </p:nvSpPr>
        <p:spPr>
          <a:xfrm>
            <a:off x="713232" y="20574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tfi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221193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92024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Search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2788920" y="19202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Finds the wallet on scam-report sites, forums and social pages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920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Structured live results, not a list of links to scrape</a:t>
            </a:r>
            <a:endParaRPr lang="en-US" sz="1400" dirty="0"/>
          </a:p>
        </p:txBody>
      </p:sp>
      <p:sp>
        <p:nvSpPr>
          <p:cNvPr id="12" name="tf1"/>
          <p:cNvSpPr/>
          <p:nvPr/>
        </p:nvSpPr>
        <p:spPr>
          <a:xfrm>
            <a:off x="548640" y="2907792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fi1-circle"/>
          <p:cNvSpPr/>
          <p:nvPr/>
        </p:nvSpPr>
        <p:spPr>
          <a:xfrm>
            <a:off x="713232" y="3044952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tfi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6" y="3199486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907792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Fetch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90779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Reads each page; confirms the address is really there; reads exchange policy pages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29077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text from any page, JS-rendered or not</a:t>
            </a:r>
            <a:endParaRPr lang="en-US" sz="1400" dirty="0"/>
          </a:p>
        </p:txBody>
      </p:sp>
      <p:sp>
        <p:nvSpPr>
          <p:cNvPr id="18" name="tf2"/>
          <p:cNvSpPr/>
          <p:nvPr/>
        </p:nvSpPr>
        <p:spPr>
          <a:xfrm>
            <a:off x="548640" y="3895344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fi2-circle"/>
          <p:cNvSpPr/>
          <p:nvPr/>
        </p:nvSpPr>
        <p:spPr>
          <a:xfrm>
            <a:off x="713232" y="4032504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tfi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4187038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63040" y="3895344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Web Agent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2788920" y="389534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Navigates the exchange's site to its law-enforcement request process and contact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7772400" y="389534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Multi-step, different on every site; returns structured JSON</a:t>
            </a:r>
            <a:endParaRPr lang="en-US" sz="1400" dirty="0"/>
          </a:p>
        </p:txBody>
      </p:sp>
      <p:sp>
        <p:nvSpPr>
          <p:cNvPr id="24" name="scraper"/>
          <p:cNvSpPr/>
          <p:nvPr/>
        </p:nvSpPr>
        <p:spPr>
          <a:xfrm>
            <a:off x="548640" y="4983480"/>
            <a:ext cx="539496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Why not a normal scraper?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4406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exchange site is different, changes often and has no API. One agent goal works across all of them; a scraper needs a script per site.</a:t>
            </a:r>
            <a:endParaRPr lang="en-US" sz="1300" dirty="0"/>
          </a:p>
        </p:txBody>
      </p:sp>
      <p:sp>
        <p:nvSpPr>
          <p:cNvPr id="27" name="example"/>
          <p:cNvSpPr/>
          <p:nvPr/>
        </p:nvSpPr>
        <p:spPr>
          <a:xfrm>
            <a:off x="6172200" y="4983480"/>
            <a:ext cx="547085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4652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Example agent goal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54406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"Find this exchange's law-enforcement request process. Don't log in. Return portal, steps, documents, contact."  Returns JSON fields we drop into the report.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Scalability, Feasibility and Use Case</a:t>
            </a:r>
            <a:endParaRPr lang="en-US" sz="3200" dirty="0"/>
          </a:p>
        </p:txBody>
      </p:sp>
      <p:sp>
        <p:nvSpPr>
          <p:cNvPr id="3" name="scope"/>
          <p:cNvSpPr/>
          <p:nvPr/>
        </p:nvSpPr>
        <p:spPr>
          <a:xfrm>
            <a:off x="548640" y="1188720"/>
            <a:ext cx="3657600" cy="4983480"/>
          </a:xfrm>
          <a:prstGeom prst="roundRect">
            <a:avLst>
              <a:gd name="adj" fmla="val 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MVP: BUILDABLE IN 24 HOURS</a:t>
            </a:r>
            <a:endParaRPr lang="en-US" sz="1300" dirty="0"/>
          </a:p>
        </p:txBody>
      </p:sp>
      <p:sp>
        <p:nvSpPr>
          <p:cNvPr id="5" name="sc0-circle"/>
          <p:cNvSpPr/>
          <p:nvPr/>
        </p:nvSpPr>
        <p:spPr>
          <a:xfrm>
            <a:off x="822960" y="1874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sc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969618"/>
            <a:ext cx="175565" cy="1755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Two chains: Tron + Ethereum</a:t>
            </a:r>
            <a:endParaRPr lang="en-US" sz="1400" dirty="0"/>
          </a:p>
        </p:txBody>
      </p:sp>
      <p:sp>
        <p:nvSpPr>
          <p:cNvPr id="8" name="sc1-circle"/>
          <p:cNvSpPr/>
          <p:nvPr/>
        </p:nvSpPr>
        <p:spPr>
          <a:xfrm>
            <a:off x="822960" y="244144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sc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8" y="2536546"/>
            <a:ext cx="175565" cy="1755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395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flow: single reported wallet</a:t>
            </a:r>
            <a:endParaRPr lang="en-US" sz="1400" dirty="0"/>
          </a:p>
        </p:txBody>
      </p:sp>
      <p:sp>
        <p:nvSpPr>
          <p:cNvPr id="11" name="sc2-circle"/>
          <p:cNvSpPr/>
          <p:nvPr/>
        </p:nvSpPr>
        <p:spPr>
          <a:xfrm>
            <a:off x="822960" y="300837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sc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8" y="3103474"/>
            <a:ext cx="175565" cy="17556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9626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Trace to the nearest exchange</a:t>
            </a:r>
            <a:endParaRPr lang="en-US" sz="1400" dirty="0"/>
          </a:p>
        </p:txBody>
      </p:sp>
      <p:sp>
        <p:nvSpPr>
          <p:cNvPr id="14" name="sc3-circle"/>
          <p:cNvSpPr/>
          <p:nvPr/>
        </p:nvSpPr>
        <p:spPr>
          <a:xfrm>
            <a:off x="822960" y="3575304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sc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8" y="3670402"/>
            <a:ext cx="175565" cy="17556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TinyFish: wallet reports + VASP contact</a:t>
            </a:r>
            <a:endParaRPr lang="en-US" sz="1400" dirty="0"/>
          </a:p>
        </p:txBody>
      </p:sp>
      <p:sp>
        <p:nvSpPr>
          <p:cNvPr id="17" name="sc4-circle"/>
          <p:cNvSpPr/>
          <p:nvPr/>
        </p:nvSpPr>
        <p:spPr>
          <a:xfrm>
            <a:off x="822960" y="4142232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sc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237330"/>
            <a:ext cx="175565" cy="17556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40965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Risk category + standard report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82296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bg2"/>
                </a:solidFill>
              </a:rPr>
              <a:t>Next: Bitcoin + BSC, bridge / cross-chain tracing, ML typologies, NCRP and SAHYOG integration, own indexer at scale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4480560" y="11887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Scales by configuration</a:t>
            </a:r>
            <a:endParaRPr lang="en-US" sz="1700" dirty="0"/>
          </a:p>
        </p:txBody>
      </p:sp>
      <p:sp>
        <p:nvSpPr>
          <p:cNvPr id="22" name="scl0-circle"/>
          <p:cNvSpPr/>
          <p:nvPr/>
        </p:nvSpPr>
        <p:spPr>
          <a:xfrm>
            <a:off x="448056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scl0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1319" y="1868119"/>
            <a:ext cx="241402" cy="24140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166360" y="1691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New chain or exchange = one config entry, no new scraper</a:t>
            </a:r>
            <a:endParaRPr lang="en-US" sz="1400" dirty="0"/>
          </a:p>
        </p:txBody>
      </p:sp>
      <p:sp>
        <p:nvSpPr>
          <p:cNvPr id="25" name="scl1-circle"/>
          <p:cNvSpPr/>
          <p:nvPr/>
        </p:nvSpPr>
        <p:spPr>
          <a:xfrm>
            <a:off x="4480560" y="2560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scl1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1319" y="2691079"/>
            <a:ext cx="241402" cy="2414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166360" y="2514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Tracing and agents run in parallel via the job queue</a:t>
            </a:r>
            <a:endParaRPr lang="en-US" sz="1400" dirty="0"/>
          </a:p>
        </p:txBody>
      </p:sp>
      <p:sp>
        <p:nvSpPr>
          <p:cNvPr id="28" name="scl2-circle"/>
          <p:cNvSpPr/>
          <p:nvPr/>
        </p:nvSpPr>
        <p:spPr>
          <a:xfrm>
            <a:off x="4480560" y="33832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scl2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1319" y="3514039"/>
            <a:ext cx="241402" cy="24140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166360" y="3337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VASP contacts cached and reused across cases</a:t>
            </a:r>
            <a:endParaRPr lang="en-US" sz="1400" dirty="0"/>
          </a:p>
        </p:txBody>
      </p:sp>
      <p:sp>
        <p:nvSpPr>
          <p:cNvPr id="31" name="scl3-circle"/>
          <p:cNvSpPr/>
          <p:nvPr/>
        </p:nvSpPr>
        <p:spPr>
          <a:xfrm>
            <a:off x="4480560" y="42062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2" name="scl3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1319" y="4336999"/>
            <a:ext cx="241402" cy="24140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166360" y="4160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REST API for NCRP / SAHYOG and other LEA systems</a:t>
            </a:r>
            <a:endParaRPr lang="en-US" sz="1400" dirty="0"/>
          </a:p>
        </p:txBody>
      </p:sp>
      <p:sp>
        <p:nvSpPr>
          <p:cNvPr id="34" name="Text 23"/>
          <p:cNvSpPr txBox="1"/>
          <p:nvPr/>
        </p:nvSpPr>
        <p:spPr>
          <a:xfrm>
            <a:off x="4480560" y="51206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Feasible now: existing blockchain APIs + TinyFish, no custom indexer for the MVP</a:t>
            </a:r>
            <a:endParaRPr lang="en-US" sz="1400" dirty="0"/>
          </a:p>
        </p:txBody>
      </p:sp>
      <p:sp>
        <p:nvSpPr>
          <p:cNvPr id="35" name="Text 24"/>
          <p:cNvSpPr txBox="1"/>
          <p:nvPr/>
        </p:nvSpPr>
        <p:spPr>
          <a:xfrm>
            <a:off x="8046720" y="1188720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Risks we plan for</a:t>
            </a:r>
            <a:endParaRPr lang="en-US" sz="1700" dirty="0"/>
          </a:p>
        </p:txBody>
      </p:sp>
      <p:sp>
        <p:nvSpPr>
          <p:cNvPr id="36" name="risk0"/>
          <p:cNvSpPr/>
          <p:nvPr/>
        </p:nvSpPr>
        <p:spPr>
          <a:xfrm>
            <a:off x="8046720" y="1691640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8229600" y="1783080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Agent fails on an odd site</a:t>
            </a:r>
            <a:endParaRPr lang="en-US" sz="1400" dirty="0"/>
          </a:p>
        </p:txBody>
      </p:sp>
      <p:sp>
        <p:nvSpPr>
          <p:cNvPr id="38" name="Text 27"/>
          <p:cNvSpPr txBox="1"/>
          <p:nvPr/>
        </p:nvSpPr>
        <p:spPr>
          <a:xfrm>
            <a:off x="8229600" y="2121408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Retries, then manual-review flag</a:t>
            </a:r>
            <a:endParaRPr lang="en-US" sz="1300" dirty="0"/>
          </a:p>
        </p:txBody>
      </p:sp>
      <p:sp>
        <p:nvSpPr>
          <p:cNvPr id="39" name="risk1"/>
          <p:cNvSpPr/>
          <p:nvPr/>
        </p:nvSpPr>
        <p:spPr>
          <a:xfrm>
            <a:off x="8046720" y="2715768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8229600" y="2807208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Exchange labels incomplete</a:t>
            </a:r>
            <a:endParaRPr lang="en-US" sz="1400" dirty="0"/>
          </a:p>
        </p:txBody>
      </p:sp>
      <p:sp>
        <p:nvSpPr>
          <p:cNvPr id="41" name="Text 30"/>
          <p:cNvSpPr txBox="1"/>
          <p:nvPr/>
        </p:nvSpPr>
        <p:spPr>
          <a:xfrm>
            <a:off x="8229600" y="3145536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Infer deposit addresses from sweep behaviour</a:t>
            </a:r>
            <a:endParaRPr lang="en-US" sz="1300" dirty="0"/>
          </a:p>
        </p:txBody>
      </p:sp>
      <p:sp>
        <p:nvSpPr>
          <p:cNvPr id="42" name="risk2"/>
          <p:cNvSpPr/>
          <p:nvPr/>
        </p:nvSpPr>
        <p:spPr>
          <a:xfrm>
            <a:off x="8046720" y="3739896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8229600" y="3831336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Mixers and privacy tools</a:t>
            </a:r>
            <a:endParaRPr lang="en-US" sz="1400" dirty="0"/>
          </a:p>
        </p:txBody>
      </p:sp>
      <p:sp>
        <p:nvSpPr>
          <p:cNvPr id="44" name="Text 33"/>
          <p:cNvSpPr txBox="1"/>
          <p:nvPr/>
        </p:nvSpPr>
        <p:spPr>
          <a:xfrm>
            <a:off x="8229600" y="4169664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Flag where the trail breaks; expert review</a:t>
            </a:r>
            <a:endParaRPr lang="en-US" sz="1300" dirty="0"/>
          </a:p>
        </p:txBody>
      </p:sp>
      <p:sp>
        <p:nvSpPr>
          <p:cNvPr id="45" name="risk3"/>
          <p:cNvSpPr/>
          <p:nvPr/>
        </p:nvSpPr>
        <p:spPr>
          <a:xfrm>
            <a:off x="8046720" y="4764024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8229600" y="4855464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False positives</a:t>
            </a:r>
            <a:endParaRPr lang="en-US" sz="1400" dirty="0"/>
          </a:p>
        </p:txBody>
      </p:sp>
      <p:sp>
        <p:nvSpPr>
          <p:cNvPr id="47" name="Text 36"/>
          <p:cNvSpPr txBox="1"/>
          <p:nvPr/>
        </p:nvSpPr>
        <p:spPr>
          <a:xfrm>
            <a:off x="8229600" y="5193792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Human review; score explained point by point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Case: Worked Example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real public case shows the payoff: once the right company is found and asked, scam funds get frozen</a:t>
            </a:r>
            <a:endParaRPr lang="en-US" sz="1700" dirty="0"/>
          </a:p>
        </p:txBody>
      </p:sp>
      <p:sp>
        <p:nvSpPr>
          <p:cNvPr id="4" name="case"/>
          <p:cNvSpPr/>
          <p:nvPr/>
        </p:nvSpPr>
        <p:spPr>
          <a:xfrm>
            <a:off x="548640" y="1691640"/>
            <a:ext cx="11094415" cy="224028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NOVEMBER 2023  |  PIG-BUTCHERING SCAM</a:t>
            </a:r>
            <a:endParaRPr lang="en-US" sz="1200" dirty="0"/>
          </a:p>
        </p:txBody>
      </p:sp>
      <p:sp>
        <p:nvSpPr>
          <p:cNvPr id="6" name="case-trail-line"/>
          <p:cNvSpPr/>
          <p:nvPr/>
        </p:nvSpPr>
        <p:spPr>
          <a:xfrm>
            <a:off x="1914114" y="2432304"/>
            <a:ext cx="8363468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7" name="case-trail-n0"/>
          <p:cNvSpPr/>
          <p:nvPr/>
        </p:nvSpPr>
        <p:spPr>
          <a:xfrm>
            <a:off x="1813530" y="2331720"/>
            <a:ext cx="201168" cy="201168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8" name="case-trail-n1"/>
          <p:cNvSpPr/>
          <p:nvPr/>
        </p:nvSpPr>
        <p:spPr>
          <a:xfrm>
            <a:off x="3904397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9" name="case-trail-n2"/>
          <p:cNvSpPr/>
          <p:nvPr/>
        </p:nvSpPr>
        <p:spPr>
          <a:xfrm>
            <a:off x="5995264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0" name="case-trail-n3"/>
          <p:cNvSpPr/>
          <p:nvPr/>
        </p:nvSpPr>
        <p:spPr>
          <a:xfrm>
            <a:off x="8086131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1" name="case-trail-n4"/>
          <p:cNvSpPr/>
          <p:nvPr/>
        </p:nvSpPr>
        <p:spPr>
          <a:xfrm>
            <a:off x="10140422" y="2295144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70+ victims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paid a Southeast Asian scam syndicate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05267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Self-custody USDT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05267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funds parked across the syndicate's wallets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96134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Traced on-chain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96134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by OKX and Tether using Chainalysis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87001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Freeze request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187001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from the US Secret Service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77868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$225M frozen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77868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largest USDT freeze to date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77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Sources: Blockworks, OCCRP, Benzinga coverage of the Tether / OKX announcement (Nov 2023)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89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ChainSight automates for an Indian cyber cell, in the same flow</a:t>
            </a:r>
            <a:endParaRPr lang="en-US" sz="1700" dirty="0"/>
          </a:p>
        </p:txBody>
      </p:sp>
      <p:sp>
        <p:nvSpPr>
          <p:cNvPr id="24" name="fit0-circle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it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" y="5034686"/>
            <a:ext cx="263347" cy="26334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Officer enters the reported wallet from the NCRP complaint</a:t>
            </a:r>
            <a:endParaRPr lang="en-US" sz="1400" dirty="0"/>
          </a:p>
        </p:txBody>
      </p:sp>
      <p:sp>
        <p:nvSpPr>
          <p:cNvPr id="27" name="fit1-circle"/>
          <p:cNvSpPr/>
          <p:nvPr/>
        </p:nvSpPr>
        <p:spPr>
          <a:xfrm>
            <a:off x="3379394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fit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040" y="5034686"/>
            <a:ext cx="263347" cy="26334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4065194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Funds traced to an exchange deposit address</a:t>
            </a:r>
            <a:endParaRPr lang="en-US" sz="1400" dirty="0"/>
          </a:p>
        </p:txBody>
      </p:sp>
      <p:sp>
        <p:nvSpPr>
          <p:cNvPr id="30" name="fit2-circle"/>
          <p:cNvSpPr/>
          <p:nvPr/>
        </p:nvSpPr>
        <p:spPr>
          <a:xfrm>
            <a:off x="6210148" y="4892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fit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794" y="503468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6895948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TinyFish finds public reports and the exchange's request process</a:t>
            </a:r>
            <a:endParaRPr lang="en-US" sz="1400" dirty="0"/>
          </a:p>
        </p:txBody>
      </p:sp>
      <p:sp>
        <p:nvSpPr>
          <p:cNvPr id="33" name="fit3-circle"/>
          <p:cNvSpPr/>
          <p:nvPr/>
        </p:nvSpPr>
        <p:spPr>
          <a:xfrm>
            <a:off x="9040901" y="4892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4" name="fit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3548" y="5034686"/>
            <a:ext cx="263347" cy="263347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726701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Officer reviews and sends the pre-filled freeze request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Goal: an investigator-ready request in minutes instead of days of manual tracing and research (to be measured in the build).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/ Prototype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Figma-style mockup of the investigator report (illustrative data)</a:t>
            </a:r>
            <a:endParaRPr lang="en-US" sz="1300" dirty="0"/>
          </a:p>
        </p:txBody>
      </p:sp>
      <p:sp>
        <p:nvSpPr>
          <p:cNvPr id="4" name="mk-frame"/>
          <p:cNvSpPr/>
          <p:nvPr/>
        </p:nvSpPr>
        <p:spPr>
          <a:xfrm>
            <a:off x="548640" y="1463040"/>
            <a:ext cx="7863840" cy="4800600"/>
          </a:xfrm>
          <a:prstGeom prst="roundRect">
            <a:avLst>
              <a:gd name="adj" fmla="val 1524"/>
            </a:avLst>
          </a:prstGeom>
          <a:solidFill>
            <a:schemeClr val="bg1"/>
          </a:solidFill>
          <a:ln w="19050">
            <a:solidFill>
              <a:srgbClr val="EEF2F7"/>
            </a:solidFill>
            <a:prstDash val="solid"/>
          </a:ln>
        </p:spPr>
      </p:sp>
      <p:sp>
        <p:nvSpPr>
          <p:cNvPr id="5" name="mk-bar"/>
          <p:cNvSpPr/>
          <p:nvPr/>
        </p:nvSpPr>
        <p:spPr>
          <a:xfrm>
            <a:off x="548640" y="1463040"/>
            <a:ext cx="7863840" cy="4572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ChainSight   Case NCRP-2025-0412   |   Tron</a:t>
            </a:r>
            <a:endParaRPr lang="en-US" sz="1200" dirty="0"/>
          </a:p>
        </p:txBody>
      </p:sp>
      <p:sp>
        <p:nvSpPr>
          <p:cNvPr id="7" name="mk-dl"/>
          <p:cNvSpPr/>
          <p:nvPr/>
        </p:nvSpPr>
        <p:spPr>
          <a:xfrm>
            <a:off x="6720840" y="1554480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0840" y="15544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Download report</a:t>
            </a:r>
            <a:endParaRPr lang="en-US" sz="1100" dirty="0"/>
          </a:p>
        </p:txBody>
      </p:sp>
      <p:sp>
        <p:nvSpPr>
          <p:cNvPr id="9" name="mk-k0"/>
          <p:cNvSpPr/>
          <p:nvPr/>
        </p:nvSpPr>
        <p:spPr>
          <a:xfrm>
            <a:off x="777240" y="2103120"/>
            <a:ext cx="174879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176272"/>
            <a:ext cx="1474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RISK LEAD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423160"/>
            <a:ext cx="14744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High  82/100</a:t>
            </a:r>
            <a:endParaRPr lang="en-US" sz="1400" dirty="0"/>
          </a:p>
        </p:txBody>
      </p:sp>
      <p:sp>
        <p:nvSpPr>
          <p:cNvPr id="12" name="mk-k1"/>
          <p:cNvSpPr/>
          <p:nvPr/>
        </p:nvSpPr>
        <p:spPr>
          <a:xfrm>
            <a:off x="2663190" y="2103120"/>
            <a:ext cx="174879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00350" y="2176272"/>
            <a:ext cx="1474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EXCHANGE, 3 HOPS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00350" y="2423160"/>
            <a:ext cx="14744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Exchange X</a:t>
            </a:r>
            <a:endParaRPr lang="en-US" sz="1400" dirty="0"/>
          </a:p>
        </p:txBody>
      </p:sp>
      <p:sp>
        <p:nvSpPr>
          <p:cNvPr id="15" name="mk-k2"/>
          <p:cNvSpPr/>
          <p:nvPr/>
        </p:nvSpPr>
        <p:spPr>
          <a:xfrm>
            <a:off x="4549140" y="2103120"/>
            <a:ext cx="174879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6300" y="2176272"/>
            <a:ext cx="1474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FREEZE TARGET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86300" y="2423160"/>
            <a:ext cx="14744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Deposit TQ7…9F2</a:t>
            </a:r>
            <a:endParaRPr lang="en-US" sz="1400" dirty="0"/>
          </a:p>
        </p:txBody>
      </p:sp>
      <p:sp>
        <p:nvSpPr>
          <p:cNvPr id="18" name="mk-k3"/>
          <p:cNvSpPr/>
          <p:nvPr/>
        </p:nvSpPr>
        <p:spPr>
          <a:xfrm>
            <a:off x="6435090" y="2103120"/>
            <a:ext cx="174879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72250" y="2176272"/>
            <a:ext cx="14744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EVIDENCE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72250" y="2423160"/>
            <a:ext cx="14744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6 pages hashed</a:t>
            </a:r>
            <a:endParaRPr lang="en-US" sz="1400" dirty="0"/>
          </a:p>
        </p:txBody>
      </p:sp>
      <p:sp>
        <p:nvSpPr>
          <p:cNvPr id="21" name="mk-graph"/>
          <p:cNvSpPr/>
          <p:nvPr/>
        </p:nvSpPr>
        <p:spPr>
          <a:xfrm>
            <a:off x="777240" y="3063240"/>
            <a:ext cx="420624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1363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Fund flow</a:t>
            </a:r>
            <a:endParaRPr lang="en-US" sz="1100" dirty="0"/>
          </a:p>
        </p:txBody>
      </p:sp>
      <p:sp>
        <p:nvSpPr>
          <p:cNvPr id="23" name="mk-e0"/>
          <p:cNvSpPr/>
          <p:nvPr/>
        </p:nvSpPr>
        <p:spPr>
          <a:xfrm>
            <a:off x="1207008" y="427024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4" name="mk-e1"/>
          <p:cNvSpPr/>
          <p:nvPr/>
        </p:nvSpPr>
        <p:spPr>
          <a:xfrm flipV="1">
            <a:off x="2029968" y="3813048"/>
            <a:ext cx="822960" cy="4572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5" name="mk-e2"/>
          <p:cNvSpPr/>
          <p:nvPr/>
        </p:nvSpPr>
        <p:spPr>
          <a:xfrm>
            <a:off x="2029968" y="4270248"/>
            <a:ext cx="822960" cy="4572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26" name="mk-e3"/>
          <p:cNvSpPr/>
          <p:nvPr/>
        </p:nvSpPr>
        <p:spPr>
          <a:xfrm>
            <a:off x="2852928" y="381304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7" name="mk-e4"/>
          <p:cNvSpPr/>
          <p:nvPr/>
        </p:nvSpPr>
        <p:spPr>
          <a:xfrm>
            <a:off x="3675888" y="381304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8" name="mk-e5"/>
          <p:cNvSpPr/>
          <p:nvPr/>
        </p:nvSpPr>
        <p:spPr>
          <a:xfrm>
            <a:off x="2852928" y="4727448"/>
            <a:ext cx="8229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29" name="mk-n0"/>
          <p:cNvSpPr/>
          <p:nvPr/>
        </p:nvSpPr>
        <p:spPr>
          <a:xfrm>
            <a:off x="1097280" y="41605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0" name="mk-n1"/>
          <p:cNvSpPr/>
          <p:nvPr/>
        </p:nvSpPr>
        <p:spPr>
          <a:xfrm>
            <a:off x="1920240" y="41605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1" name="mk-n2"/>
          <p:cNvSpPr/>
          <p:nvPr/>
        </p:nvSpPr>
        <p:spPr>
          <a:xfrm>
            <a:off x="2743200" y="37033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2" name="mk-n3"/>
          <p:cNvSpPr/>
          <p:nvPr/>
        </p:nvSpPr>
        <p:spPr>
          <a:xfrm>
            <a:off x="2743200" y="46177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3" name="mk-n4"/>
          <p:cNvSpPr/>
          <p:nvPr/>
        </p:nvSpPr>
        <p:spPr>
          <a:xfrm>
            <a:off x="3566160" y="3703320"/>
            <a:ext cx="219456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4" name="mk-n5"/>
          <p:cNvSpPr/>
          <p:nvPr/>
        </p:nvSpPr>
        <p:spPr>
          <a:xfrm>
            <a:off x="4389120" y="3703320"/>
            <a:ext cx="219456" cy="219456"/>
          </a:xfrm>
          <a:prstGeom prst="roundRect">
            <a:avLst>
              <a:gd name="adj" fmla="val 20833"/>
            </a:avLst>
          </a:prstGeom>
          <a:solidFill>
            <a:schemeClr val="accent3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5" name="mk-n6"/>
          <p:cNvSpPr/>
          <p:nvPr/>
        </p:nvSpPr>
        <p:spPr>
          <a:xfrm>
            <a:off x="3566160" y="461772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680" y="4434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reported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33756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deposit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16052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exchange</a:t>
            </a:r>
            <a:endParaRPr lang="en-US" sz="1000" dirty="0"/>
          </a:p>
        </p:txBody>
      </p:sp>
      <p:sp>
        <p:nvSpPr>
          <p:cNvPr id="39" name="mk-contact"/>
          <p:cNvSpPr/>
          <p:nvPr/>
        </p:nvSpPr>
        <p:spPr>
          <a:xfrm>
            <a:off x="5166360" y="3063240"/>
            <a:ext cx="30175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9050">
            <a:solidFill>
              <a:srgbClr val="EEF2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3035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Exchange X: law-enforcement contact</a:t>
            </a:r>
            <a:endParaRPr lang="en-US" sz="1200" dirty="0"/>
          </a:p>
        </p:txBody>
      </p:sp>
      <p:sp>
        <p:nvSpPr>
          <p:cNvPr id="41" name="mk-tf"/>
          <p:cNvSpPr/>
          <p:nvPr/>
        </p:nvSpPr>
        <p:spPr>
          <a:xfrm>
            <a:off x="5303520" y="347472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03520" y="347472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found by TinyFish Agent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840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Portal: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 request form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Steps: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official email, notice, submit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Docs: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notice, officer ID, FIR no.</a:t>
            </a:r>
            <a:endParaRPr lang="en-US" sz="1100" dirty="0"/>
          </a:p>
        </p:txBody>
      </p:sp>
      <p:sp>
        <p:nvSpPr>
          <p:cNvPr id="44" name="mk-freeze"/>
          <p:cNvSpPr/>
          <p:nvPr/>
        </p:nvSpPr>
        <p:spPr>
          <a:xfrm>
            <a:off x="5303520" y="4507992"/>
            <a:ext cx="274320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303520" y="4507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Generate freeze request</a:t>
            </a:r>
            <a:endParaRPr lang="en-US" sz="1100" dirty="0"/>
          </a:p>
        </p:txBody>
      </p:sp>
      <p:sp>
        <p:nvSpPr>
          <p:cNvPr id="46" name="mk-ev"/>
          <p:cNvSpPr/>
          <p:nvPr/>
        </p:nvSpPr>
        <p:spPr>
          <a:xfrm>
            <a:off x="777240" y="5074920"/>
            <a:ext cx="74066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148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Evidence trail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14400" y="5458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10:42 UTC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965960" y="54589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Scam-report page mentioning the wallet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172200" y="5458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sha256 3f9a…c1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14400" y="5751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10:43 UTC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965960" y="57515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Exchange X law-enforcement page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6172200" y="57515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sha256 8b21…7e</a:t>
            </a:r>
            <a:endParaRPr lang="en-US" sz="1100" dirty="0"/>
          </a:p>
        </p:txBody>
      </p:sp>
      <p:sp>
        <p:nvSpPr>
          <p:cNvPr id="54" name="co0"/>
          <p:cNvSpPr/>
          <p:nvPr/>
        </p:nvSpPr>
        <p:spPr>
          <a:xfrm>
            <a:off x="8732520" y="1508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325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9372600" y="149047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Risk lead with reasons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9372600" y="187452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Explained score, never a verdict</a:t>
            </a:r>
            <a:endParaRPr lang="en-US" sz="1300" dirty="0"/>
          </a:p>
        </p:txBody>
      </p:sp>
      <p:sp>
        <p:nvSpPr>
          <p:cNvPr id="58" name="co1"/>
          <p:cNvSpPr/>
          <p:nvPr/>
        </p:nvSpPr>
        <p:spPr>
          <a:xfrm>
            <a:off x="873252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732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9372600" y="267919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Path to the money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9372600" y="306324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Hops from the reported wallet to the exchange</a:t>
            </a:r>
            <a:endParaRPr lang="en-US" sz="1300" dirty="0"/>
          </a:p>
        </p:txBody>
      </p:sp>
      <p:sp>
        <p:nvSpPr>
          <p:cNvPr id="62" name="co2"/>
          <p:cNvSpPr/>
          <p:nvPr/>
        </p:nvSpPr>
        <p:spPr>
          <a:xfrm>
            <a:off x="8732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32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9372600" y="386791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to contact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9372600" y="425196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Found by the TinyFish agent</a:t>
            </a:r>
            <a:endParaRPr lang="en-US" sz="1300" dirty="0"/>
          </a:p>
        </p:txBody>
      </p:sp>
      <p:sp>
        <p:nvSpPr>
          <p:cNvPr id="66" name="co3"/>
          <p:cNvSpPr/>
          <p:nvPr/>
        </p:nvSpPr>
        <p:spPr>
          <a:xfrm>
            <a:off x="8732520" y="5074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7325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68" name="Text 66"/>
          <p:cNvSpPr txBox="1"/>
          <p:nvPr/>
        </p:nvSpPr>
        <p:spPr>
          <a:xfrm>
            <a:off x="9372600" y="505663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Proof for the case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544068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Timestamped, hashed page snapshots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inSight Trail">
  <a:themeElements>
    <a:clrScheme name="ChainSight Trail">
      <a:dk1>
        <a:srgbClr val="0B1220"/>
      </a:dk1>
      <a:lt1>
        <a:srgbClr val="FFFFFF"/>
      </a:lt1>
      <a:dk2>
        <a:srgbClr val="1B2A41"/>
      </a:dk2>
      <a:lt2>
        <a:srgbClr val="EEF2F7"/>
      </a:lt2>
      <a:accent1>
        <a:srgbClr val="E8762B"/>
      </a:accent1>
      <a:accent2>
        <a:srgbClr val="2F6FED"/>
      </a:accent2>
      <a:accent3>
        <a:srgbClr val="23944A"/>
      </a:accent3>
      <a:accent4>
        <a:srgbClr val="D64545"/>
      </a:accent4>
      <a:accent5>
        <a:srgbClr val="64748B"/>
      </a:accent5>
      <a:accent6>
        <a:srgbClr val="0E9AA7"/>
      </a:accent6>
      <a:hlink>
        <a:srgbClr val="2F6FED"/>
      </a:hlink>
      <a:folHlink>
        <a:srgbClr val="6D28D9"/>
      </a:folHlink>
    </a:clrScheme>
    <a:fontScheme name="ChainSight Trai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ChainSight - Round 1 submission</dc:title>
  <dc:subject>PptxGenJS Presentation</dc:subject>
  <dc:creator>PptxGenJS</dc:creator>
  <cp:lastModifiedBy>PptxGenJS</cp:lastModifiedBy>
  <cp:revision>1</cp:revision>
  <dcterms:created xsi:type="dcterms:W3CDTF">2026-10-13T18:24:25Z</dcterms:created>
  <dcterms:modified xsi:type="dcterms:W3CDTF">2026-10-13T18:24:25Z</dcterms:modified>
</cp:coreProperties>
</file>