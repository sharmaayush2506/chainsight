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am Details" id="{ac0056f2-26af-d5e6-c303-90083eced024}">
          <p14:sldIdLst>
            <p14:sldId id="256"/>
          </p14:sldIdLst>
        </p14:section>
        <p14:section name="Problem" id="{f504e33c-1b00-7c6b-feda-5b67ed0e8a6e}">
          <p14:sldIdLst>
            <p14:sldId id="257"/>
          </p14:sldIdLst>
        </p14:section>
        <p14:section name="Solution" id="{88aa3711-c723-d873-003b-c24c24f48050}">
          <p14:sldIdLst>
            <p14:sldId id="258"/>
          </p14:sldIdLst>
        </p14:section>
        <p14:section name="Users" id="{dde50d3c-8465-4602-0b57-b28935d70c11}">
          <p14:sldIdLst>
            <p14:sldId id="259"/>
          </p14:sldIdLst>
        </p14:section>
        <p14:section name="Architecture" id="{7d6b78d6-3a3e-468b-5d80-7e43f170b5df}">
          <p14:sldIdLst>
            <p14:sldId id="260"/>
          </p14:sldIdLst>
        </p14:section>
        <p14:section name="TinyFish" id="{f7ef3b15-fcad-64be-5ace-118b985f488c}">
          <p14:sldIdLst>
            <p14:sldId id="261"/>
          </p14:sldIdLst>
        </p14:section>
        <p14:section name="Scale" id="{1d5fe445-18c4-0320-8f7e-51047706582e}">
          <p14:sldIdLst>
            <p14:sldId id="262"/>
            <p14:sldId id="263"/>
          </p14:sldIdLst>
        </p14:section>
        <p14:section name="Prototype" id="{10aa21ea-e586-4f7c-b93b-d8deb12959d4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bracketed placeholders with real team details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ChainSight  |  Round 1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TEAM DETAILS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ChainSight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Wallet in. Exchange, contact and evidence out.</a:t>
            </a:r>
            <a:endParaRPr lang="en-US" sz="2200" dirty="0"/>
          </a:p>
        </p:txBody>
      </p:sp>
      <p:sp>
        <p:nvSpPr>
          <p:cNvPr id="5" name="t-edge0"/>
          <p:cNvSpPr/>
          <p:nvPr/>
        </p:nvSpPr>
        <p:spPr>
          <a:xfrm>
            <a:off x="8641080" y="1051560"/>
            <a:ext cx="1005840" cy="5486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t-edge1"/>
          <p:cNvSpPr/>
          <p:nvPr/>
        </p:nvSpPr>
        <p:spPr>
          <a:xfrm flipH="1">
            <a:off x="9098280" y="1600200"/>
            <a:ext cx="54864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t-edge2"/>
          <p:cNvSpPr/>
          <p:nvPr/>
        </p:nvSpPr>
        <p:spPr>
          <a:xfrm>
            <a:off x="9098280" y="2423160"/>
            <a:ext cx="1188720" cy="3657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8" name="t-edge3"/>
          <p:cNvSpPr/>
          <p:nvPr/>
        </p:nvSpPr>
        <p:spPr>
          <a:xfrm flipH="1">
            <a:off x="10287000" y="1965960"/>
            <a:ext cx="82296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9" name="t-node0"/>
          <p:cNvSpPr/>
          <p:nvPr/>
        </p:nvSpPr>
        <p:spPr>
          <a:xfrm>
            <a:off x="8503920" y="914400"/>
            <a:ext cx="292608" cy="292608"/>
          </a:xfrm>
          <a:prstGeom prst="ellipse">
            <a:avLst/>
          </a:prstGeom>
          <a:solidFill>
            <a:schemeClr val="accent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0" name="t-node1"/>
          <p:cNvSpPr/>
          <p:nvPr/>
        </p:nvSpPr>
        <p:spPr>
          <a:xfrm>
            <a:off x="9509760" y="146304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1" name="t-node2"/>
          <p:cNvSpPr/>
          <p:nvPr/>
        </p:nvSpPr>
        <p:spPr>
          <a:xfrm>
            <a:off x="8961120" y="228600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2" name="t-node3"/>
          <p:cNvSpPr/>
          <p:nvPr/>
        </p:nvSpPr>
        <p:spPr>
          <a:xfrm>
            <a:off x="10149840" y="265176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3" name="t-node4"/>
          <p:cNvSpPr/>
          <p:nvPr/>
        </p:nvSpPr>
        <p:spPr>
          <a:xfrm>
            <a:off x="10972800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566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scam wallet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exchange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Team [Team name]   |   [Institution]   |   [Contact email / phone]</a:t>
            </a:r>
            <a:endParaRPr lang="en-US" sz="1600" dirty="0"/>
          </a:p>
        </p:txBody>
      </p:sp>
      <p:sp>
        <p:nvSpPr>
          <p:cNvPr id="17" name="team0"/>
          <p:cNvSpPr/>
          <p:nvPr/>
        </p:nvSpPr>
        <p:spPr>
          <a:xfrm>
            <a:off x="548640" y="4526280"/>
            <a:ext cx="2602154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091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[Member 1]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12064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Lead, product and pitch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440680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[College / year]</a:t>
            </a:r>
            <a:endParaRPr lang="en-US" sz="1200" dirty="0"/>
          </a:p>
        </p:txBody>
      </p:sp>
      <p:sp>
        <p:nvSpPr>
          <p:cNvPr id="21" name="team1"/>
          <p:cNvSpPr/>
          <p:nvPr/>
        </p:nvSpPr>
        <p:spPr>
          <a:xfrm>
            <a:off x="3379394" y="4526280"/>
            <a:ext cx="2602154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07994" y="47091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[Member 2]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07994" y="512064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On-chain tracing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07994" y="5440680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[College / year]</a:t>
            </a:r>
            <a:endParaRPr lang="en-US" sz="1200" dirty="0"/>
          </a:p>
        </p:txBody>
      </p:sp>
      <p:sp>
        <p:nvSpPr>
          <p:cNvPr id="25" name="team2"/>
          <p:cNvSpPr/>
          <p:nvPr/>
        </p:nvSpPr>
        <p:spPr>
          <a:xfrm>
            <a:off x="6210148" y="4526280"/>
            <a:ext cx="2602154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38748" y="47091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[Member 3]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512064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TinyFish agents, backend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38748" y="5440680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[College / year]</a:t>
            </a:r>
            <a:endParaRPr lang="en-US" sz="1200" dirty="0"/>
          </a:p>
        </p:txBody>
      </p:sp>
      <p:sp>
        <p:nvSpPr>
          <p:cNvPr id="29" name="team3"/>
          <p:cNvSpPr/>
          <p:nvPr/>
        </p:nvSpPr>
        <p:spPr>
          <a:xfrm>
            <a:off x="9040901" y="4526280"/>
            <a:ext cx="2602154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69501" y="47091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[Member 4]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269501" y="512064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UI/UX and report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269501" y="5440680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[College / year]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Funds move within hours. Finding the right exchange takes days.</a:t>
            </a:r>
            <a:endParaRPr lang="en-US" sz="2200" dirty="0"/>
          </a:p>
        </p:txBody>
      </p:sp>
      <p:sp>
        <p:nvSpPr>
          <p:cNvPr id="4" name="stat-card"/>
          <p:cNvSpPr/>
          <p:nvPr/>
        </p:nvSpPr>
        <p:spPr>
          <a:xfrm>
            <a:off x="548640" y="1874520"/>
            <a:ext cx="4206240" cy="4160520"/>
          </a:xfrm>
          <a:prstGeom prst="roundRect">
            <a:avLst>
              <a:gd name="adj" fmla="val 175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₹22,845 cr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lost by Indians to cyber fraud in 2024, about 3× the ₹7,465 crore lost in 2023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1605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22.68 lakh cybercrime complaints on NCRP in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257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Source: Ministry of Home Affairs, written reply in the Lok Sabha (2025)</a:t>
            </a:r>
            <a:endParaRPr lang="en-US" sz="1100" dirty="0"/>
          </a:p>
        </p:txBody>
      </p:sp>
      <p:sp>
        <p:nvSpPr>
          <p:cNvPr id="9" name="pain0-circle"/>
          <p:cNvSpPr/>
          <p:nvPr/>
        </p:nvSpPr>
        <p:spPr>
          <a:xfrm>
            <a:off x="5074920" y="1947672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pain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9454" y="210220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97880" y="18745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Who is hurt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225856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Victims of investment, task, sextortion, phishing and ransomware scams paid in crypto</a:t>
            </a:r>
            <a:endParaRPr lang="en-US" sz="1400" dirty="0"/>
          </a:p>
        </p:txBody>
      </p:sp>
      <p:sp>
        <p:nvSpPr>
          <p:cNvPr id="13" name="pain1-circle"/>
          <p:cNvSpPr/>
          <p:nvPr/>
        </p:nvSpPr>
        <p:spPr>
          <a:xfrm>
            <a:off x="5074920" y="301752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pain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454" y="31720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897880" y="29443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the money hides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5897880" y="3328416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Burner wallets and fast hops (layering) hide the trail across chains</a:t>
            </a:r>
            <a:endParaRPr lang="en-US" sz="1400" dirty="0"/>
          </a:p>
        </p:txBody>
      </p:sp>
      <p:sp>
        <p:nvSpPr>
          <p:cNvPr id="17" name="pain2-circle"/>
          <p:cNvSpPr/>
          <p:nvPr/>
        </p:nvSpPr>
        <p:spPr>
          <a:xfrm>
            <a:off x="5074920" y="4087368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pain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454" y="4241902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897880" y="40142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investigators get stuck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897880" y="43982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Only the exchange can freeze funds and reveal identity. Tracing to it needs rare skills, then manual research for its contact</a:t>
            </a:r>
            <a:endParaRPr lang="en-US" sz="1400" dirty="0"/>
          </a:p>
        </p:txBody>
      </p:sp>
      <p:sp>
        <p:nvSpPr>
          <p:cNvPr id="21" name="pain3-circle"/>
          <p:cNvSpPr/>
          <p:nvPr/>
        </p:nvSpPr>
        <p:spPr>
          <a:xfrm>
            <a:off x="5074920" y="5157216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pain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454" y="5311750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97880" y="50840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it fails today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5897880" y="546811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Commercial tools are costly and don't automate the web research. By the time the request is sent, funds have moved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pitch"/>
          <p:cNvSpPr/>
          <p:nvPr/>
        </p:nvSpPr>
        <p:spPr>
          <a:xfrm>
            <a:off x="548640" y="11430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14300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in  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exchange, contact and evidence out</a:t>
            </a:r>
            <a:endParaRPr lang="en-US" sz="2800" dirty="0"/>
          </a:p>
        </p:txBody>
      </p:sp>
      <p:sp>
        <p:nvSpPr>
          <p:cNvPr id="5" name="sol-line"/>
          <p:cNvSpPr/>
          <p:nvPr/>
        </p:nvSpPr>
        <p:spPr>
          <a:xfrm>
            <a:off x="1548354" y="2788920"/>
            <a:ext cx="909498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sol0-circle"/>
          <p:cNvSpPr/>
          <p:nvPr/>
        </p:nvSpPr>
        <p:spPr>
          <a:xfrm>
            <a:off x="1136874" y="23774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sol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843" y="2591410"/>
            <a:ext cx="395021" cy="395021"/>
          </a:xfrm>
          <a:prstGeom prst="rect">
            <a:avLst/>
          </a:prstGeom>
        </p:spPr>
      </p:pic>
      <p:sp>
        <p:nvSpPr>
          <p:cNvPr id="8" name="sol-card0"/>
          <p:cNvSpPr/>
          <p:nvPr/>
        </p:nvSpPr>
        <p:spPr>
          <a:xfrm>
            <a:off x="548640" y="3383280"/>
            <a:ext cx="1999427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52044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Report a wallet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77640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Wallet address + chain, from dashboard or API</a:t>
            </a:r>
            <a:endParaRPr lang="en-US" sz="1400" dirty="0"/>
          </a:p>
        </p:txBody>
      </p:sp>
      <p:sp>
        <p:nvSpPr>
          <p:cNvPr id="11" name="sol1-circle"/>
          <p:cNvSpPr/>
          <p:nvPr/>
        </p:nvSpPr>
        <p:spPr>
          <a:xfrm>
            <a:off x="3410621" y="23774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ol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590" y="2591410"/>
            <a:ext cx="395021" cy="395021"/>
          </a:xfrm>
          <a:prstGeom prst="rect">
            <a:avLst/>
          </a:prstGeom>
        </p:spPr>
      </p:pic>
      <p:sp>
        <p:nvSpPr>
          <p:cNvPr id="13" name="sol-card1"/>
          <p:cNvSpPr/>
          <p:nvPr/>
        </p:nvSpPr>
        <p:spPr>
          <a:xfrm>
            <a:off x="2822387" y="3383280"/>
            <a:ext cx="1999427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05267" y="352044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Trace the money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3977640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Follow funds hop by hop; spot laundering patterns</a:t>
            </a:r>
            <a:endParaRPr lang="en-US" sz="1400" dirty="0"/>
          </a:p>
        </p:txBody>
      </p:sp>
      <p:sp>
        <p:nvSpPr>
          <p:cNvPr id="16" name="sol2-circle"/>
          <p:cNvSpPr/>
          <p:nvPr/>
        </p:nvSpPr>
        <p:spPr>
          <a:xfrm>
            <a:off x="5684368" y="23774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ol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2591410"/>
            <a:ext cx="395021" cy="395021"/>
          </a:xfrm>
          <a:prstGeom prst="rect">
            <a:avLst/>
          </a:prstGeom>
        </p:spPr>
      </p:pic>
      <p:sp>
        <p:nvSpPr>
          <p:cNvPr id="18" name="sol-card2"/>
          <p:cNvSpPr/>
          <p:nvPr/>
        </p:nvSpPr>
        <p:spPr>
          <a:xfrm>
            <a:off x="5096134" y="3383280"/>
            <a:ext cx="1999427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79014" y="352044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Find the exchange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79014" y="3977640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Match the exchange deposit address funds landed in</a:t>
            </a:r>
            <a:endParaRPr lang="en-US" sz="1400" dirty="0"/>
          </a:p>
        </p:txBody>
      </p:sp>
      <p:sp>
        <p:nvSpPr>
          <p:cNvPr id="21" name="sol3-circle"/>
          <p:cNvSpPr/>
          <p:nvPr/>
        </p:nvSpPr>
        <p:spPr>
          <a:xfrm>
            <a:off x="7958115" y="23774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sol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084" y="2591410"/>
            <a:ext cx="395021" cy="395021"/>
          </a:xfrm>
          <a:prstGeom prst="rect">
            <a:avLst/>
          </a:prstGeom>
        </p:spPr>
      </p:pic>
      <p:sp>
        <p:nvSpPr>
          <p:cNvPr id="23" name="sol-card3"/>
          <p:cNvSpPr/>
          <p:nvPr/>
        </p:nvSpPr>
        <p:spPr>
          <a:xfrm>
            <a:off x="7369881" y="3383280"/>
            <a:ext cx="1999427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52761" y="352044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Research the web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552761" y="3977640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scam reports, exchange's law-enforcement contact</a:t>
            </a:r>
            <a:endParaRPr lang="en-US" sz="1400" dirty="0"/>
          </a:p>
        </p:txBody>
      </p:sp>
      <p:sp>
        <p:nvSpPr>
          <p:cNvPr id="26" name="sol-tf3"/>
          <p:cNvSpPr/>
          <p:nvPr/>
        </p:nvSpPr>
        <p:spPr>
          <a:xfrm>
            <a:off x="7552761" y="493776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552761" y="4937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28" name="sol4-circle"/>
          <p:cNvSpPr/>
          <p:nvPr/>
        </p:nvSpPr>
        <p:spPr>
          <a:xfrm>
            <a:off x="10231862" y="23774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sol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831" y="2591410"/>
            <a:ext cx="395021" cy="395021"/>
          </a:xfrm>
          <a:prstGeom prst="rect">
            <a:avLst/>
          </a:prstGeom>
        </p:spPr>
      </p:pic>
      <p:sp>
        <p:nvSpPr>
          <p:cNvPr id="30" name="sol-card4"/>
          <p:cNvSpPr/>
          <p:nvPr/>
        </p:nvSpPr>
        <p:spPr>
          <a:xfrm>
            <a:off x="9643628" y="3383280"/>
            <a:ext cx="1999427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826508" y="352044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Hand it over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6508" y="3977640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Fund-flow graph, risk lead, contact, hashed evidence, draft freeze request</a:t>
            </a:r>
            <a:endParaRPr lang="en-US" sz="1400" dirty="0"/>
          </a:p>
        </p:txBody>
      </p:sp>
      <p:sp>
        <p:nvSpPr>
          <p:cNvPr id="33" name="sol-tf4"/>
          <p:cNvSpPr/>
          <p:nvPr/>
        </p:nvSpPr>
        <p:spPr>
          <a:xfrm>
            <a:off x="9826508" y="493776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826508" y="4937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35" name="review-circle"/>
          <p:cNvSpPr/>
          <p:nvPr/>
        </p:nvSpPr>
        <p:spPr>
          <a:xfrm>
            <a:off x="548640" y="5605272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6" name="review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" y="5736031"/>
            <a:ext cx="241402" cy="2414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234440" y="56052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human investigator always decides.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risk score is a lead, not proof of guilt.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3200" dirty="0"/>
          </a:p>
        </p:txBody>
      </p:sp>
      <p:sp>
        <p:nvSpPr>
          <p:cNvPr id="3" name="user0"/>
          <p:cNvSpPr/>
          <p:nvPr/>
        </p:nvSpPr>
        <p:spPr>
          <a:xfrm>
            <a:off x="548640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i0-circle"/>
          <p:cNvSpPr/>
          <p:nvPr/>
        </p:nvSpPr>
        <p:spPr>
          <a:xfrm>
            <a:off x="868680" y="14630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u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1677010"/>
            <a:ext cx="395021" cy="395021"/>
          </a:xfrm>
          <a:prstGeom prst="rect">
            <a:avLst/>
          </a:prstGeom>
        </p:spPr>
      </p:pic>
      <p:sp>
        <p:nvSpPr>
          <p:cNvPr id="6" name="ut0"/>
          <p:cNvSpPr/>
          <p:nvPr/>
        </p:nvSpPr>
        <p:spPr>
          <a:xfrm>
            <a:off x="2570378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70378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PRIMARY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State cyber cells and police units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Teams handling NCRP complaints and SAHYOG requests</a:t>
            </a:r>
            <a:endParaRPr lang="en-US" sz="1400" dirty="0"/>
          </a:p>
        </p:txBody>
      </p:sp>
      <p:sp>
        <p:nvSpPr>
          <p:cNvPr id="10" name="user1"/>
          <p:cNvSpPr/>
          <p:nvPr/>
        </p:nvSpPr>
        <p:spPr>
          <a:xfrm>
            <a:off x="4353458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ui1-circle"/>
          <p:cNvSpPr/>
          <p:nvPr/>
        </p:nvSpPr>
        <p:spPr>
          <a:xfrm>
            <a:off x="4673498" y="1463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u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468" y="1677010"/>
            <a:ext cx="395021" cy="395021"/>
          </a:xfrm>
          <a:prstGeom prst="rect">
            <a:avLst/>
          </a:prstGeom>
        </p:spPr>
      </p:pic>
      <p:sp>
        <p:nvSpPr>
          <p:cNvPr id="13" name="ut1"/>
          <p:cNvSpPr/>
          <p:nvPr/>
        </p:nvSpPr>
        <p:spPr>
          <a:xfrm>
            <a:off x="6375197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75197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73498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Exchange and VASP compliance teams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Spot reported fraud flows landing on their platform</a:t>
            </a:r>
            <a:endParaRPr lang="en-US" sz="1400" dirty="0"/>
          </a:p>
        </p:txBody>
      </p:sp>
      <p:sp>
        <p:nvSpPr>
          <p:cNvPr id="17" name="user2"/>
          <p:cNvSpPr/>
          <p:nvPr/>
        </p:nvSpPr>
        <p:spPr>
          <a:xfrm>
            <a:off x="8158277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ui2-circle"/>
          <p:cNvSpPr/>
          <p:nvPr/>
        </p:nvSpPr>
        <p:spPr>
          <a:xfrm>
            <a:off x="8478317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u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1677010"/>
            <a:ext cx="395021" cy="395021"/>
          </a:xfrm>
          <a:prstGeom prst="rect">
            <a:avLst/>
          </a:prstGeom>
        </p:spPr>
      </p:pic>
      <p:sp>
        <p:nvSpPr>
          <p:cNvPr id="20" name="ut2"/>
          <p:cNvSpPr/>
          <p:nvPr/>
        </p:nvSpPr>
        <p:spPr>
          <a:xfrm>
            <a:off x="10180015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180015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478317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Banks' fraud units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478317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Link crypto cash-outs to the accounts they hold</a:t>
            </a:r>
            <a:endParaRPr lang="en-US" sz="1400" dirty="0"/>
          </a:p>
        </p:txBody>
      </p:sp>
      <p:sp>
        <p:nvSpPr>
          <p:cNvPr id="24" name="value-band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VALUE TO THEM</a:t>
            </a:r>
            <a:endParaRPr lang="en-US" sz="1200" dirty="0"/>
          </a:p>
        </p:txBody>
      </p:sp>
      <p:sp>
        <p:nvSpPr>
          <p:cNvPr id="26" name="val0-circle"/>
          <p:cNvSpPr/>
          <p:nvPr/>
        </p:nvSpPr>
        <p:spPr>
          <a:xfrm>
            <a:off x="868680" y="4983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val0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4" y="5138014"/>
            <a:ext cx="285293" cy="28529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645920" y="493776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Faster freezing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1645920" y="530352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exchange and contact in one run</a:t>
            </a:r>
            <a:endParaRPr lang="en-US" sz="1400" dirty="0"/>
          </a:p>
        </p:txBody>
      </p:sp>
      <p:sp>
        <p:nvSpPr>
          <p:cNvPr id="30" name="val1-circle"/>
          <p:cNvSpPr/>
          <p:nvPr/>
        </p:nvSpPr>
        <p:spPr>
          <a:xfrm>
            <a:off x="4353458" y="4983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val1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5138014"/>
            <a:ext cx="285293" cy="28529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130698" y="493776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Less reliance on rare experts</a:t>
            </a:r>
            <a:endParaRPr lang="en-US" sz="1600" dirty="0"/>
          </a:p>
        </p:txBody>
      </p:sp>
      <p:sp>
        <p:nvSpPr>
          <p:cNvPr id="33" name="Text 26"/>
          <p:cNvSpPr txBox="1"/>
          <p:nvPr/>
        </p:nvSpPr>
        <p:spPr>
          <a:xfrm>
            <a:off x="5130698" y="530352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any trained officer can act</a:t>
            </a:r>
            <a:endParaRPr lang="en-US" sz="1400" dirty="0"/>
          </a:p>
        </p:txBody>
      </p:sp>
      <p:sp>
        <p:nvSpPr>
          <p:cNvPr id="34" name="val2-circle"/>
          <p:cNvSpPr/>
          <p:nvPr/>
        </p:nvSpPr>
        <p:spPr>
          <a:xfrm>
            <a:off x="7838237" y="4983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val2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770" y="513801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615477" y="493776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Standardised evidence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615477" y="5303520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same report, hashed snapshots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and Stack</a:t>
            </a:r>
            <a:endParaRPr lang="en-US" sz="3200" dirty="0"/>
          </a:p>
        </p:txBody>
      </p:sp>
      <p:sp>
        <p:nvSpPr>
          <p:cNvPr id="3" name="a-in"/>
          <p:cNvSpPr/>
          <p:nvPr/>
        </p:nvSpPr>
        <p:spPr>
          <a:xfrm>
            <a:off x="548640" y="237744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432304"/>
            <a:ext cx="1335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REST API</a:t>
            </a:r>
            <a:endParaRPr lang="en-US" sz="1400" dirty="0"/>
          </a:p>
        </p:txBody>
      </p:sp>
      <p:sp>
        <p:nvSpPr>
          <p:cNvPr id="5" name="a1"/>
          <p:cNvSpPr/>
          <p:nvPr/>
        </p:nvSpPr>
        <p:spPr>
          <a:xfrm>
            <a:off x="2103120" y="2971800"/>
            <a:ext cx="32004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a-orch"/>
          <p:cNvSpPr/>
          <p:nvPr/>
        </p:nvSpPr>
        <p:spPr>
          <a:xfrm>
            <a:off x="2423160" y="2377440"/>
            <a:ext cx="19202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2888" y="2432304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Job queue runs both engines in parallel</a:t>
            </a:r>
            <a:endParaRPr lang="en-US" sz="1400" dirty="0"/>
          </a:p>
        </p:txBody>
      </p:sp>
      <p:sp>
        <p:nvSpPr>
          <p:cNvPr id="8" name="a2"/>
          <p:cNvSpPr/>
          <p:nvPr/>
        </p:nvSpPr>
        <p:spPr>
          <a:xfrm>
            <a:off x="4343400" y="2697480"/>
            <a:ext cx="411480" cy="-685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a3"/>
          <p:cNvSpPr/>
          <p:nvPr/>
        </p:nvSpPr>
        <p:spPr>
          <a:xfrm>
            <a:off x="4343400" y="3246120"/>
            <a:ext cx="41148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a-on"/>
          <p:cNvSpPr/>
          <p:nvPr/>
        </p:nvSpPr>
        <p:spPr>
          <a:xfrm>
            <a:off x="4754880" y="1188720"/>
            <a:ext cx="320040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243584"/>
            <a:ext cx="29809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On-chain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Transaction graph, laundering patterns, exchange deposit match</a:t>
            </a:r>
            <a:endParaRPr lang="en-US" sz="1400" dirty="0"/>
          </a:p>
        </p:txBody>
      </p:sp>
      <p:sp>
        <p:nvSpPr>
          <p:cNvPr id="12" name="a-tf"/>
          <p:cNvSpPr/>
          <p:nvPr/>
        </p:nvSpPr>
        <p:spPr>
          <a:xfrm>
            <a:off x="4754880" y="3429000"/>
            <a:ext cx="3200400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-tf-head"/>
          <p:cNvSpPr/>
          <p:nvPr/>
        </p:nvSpPr>
        <p:spPr>
          <a:xfrm>
            <a:off x="4754880" y="3429000"/>
            <a:ext cx="320040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Off-chain intelligence (TinyFish)</a:t>
            </a:r>
            <a:endParaRPr lang="en-US" sz="1500" dirty="0"/>
          </a:p>
        </p:txBody>
      </p:sp>
      <p:sp>
        <p:nvSpPr>
          <p:cNvPr id="15" name="tfchip0"/>
          <p:cNvSpPr/>
          <p:nvPr/>
        </p:nvSpPr>
        <p:spPr>
          <a:xfrm>
            <a:off x="493776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Search</a:t>
            </a:r>
            <a:endParaRPr lang="en-US" sz="1300" dirty="0"/>
          </a:p>
        </p:txBody>
      </p:sp>
      <p:sp>
        <p:nvSpPr>
          <p:cNvPr id="17" name="tfchip1"/>
          <p:cNvSpPr/>
          <p:nvPr/>
        </p:nvSpPr>
        <p:spPr>
          <a:xfrm>
            <a:off x="640080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Fetch</a:t>
            </a:r>
            <a:endParaRPr lang="en-US" sz="1300" dirty="0"/>
          </a:p>
        </p:txBody>
      </p:sp>
      <p:sp>
        <p:nvSpPr>
          <p:cNvPr id="19" name="tfchip2"/>
          <p:cNvSpPr/>
          <p:nvPr/>
        </p:nvSpPr>
        <p:spPr>
          <a:xfrm>
            <a:off x="493776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Agent</a:t>
            </a:r>
            <a:endParaRPr lang="en-US" sz="1300" dirty="0"/>
          </a:p>
        </p:txBody>
      </p:sp>
      <p:sp>
        <p:nvSpPr>
          <p:cNvPr id="21" name="tfchip3"/>
          <p:cNvSpPr/>
          <p:nvPr/>
        </p:nvSpPr>
        <p:spPr>
          <a:xfrm>
            <a:off x="640080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Browser*</a:t>
            </a:r>
            <a:endParaRPr lang="en-US" sz="1300" dirty="0"/>
          </a:p>
        </p:txBody>
      </p:sp>
      <p:sp>
        <p:nvSpPr>
          <p:cNvPr id="23" name="a4"/>
          <p:cNvSpPr/>
          <p:nvPr/>
        </p:nvSpPr>
        <p:spPr>
          <a:xfrm>
            <a:off x="7955280" y="1874520"/>
            <a:ext cx="50292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5"/>
          <p:cNvSpPr/>
          <p:nvPr/>
        </p:nvSpPr>
        <p:spPr>
          <a:xfrm>
            <a:off x="7955280" y="4526280"/>
            <a:ext cx="502920" cy="-109728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-risk"/>
          <p:cNvSpPr/>
          <p:nvPr/>
        </p:nvSpPr>
        <p:spPr>
          <a:xfrm>
            <a:off x="8458200" y="2514600"/>
            <a:ext cx="1508760" cy="1051560"/>
          </a:xfrm>
          <a:prstGeom prst="roundRect">
            <a:avLst>
              <a:gd name="adj" fmla="val 695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67928" y="2569464"/>
            <a:ext cx="12893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Risk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Rules now, ML later</a:t>
            </a:r>
            <a:endParaRPr lang="en-US" sz="1400" dirty="0"/>
          </a:p>
        </p:txBody>
      </p:sp>
      <p:sp>
        <p:nvSpPr>
          <p:cNvPr id="27" name="a6"/>
          <p:cNvSpPr/>
          <p:nvPr/>
        </p:nvSpPr>
        <p:spPr>
          <a:xfrm>
            <a:off x="9966960" y="3044952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a-out"/>
          <p:cNvSpPr/>
          <p:nvPr/>
        </p:nvSpPr>
        <p:spPr>
          <a:xfrm>
            <a:off x="10241280" y="2377440"/>
            <a:ext cx="1399032" cy="1325880"/>
          </a:xfrm>
          <a:prstGeom prst="roundRect">
            <a:avLst>
              <a:gd name="adj" fmla="val 551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51008" y="2432304"/>
            <a:ext cx="11795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Investigator report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Graph, contact, evidence, PDF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690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Blockchain APIs (Etherscan, TronGrid) feed the on-chain engine; the open web (scam-report sites, exchange sites) feeds TinyFish.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* Browser: stretch goal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06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STACK</a:t>
            </a:r>
            <a:endParaRPr lang="en-US" sz="1200" dirty="0"/>
          </a:p>
        </p:txBody>
      </p:sp>
      <p:sp>
        <p:nvSpPr>
          <p:cNvPr id="33" name="stack0"/>
          <p:cNvSpPr/>
          <p:nvPr/>
        </p:nvSpPr>
        <p:spPr>
          <a:xfrm>
            <a:off x="1371600" y="5833872"/>
            <a:ext cx="1563624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371600" y="5833872"/>
            <a:ext cx="1563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35" name="stack1"/>
          <p:cNvSpPr/>
          <p:nvPr/>
        </p:nvSpPr>
        <p:spPr>
          <a:xfrm>
            <a:off x="3044952" y="5833872"/>
            <a:ext cx="1252728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44952" y="5833872"/>
            <a:ext cx="125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Redis worker</a:t>
            </a:r>
            <a:endParaRPr lang="en-US" sz="1200" dirty="0"/>
          </a:p>
        </p:txBody>
      </p:sp>
      <p:sp>
        <p:nvSpPr>
          <p:cNvPr id="37" name="stack2"/>
          <p:cNvSpPr/>
          <p:nvPr/>
        </p:nvSpPr>
        <p:spPr>
          <a:xfrm>
            <a:off x="4407408" y="5833872"/>
            <a:ext cx="10972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07408" y="5833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39" name="stack3"/>
          <p:cNvSpPr/>
          <p:nvPr/>
        </p:nvSpPr>
        <p:spPr>
          <a:xfrm>
            <a:off x="5614416" y="5833872"/>
            <a:ext cx="1408176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14416" y="5833872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NetworkX graph</a:t>
            </a:r>
            <a:endParaRPr lang="en-US" sz="1200" dirty="0"/>
          </a:p>
        </p:txBody>
      </p:sp>
      <p:sp>
        <p:nvSpPr>
          <p:cNvPr id="41" name="stack4"/>
          <p:cNvSpPr/>
          <p:nvPr/>
        </p:nvSpPr>
        <p:spPr>
          <a:xfrm>
            <a:off x="7132320" y="5833872"/>
            <a:ext cx="1719072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0" y="583387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React + graph view</a:t>
            </a:r>
            <a:endParaRPr lang="en-US" sz="1200" dirty="0"/>
          </a:p>
        </p:txBody>
      </p:sp>
      <p:sp>
        <p:nvSpPr>
          <p:cNvPr id="43" name="stack5"/>
          <p:cNvSpPr/>
          <p:nvPr/>
        </p:nvSpPr>
        <p:spPr>
          <a:xfrm>
            <a:off x="8961120" y="5833872"/>
            <a:ext cx="1175004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5833872"/>
            <a:ext cx="11750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PDF reports</a:t>
            </a:r>
            <a:endParaRPr lang="en-US" sz="1200" dirty="0"/>
          </a:p>
        </p:txBody>
      </p:sp>
      <p:sp>
        <p:nvSpPr>
          <p:cNvPr id="45" name="stack6"/>
          <p:cNvSpPr/>
          <p:nvPr/>
        </p:nvSpPr>
        <p:spPr>
          <a:xfrm>
            <a:off x="10245852" y="5833872"/>
            <a:ext cx="125272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45852" y="5833872"/>
            <a:ext cx="125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TinyFish API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Plan to Integrate the TinyFish API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TinyFish does every step that needs the open web, where no API exists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IN OUR FLOW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TINYFISH</a:t>
            </a:r>
            <a:endParaRPr lang="en-US" sz="1100" dirty="0"/>
          </a:p>
        </p:txBody>
      </p:sp>
      <p:sp>
        <p:nvSpPr>
          <p:cNvPr id="6" name="tf0"/>
          <p:cNvSpPr/>
          <p:nvPr/>
        </p:nvSpPr>
        <p:spPr>
          <a:xfrm>
            <a:off x="548640" y="1920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fi0-circle"/>
          <p:cNvSpPr/>
          <p:nvPr/>
        </p:nvSpPr>
        <p:spPr>
          <a:xfrm>
            <a:off x="713232" y="20574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tf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221193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9202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Search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1920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Finds the wallet on scam-report sites, forums and social pages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920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Structured live results, not a list of links to scrape</a:t>
            </a:r>
            <a:endParaRPr lang="en-US" sz="1400" dirty="0"/>
          </a:p>
        </p:txBody>
      </p:sp>
      <p:sp>
        <p:nvSpPr>
          <p:cNvPr id="12" name="tf1"/>
          <p:cNvSpPr/>
          <p:nvPr/>
        </p:nvSpPr>
        <p:spPr>
          <a:xfrm>
            <a:off x="548640" y="2907792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fi1-circle"/>
          <p:cNvSpPr/>
          <p:nvPr/>
        </p:nvSpPr>
        <p:spPr>
          <a:xfrm>
            <a:off x="713232" y="3044952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tf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6" y="3199486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907792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Fetch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90779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each page; confirms the address is really there; reads exchange policy pages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077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text from any page, JS-rendered or not</a:t>
            </a:r>
            <a:endParaRPr lang="en-US" sz="1400" dirty="0"/>
          </a:p>
        </p:txBody>
      </p:sp>
      <p:sp>
        <p:nvSpPr>
          <p:cNvPr id="18" name="tf2"/>
          <p:cNvSpPr/>
          <p:nvPr/>
        </p:nvSpPr>
        <p:spPr>
          <a:xfrm>
            <a:off x="548640" y="3895344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fi2-circle"/>
          <p:cNvSpPr/>
          <p:nvPr/>
        </p:nvSpPr>
        <p:spPr>
          <a:xfrm>
            <a:off x="713232" y="4032504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tf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4187038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63040" y="3895344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Web Agent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2788920" y="38953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Navigates the exchange's site to its law-enforcement request process and contact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Multi-step, different on every site; returns structured JSON</a:t>
            </a:r>
            <a:endParaRPr lang="en-US" sz="1400" dirty="0"/>
          </a:p>
        </p:txBody>
      </p:sp>
      <p:sp>
        <p:nvSpPr>
          <p:cNvPr id="24" name="scraper"/>
          <p:cNvSpPr/>
          <p:nvPr/>
        </p:nvSpPr>
        <p:spPr>
          <a:xfrm>
            <a:off x="548640" y="4983480"/>
            <a:ext cx="539496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not a normal scraper?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exchange site is different, changes often and has no API. One agent goal works across all of them; a scraper needs a script per site.</a:t>
            </a:r>
            <a:endParaRPr lang="en-US" sz="1300" dirty="0"/>
          </a:p>
        </p:txBody>
      </p:sp>
      <p:sp>
        <p:nvSpPr>
          <p:cNvPr id="27" name="example"/>
          <p:cNvSpPr/>
          <p:nvPr/>
        </p:nvSpPr>
        <p:spPr>
          <a:xfrm>
            <a:off x="6172200" y="4983480"/>
            <a:ext cx="547085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4652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Example agent goal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"Find this exchange's law-enforcement request process. Don't log in. Return portal, steps, documents, contact."  Returns JSON fields we drop into the report.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Scalability, Feasibility and Use Case</a:t>
            </a:r>
            <a:endParaRPr lang="en-US" sz="3200" dirty="0"/>
          </a:p>
        </p:txBody>
      </p:sp>
      <p:sp>
        <p:nvSpPr>
          <p:cNvPr id="3" name="scope"/>
          <p:cNvSpPr/>
          <p:nvPr/>
        </p:nvSpPr>
        <p:spPr>
          <a:xfrm>
            <a:off x="548640" y="1188720"/>
            <a:ext cx="3657600" cy="498348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BUILDABLE IN 24 HOURS</a:t>
            </a:r>
            <a:endParaRPr lang="en-US" sz="1300" dirty="0"/>
          </a:p>
        </p:txBody>
      </p:sp>
      <p:sp>
        <p:nvSpPr>
          <p:cNvPr id="5" name="sc0-circle"/>
          <p:cNvSpPr/>
          <p:nvPr/>
        </p:nvSpPr>
        <p:spPr>
          <a:xfrm>
            <a:off x="822960" y="1874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sc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69618"/>
            <a:ext cx="175565" cy="1755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Two chains: Tron + Ethereum</a:t>
            </a:r>
            <a:endParaRPr lang="en-US" sz="1400" dirty="0"/>
          </a:p>
        </p:txBody>
      </p:sp>
      <p:sp>
        <p:nvSpPr>
          <p:cNvPr id="8" name="sc1-circle"/>
          <p:cNvSpPr/>
          <p:nvPr/>
        </p:nvSpPr>
        <p:spPr>
          <a:xfrm>
            <a:off x="822960" y="24414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sc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8" y="253654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flow: single reported wallet</a:t>
            </a:r>
            <a:endParaRPr lang="en-US" sz="1400" dirty="0"/>
          </a:p>
        </p:txBody>
      </p:sp>
      <p:sp>
        <p:nvSpPr>
          <p:cNvPr id="11" name="sc2-circle"/>
          <p:cNvSpPr/>
          <p:nvPr/>
        </p:nvSpPr>
        <p:spPr>
          <a:xfrm>
            <a:off x="822960" y="300837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sc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103474"/>
            <a:ext cx="175565" cy="17556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Trace to a known exchange</a:t>
            </a:r>
            <a:endParaRPr lang="en-US" sz="1400" dirty="0"/>
          </a:p>
        </p:txBody>
      </p:sp>
      <p:sp>
        <p:nvSpPr>
          <p:cNvPr id="14" name="sc3-circle"/>
          <p:cNvSpPr/>
          <p:nvPr/>
        </p:nvSpPr>
        <p:spPr>
          <a:xfrm>
            <a:off x="822960" y="3575304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sc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8" y="3670402"/>
            <a:ext cx="175565" cy="1755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TinyFish: wallet mentions + exchange contact</a:t>
            </a:r>
            <a:endParaRPr lang="en-US" sz="1400" dirty="0"/>
          </a:p>
        </p:txBody>
      </p:sp>
      <p:sp>
        <p:nvSpPr>
          <p:cNvPr id="17" name="sc4-circle"/>
          <p:cNvSpPr/>
          <p:nvPr/>
        </p:nvSpPr>
        <p:spPr>
          <a:xfrm>
            <a:off x="822960" y="4142232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sc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237330"/>
            <a:ext cx="175565" cy="17556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One-page investigator report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" y="484632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Roadmap: more chains, cross-chain bridges, ML scoring, NCRP/SAHYOG integration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4480560" y="1188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Scales by configuration</a:t>
            </a:r>
            <a:endParaRPr lang="en-US" sz="1700" dirty="0"/>
          </a:p>
        </p:txBody>
      </p:sp>
      <p:sp>
        <p:nvSpPr>
          <p:cNvPr id="22" name="scl0-circle"/>
          <p:cNvSpPr/>
          <p:nvPr/>
        </p:nvSpPr>
        <p:spPr>
          <a:xfrm>
            <a:off x="44805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scl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319" y="1868119"/>
            <a:ext cx="241402" cy="24140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166360" y="1691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exchange or chain = one config entry, no new scraper</a:t>
            </a:r>
            <a:endParaRPr lang="en-US" sz="1400" dirty="0"/>
          </a:p>
        </p:txBody>
      </p:sp>
      <p:sp>
        <p:nvSpPr>
          <p:cNvPr id="25" name="scl1-circle"/>
          <p:cNvSpPr/>
          <p:nvPr/>
        </p:nvSpPr>
        <p:spPr>
          <a:xfrm>
            <a:off x="4480560" y="2606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scl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1319" y="2736799"/>
            <a:ext cx="241402" cy="2414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66360" y="25603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Tracing and agents run in parallel via the job queue</a:t>
            </a:r>
            <a:endParaRPr lang="en-US" sz="1400" dirty="0"/>
          </a:p>
        </p:txBody>
      </p:sp>
      <p:sp>
        <p:nvSpPr>
          <p:cNvPr id="28" name="scl2-circle"/>
          <p:cNvSpPr/>
          <p:nvPr/>
        </p:nvSpPr>
        <p:spPr>
          <a:xfrm>
            <a:off x="44805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scl2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1319" y="3605479"/>
            <a:ext cx="241402" cy="24140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166360" y="3429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Exchange contacts cached and reused across cases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4480560" y="44348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Feasible now: existing blockchain APIs + TinyFish, no custom indexer</a:t>
            </a:r>
            <a:endParaRPr lang="en-US" sz="1400" dirty="0"/>
          </a:p>
        </p:txBody>
      </p:sp>
      <p:sp>
        <p:nvSpPr>
          <p:cNvPr id="32" name="Text 22"/>
          <p:cNvSpPr txBox="1"/>
          <p:nvPr/>
        </p:nvSpPr>
        <p:spPr>
          <a:xfrm>
            <a:off x="8046720" y="118872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Risks we plan for</a:t>
            </a:r>
            <a:endParaRPr lang="en-US" sz="1700" dirty="0"/>
          </a:p>
        </p:txBody>
      </p:sp>
      <p:sp>
        <p:nvSpPr>
          <p:cNvPr id="33" name="risk0"/>
          <p:cNvSpPr/>
          <p:nvPr/>
        </p:nvSpPr>
        <p:spPr>
          <a:xfrm>
            <a:off x="8046720" y="1691640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8229600" y="1783080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Agent fails on an odd site</a:t>
            </a:r>
            <a:endParaRPr lang="en-US" sz="1400" dirty="0"/>
          </a:p>
        </p:txBody>
      </p:sp>
      <p:sp>
        <p:nvSpPr>
          <p:cNvPr id="35" name="Text 25"/>
          <p:cNvSpPr txBox="1"/>
          <p:nvPr/>
        </p:nvSpPr>
        <p:spPr>
          <a:xfrm>
            <a:off x="8229600" y="212140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Retries, then manual-review flag</a:t>
            </a:r>
            <a:endParaRPr lang="en-US" sz="1300" dirty="0"/>
          </a:p>
        </p:txBody>
      </p:sp>
      <p:sp>
        <p:nvSpPr>
          <p:cNvPr id="36" name="risk1"/>
          <p:cNvSpPr/>
          <p:nvPr/>
        </p:nvSpPr>
        <p:spPr>
          <a:xfrm>
            <a:off x="8046720" y="2715768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8229600" y="2807208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Exchange labels incomplete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8229600" y="3145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Infer deposit addresses from sweep behaviour</a:t>
            </a:r>
            <a:endParaRPr lang="en-US" sz="1300" dirty="0"/>
          </a:p>
        </p:txBody>
      </p:sp>
      <p:sp>
        <p:nvSpPr>
          <p:cNvPr id="39" name="risk2"/>
          <p:cNvSpPr/>
          <p:nvPr/>
        </p:nvSpPr>
        <p:spPr>
          <a:xfrm>
            <a:off x="8046720" y="3739896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8229600" y="3831336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False positives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8229600" y="4169664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Human review; score explained point by point</a:t>
            </a:r>
            <a:endParaRPr lang="en-US" sz="1300" dirty="0"/>
          </a:p>
        </p:txBody>
      </p:sp>
      <p:sp>
        <p:nvSpPr>
          <p:cNvPr id="42" name="risk3"/>
          <p:cNvSpPr/>
          <p:nvPr/>
        </p:nvSpPr>
        <p:spPr>
          <a:xfrm>
            <a:off x="8046720" y="4764024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29600" y="4855464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Legal limits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8229600" y="5193792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Authorised use, audit log, agents never log 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Case: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real public case shows the payoff: once the right company is found and asked, scam funds get frozen</a:t>
            </a:r>
            <a:endParaRPr lang="en-US" sz="1700" dirty="0"/>
          </a:p>
        </p:txBody>
      </p:sp>
      <p:sp>
        <p:nvSpPr>
          <p:cNvPr id="4" name="case"/>
          <p:cNvSpPr/>
          <p:nvPr/>
        </p:nvSpPr>
        <p:spPr>
          <a:xfrm>
            <a:off x="548640" y="1691640"/>
            <a:ext cx="11094415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NOVEMBER 2023  |  PIG-BUTCHERING SCAM</a:t>
            </a:r>
            <a:endParaRPr lang="en-US" sz="1200" dirty="0"/>
          </a:p>
        </p:txBody>
      </p:sp>
      <p:sp>
        <p:nvSpPr>
          <p:cNvPr id="6" name="case-trail-line"/>
          <p:cNvSpPr/>
          <p:nvPr/>
        </p:nvSpPr>
        <p:spPr>
          <a:xfrm>
            <a:off x="1914114" y="2432304"/>
            <a:ext cx="836346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case-trail-n0"/>
          <p:cNvSpPr/>
          <p:nvPr/>
        </p:nvSpPr>
        <p:spPr>
          <a:xfrm>
            <a:off x="1813530" y="2331720"/>
            <a:ext cx="201168" cy="201168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case-trail-n1"/>
          <p:cNvSpPr/>
          <p:nvPr/>
        </p:nvSpPr>
        <p:spPr>
          <a:xfrm>
            <a:off x="3904397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9" name="case-trail-n2"/>
          <p:cNvSpPr/>
          <p:nvPr/>
        </p:nvSpPr>
        <p:spPr>
          <a:xfrm>
            <a:off x="5995264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0" name="case-trail-n3"/>
          <p:cNvSpPr/>
          <p:nvPr/>
        </p:nvSpPr>
        <p:spPr>
          <a:xfrm>
            <a:off x="8086131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1" name="case-trail-n4"/>
          <p:cNvSpPr/>
          <p:nvPr/>
        </p:nvSpPr>
        <p:spPr>
          <a:xfrm>
            <a:off x="10140422" y="2295144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70+ victims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paid a Southeast Asian scam syndicate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05267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USDT in self-custody wallets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05267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funds parked across the syndicate's wallets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6134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Traced on-chain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96134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by OKX and Tether using Chainalysis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87001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Freeze request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187001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from the US Secret Service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77868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$225M frozen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77868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largest USDT freeze to 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Sources: Blockworks, OCCRP, Benzinga coverage of the Tether / OKX announcement (Nov 2023)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ChainSight automates for an Indian cyber cell, in the same flow</a:t>
            </a:r>
            <a:endParaRPr lang="en-US" sz="1700" dirty="0"/>
          </a:p>
        </p:txBody>
      </p:sp>
      <p:sp>
        <p:nvSpPr>
          <p:cNvPr id="24" name="fit0-circle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it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5034686"/>
            <a:ext cx="263347" cy="26334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enters the reported wallet from the NCRP complaint</a:t>
            </a:r>
            <a:endParaRPr lang="en-US" sz="1400" dirty="0"/>
          </a:p>
        </p:txBody>
      </p:sp>
      <p:sp>
        <p:nvSpPr>
          <p:cNvPr id="27" name="fit1-circle"/>
          <p:cNvSpPr/>
          <p:nvPr/>
        </p:nvSpPr>
        <p:spPr>
          <a:xfrm>
            <a:off x="3379394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fit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040" y="5034686"/>
            <a:ext cx="263347" cy="26334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065194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Funds traced to an exchange deposit address</a:t>
            </a:r>
            <a:endParaRPr lang="en-US" sz="1400" dirty="0"/>
          </a:p>
        </p:txBody>
      </p:sp>
      <p:sp>
        <p:nvSpPr>
          <p:cNvPr id="30" name="fit2-circle"/>
          <p:cNvSpPr/>
          <p:nvPr/>
        </p:nvSpPr>
        <p:spPr>
          <a:xfrm>
            <a:off x="6210148" y="4892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fit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794" y="503468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6895948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TinyFish finds public reports and the exchange's request process</a:t>
            </a:r>
            <a:endParaRPr lang="en-US" sz="1400" dirty="0"/>
          </a:p>
        </p:txBody>
      </p:sp>
      <p:sp>
        <p:nvSpPr>
          <p:cNvPr id="33" name="fit3-circle"/>
          <p:cNvSpPr/>
          <p:nvPr/>
        </p:nvSpPr>
        <p:spPr>
          <a:xfrm>
            <a:off x="9040901" y="4892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fit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3548" y="5034686"/>
            <a:ext cx="263347" cy="263347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726701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reviews and sends the pre-filled freeze request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Goal: an investigator-ready request in minutes instead of days of manual tracing and research (to be measured in the build).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/ Prototype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Figma-style mockup of the investigator report (illustrative data)</a:t>
            </a:r>
            <a:endParaRPr lang="en-US" sz="1300" dirty="0"/>
          </a:p>
        </p:txBody>
      </p:sp>
      <p:sp>
        <p:nvSpPr>
          <p:cNvPr id="4" name="mk-frame"/>
          <p:cNvSpPr/>
          <p:nvPr/>
        </p:nvSpPr>
        <p:spPr>
          <a:xfrm>
            <a:off x="548640" y="1463040"/>
            <a:ext cx="7863840" cy="4800600"/>
          </a:xfrm>
          <a:prstGeom prst="roundRect">
            <a:avLst>
              <a:gd name="adj" fmla="val 1524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5" name="mk-bar"/>
          <p:cNvSpPr/>
          <p:nvPr/>
        </p:nvSpPr>
        <p:spPr>
          <a:xfrm>
            <a:off x="548640" y="1463040"/>
            <a:ext cx="7863840" cy="457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ChainSight   Case NCRP-2025-0412   |   Tron</a:t>
            </a:r>
            <a:endParaRPr lang="en-US" sz="1200" dirty="0"/>
          </a:p>
        </p:txBody>
      </p:sp>
      <p:sp>
        <p:nvSpPr>
          <p:cNvPr id="7" name="mk-dl"/>
          <p:cNvSpPr/>
          <p:nvPr/>
        </p:nvSpPr>
        <p:spPr>
          <a:xfrm>
            <a:off x="6720840" y="1554480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1554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Download report</a:t>
            </a:r>
            <a:endParaRPr lang="en-US" sz="1100" dirty="0"/>
          </a:p>
        </p:txBody>
      </p:sp>
      <p:sp>
        <p:nvSpPr>
          <p:cNvPr id="9" name="mk-k0"/>
          <p:cNvSpPr/>
          <p:nvPr/>
        </p:nvSpPr>
        <p:spPr>
          <a:xfrm>
            <a:off x="77724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RISK LEAD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High  82/100</a:t>
            </a:r>
            <a:endParaRPr lang="en-US" sz="1400" dirty="0"/>
          </a:p>
        </p:txBody>
      </p:sp>
      <p:sp>
        <p:nvSpPr>
          <p:cNvPr id="12" name="mk-k1"/>
          <p:cNvSpPr/>
          <p:nvPr/>
        </p:nvSpPr>
        <p:spPr>
          <a:xfrm>
            <a:off x="266319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0035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EXCHANGE, 3 HOPS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0035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Exchange X</a:t>
            </a:r>
            <a:endParaRPr lang="en-US" sz="1400" dirty="0"/>
          </a:p>
        </p:txBody>
      </p:sp>
      <p:sp>
        <p:nvSpPr>
          <p:cNvPr id="15" name="mk-k2"/>
          <p:cNvSpPr/>
          <p:nvPr/>
        </p:nvSpPr>
        <p:spPr>
          <a:xfrm>
            <a:off x="454914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630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FREEZE TARGET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630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Deposit TQ7…9F2</a:t>
            </a:r>
            <a:endParaRPr lang="en-US" sz="1400" dirty="0"/>
          </a:p>
        </p:txBody>
      </p:sp>
      <p:sp>
        <p:nvSpPr>
          <p:cNvPr id="18" name="mk-k3"/>
          <p:cNvSpPr/>
          <p:nvPr/>
        </p:nvSpPr>
        <p:spPr>
          <a:xfrm>
            <a:off x="643509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7225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EVIDENCE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7225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6 pages hashed</a:t>
            </a:r>
            <a:endParaRPr lang="en-US" sz="1400" dirty="0"/>
          </a:p>
        </p:txBody>
      </p:sp>
      <p:sp>
        <p:nvSpPr>
          <p:cNvPr id="21" name="mk-graph"/>
          <p:cNvSpPr/>
          <p:nvPr/>
        </p:nvSpPr>
        <p:spPr>
          <a:xfrm>
            <a:off x="777240" y="3063240"/>
            <a:ext cx="420624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 flow</a:t>
            </a:r>
            <a:endParaRPr lang="en-US" sz="1100" dirty="0"/>
          </a:p>
        </p:txBody>
      </p:sp>
      <p:sp>
        <p:nvSpPr>
          <p:cNvPr id="23" name="mk-e0"/>
          <p:cNvSpPr/>
          <p:nvPr/>
        </p:nvSpPr>
        <p:spPr>
          <a:xfrm>
            <a:off x="1207008" y="42702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4" name="mk-e1"/>
          <p:cNvSpPr/>
          <p:nvPr/>
        </p:nvSpPr>
        <p:spPr>
          <a:xfrm flipV="1">
            <a:off x="2029968" y="3813048"/>
            <a:ext cx="822960" cy="4572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5" name="mk-e2"/>
          <p:cNvSpPr/>
          <p:nvPr/>
        </p:nvSpPr>
        <p:spPr>
          <a:xfrm>
            <a:off x="2029968" y="4270248"/>
            <a:ext cx="822960" cy="4572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6" name="mk-e3"/>
          <p:cNvSpPr/>
          <p:nvPr/>
        </p:nvSpPr>
        <p:spPr>
          <a:xfrm>
            <a:off x="2852928" y="38130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7" name="mk-e4"/>
          <p:cNvSpPr/>
          <p:nvPr/>
        </p:nvSpPr>
        <p:spPr>
          <a:xfrm>
            <a:off x="3675888" y="38130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8" name="mk-e5"/>
          <p:cNvSpPr/>
          <p:nvPr/>
        </p:nvSpPr>
        <p:spPr>
          <a:xfrm>
            <a:off x="2852928" y="4727448"/>
            <a:ext cx="8229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9" name="mk-n0"/>
          <p:cNvSpPr/>
          <p:nvPr/>
        </p:nvSpPr>
        <p:spPr>
          <a:xfrm>
            <a:off x="1097280" y="41605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0" name="mk-n1"/>
          <p:cNvSpPr/>
          <p:nvPr/>
        </p:nvSpPr>
        <p:spPr>
          <a:xfrm>
            <a:off x="1920240" y="41605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1" name="mk-n2"/>
          <p:cNvSpPr/>
          <p:nvPr/>
        </p:nvSpPr>
        <p:spPr>
          <a:xfrm>
            <a:off x="2743200" y="37033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2" name="mk-n3"/>
          <p:cNvSpPr/>
          <p:nvPr/>
        </p:nvSpPr>
        <p:spPr>
          <a:xfrm>
            <a:off x="2743200" y="46177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3" name="mk-n4"/>
          <p:cNvSpPr/>
          <p:nvPr/>
        </p:nvSpPr>
        <p:spPr>
          <a:xfrm>
            <a:off x="3566160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4" name="mk-n5"/>
          <p:cNvSpPr/>
          <p:nvPr/>
        </p:nvSpPr>
        <p:spPr>
          <a:xfrm>
            <a:off x="4389120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3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5" name="mk-n6"/>
          <p:cNvSpPr/>
          <p:nvPr/>
        </p:nvSpPr>
        <p:spPr>
          <a:xfrm>
            <a:off x="3566160" y="46177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4434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reported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33756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deposit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exchange</a:t>
            </a:r>
            <a:endParaRPr lang="en-US" sz="1000" dirty="0"/>
          </a:p>
        </p:txBody>
      </p:sp>
      <p:sp>
        <p:nvSpPr>
          <p:cNvPr id="39" name="mk-contact"/>
          <p:cNvSpPr/>
          <p:nvPr/>
        </p:nvSpPr>
        <p:spPr>
          <a:xfrm>
            <a:off x="5166360" y="3063240"/>
            <a:ext cx="30175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3035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Exchange X: law-enforcement contact</a:t>
            </a:r>
            <a:endParaRPr lang="en-US" sz="1200" dirty="0"/>
          </a:p>
        </p:txBody>
      </p:sp>
      <p:sp>
        <p:nvSpPr>
          <p:cNvPr id="41" name="mk-tf"/>
          <p:cNvSpPr/>
          <p:nvPr/>
        </p:nvSpPr>
        <p:spPr>
          <a:xfrm>
            <a:off x="5303520" y="347472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03520" y="347472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found by TinyFish Agent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840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Portal: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 request form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Steps: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official email, notice, submit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Docs: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notice, officer ID, FIR no.</a:t>
            </a:r>
            <a:endParaRPr lang="en-US" sz="1100" dirty="0"/>
          </a:p>
        </p:txBody>
      </p:sp>
      <p:sp>
        <p:nvSpPr>
          <p:cNvPr id="44" name="mk-freeze"/>
          <p:cNvSpPr/>
          <p:nvPr/>
        </p:nvSpPr>
        <p:spPr>
          <a:xfrm>
            <a:off x="5303520" y="4507992"/>
            <a:ext cx="274320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03520" y="4507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Generate freeze request</a:t>
            </a:r>
            <a:endParaRPr lang="en-US" sz="1100" dirty="0"/>
          </a:p>
        </p:txBody>
      </p:sp>
      <p:sp>
        <p:nvSpPr>
          <p:cNvPr id="46" name="mk-ev"/>
          <p:cNvSpPr/>
          <p:nvPr/>
        </p:nvSpPr>
        <p:spPr>
          <a:xfrm>
            <a:off x="777240" y="5074920"/>
            <a:ext cx="7406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148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Evidence trail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14400" y="5458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10:42 UTC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65960" y="54589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Scam-report page mentioning the wallet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5458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sha256 3f9a…c1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14400" y="5751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10:43 UTC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965960" y="57515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Exchange X law-enforcement page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6172200" y="57515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sha256 8b21…7e</a:t>
            </a:r>
            <a:endParaRPr lang="en-US" sz="1100" dirty="0"/>
          </a:p>
        </p:txBody>
      </p:sp>
      <p:sp>
        <p:nvSpPr>
          <p:cNvPr id="54" name="co0"/>
          <p:cNvSpPr/>
          <p:nvPr/>
        </p:nvSpPr>
        <p:spPr>
          <a:xfrm>
            <a:off x="8732520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32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9372600" y="149047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Risk lead with reasons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9372600" y="187452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Explained score, never a verdict</a:t>
            </a:r>
            <a:endParaRPr lang="en-US" sz="1300" dirty="0"/>
          </a:p>
        </p:txBody>
      </p:sp>
      <p:sp>
        <p:nvSpPr>
          <p:cNvPr id="58" name="co1"/>
          <p:cNvSpPr/>
          <p:nvPr/>
        </p:nvSpPr>
        <p:spPr>
          <a:xfrm>
            <a:off x="873252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732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9372600" y="267919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Path to the money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9372600" y="306324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Hops from the reported wallet to the exchange</a:t>
            </a:r>
            <a:endParaRPr lang="en-US" sz="1300" dirty="0"/>
          </a:p>
        </p:txBody>
      </p:sp>
      <p:sp>
        <p:nvSpPr>
          <p:cNvPr id="62" name="co2"/>
          <p:cNvSpPr/>
          <p:nvPr/>
        </p:nvSpPr>
        <p:spPr>
          <a:xfrm>
            <a:off x="8732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32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9372600" y="386791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to contact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372600" y="425196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Found by the TinyFish agent</a:t>
            </a:r>
            <a:endParaRPr lang="en-US" sz="1300" dirty="0"/>
          </a:p>
        </p:txBody>
      </p:sp>
      <p:sp>
        <p:nvSpPr>
          <p:cNvPr id="66" name="co3"/>
          <p:cNvSpPr/>
          <p:nvPr/>
        </p:nvSpPr>
        <p:spPr>
          <a:xfrm>
            <a:off x="8732520" y="5074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7325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68" name="Text 66"/>
          <p:cNvSpPr txBox="1"/>
          <p:nvPr/>
        </p:nvSpPr>
        <p:spPr>
          <a:xfrm>
            <a:off x="9372600" y="505663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Proof for the case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544068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Timestamped, hashed page snapshots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inSight Trail">
  <a:themeElements>
    <a:clrScheme name="ChainSight Trail">
      <a:dk1>
        <a:srgbClr val="0B1220"/>
      </a:dk1>
      <a:lt1>
        <a:srgbClr val="FFFFFF"/>
      </a:lt1>
      <a:dk2>
        <a:srgbClr val="1B2A41"/>
      </a:dk2>
      <a:lt2>
        <a:srgbClr val="EEF2F7"/>
      </a:lt2>
      <a:accent1>
        <a:srgbClr val="E8762B"/>
      </a:accent1>
      <a:accent2>
        <a:srgbClr val="2F6FED"/>
      </a:accent2>
      <a:accent3>
        <a:srgbClr val="23944A"/>
      </a:accent3>
      <a:accent4>
        <a:srgbClr val="D64545"/>
      </a:accent4>
      <a:accent5>
        <a:srgbClr val="64748B"/>
      </a:accent5>
      <a:accent6>
        <a:srgbClr val="0E9AA7"/>
      </a:accent6>
      <a:hlink>
        <a:srgbClr val="2F6FED"/>
      </a:hlink>
      <a:folHlink>
        <a:srgbClr val="6D28D9"/>
      </a:folHlink>
    </a:clrScheme>
    <a:fontScheme name="ChainSight Trai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ChainSight - Round 1 submission</dc:title>
  <dc:subject>PptxGenJS Presentation</dc:subject>
  <dc:creator>PptxGenJS</dc:creator>
  <cp:lastModifiedBy>PptxGenJS</cp:lastModifiedBy>
  <cp:revision>1</cp:revision>
  <dcterms:created xsi:type="dcterms:W3CDTF">2026-10-11T09:40:28Z</dcterms:created>
  <dcterms:modified xsi:type="dcterms:W3CDTF">2026-10-11T09:40:28Z</dcterms:modified>
</cp:coreProperties>
</file>