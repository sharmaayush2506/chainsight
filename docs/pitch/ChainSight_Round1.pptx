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c99415-122e-c1ba-3c42-f6368e4e915f}">
          <p14:sldIdLst>
            <p14:sldId id="256"/>
            <p14:sldId id="257"/>
          </p14:sldIdLst>
        </p14:section>
        <p14:section name="Problem" id="{88282426-6dc0-4a86-843f-e5791af26a41}">
          <p14:sldIdLst>
            <p14:sldId id="258"/>
            <p14:sldId id="259"/>
          </p14:sldIdLst>
        </p14:section>
        <p14:section name="Solution" id="{4a004ad6-56a0-cb5c-7b11-c68a538c59c8}">
          <p14:sldIdLst>
            <p14:sldId id="260"/>
            <p14:sldId id="261"/>
          </p14:sldIdLst>
        </p14:section>
        <p14:section name="Users" id="{07a7cf13-ffe4-c973-760d-4503042cc329}">
          <p14:sldIdLst>
            <p14:sldId id="262"/>
          </p14:sldIdLst>
        </p14:section>
        <p14:section name="Architecture" id="{0e120015-2c58-7d2c-a394-ffbabca01f9f}">
          <p14:sldIdLst>
            <p14:sldId id="263"/>
            <p14:sldId id="264"/>
          </p14:sldIdLst>
        </p14:section>
        <p14:section name="TinyFish" id="{32b82a81-6e1f-41bb-3d47-c69712c31b71}">
          <p14:sldIdLst>
            <p14:sldId id="265"/>
            <p14:sldId id="266"/>
          </p14:sldIdLst>
        </p14:section>
        <p14:section name="Scale" id="{344ec1ef-293e-ef93-32ec-26a1b22e5245}">
          <p14:sldIdLst>
            <p14:sldId id="267"/>
            <p14:sldId id="268"/>
          </p14:sldIdLst>
        </p14:section>
        <p14:section name="Prototype" id="{f2cc0a65-76ab-5d4b-e218-a7596711b197}">
          <p14:sldIdLst>
            <p14:sldId id="269"/>
            <p14:sldId id="270"/>
          </p14:sldIdLst>
        </p14:section>
        <p14:section name="Close" id="{50b58306-88c1-1fb1-a0f8-b6027babc4d8}">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ChainSight traces scam money to the exchange that can freeze it, then uses TinyFish web agents to do the web research investigators do by hand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949440" cy="1188720"/>
          </a:xfrm>
          <a:prstGeom prst="rect">
            <a:avLst/>
          </a:prstGeom>
          <a:noFill/>
          <a:ln/>
        </p:spPr>
        <p:txBody>
          <a:bodyPr wrap="square" rtlCol="0"/>
          <a:lstStyle>
            <a:lvl1pPr algn="l" indent="0" marL="0">
              <a:buNone/>
              <a:defRPr lang="en-US" sz="5400" b="1" dirty="0">
                <a:solidFill>
                  <a:schemeClr val="bg1"/>
                </a:solidFill>
                <a:latin typeface="Arial" pitchFamily="34" charset="0"/>
                <a:ea typeface="Arial" pitchFamily="34" charset="-122"/>
                <a:cs typeface="Arial" pitchFamily="34" charset="-120"/>
              </a:defRPr>
            </a:lvl1pPr>
          </a:lstStyle>
          <a:p>
            <a:pPr algn="l" indent="0" marL="0">
              <a:buNone/>
            </a:pPr>
            <a:endParaRPr lang="en-US" sz="5400" dirty="0"/>
          </a:p>
        </p:txBody>
      </p:sp>
      <p:sp>
        <p:nvSpPr>
          <p:cNvPr id="3" name="Text 0"/>
          <p:cNvSpPr/>
          <p:nvPr>
            <p:ph idx="101" type="body" hasCustomPrompt="1"/>
          </p:nvPr>
        </p:nvSpPr>
        <p:spPr>
          <a:xfrm>
            <a:off x="548640" y="3337560"/>
            <a:ext cx="6583680" cy="11887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ChainSight  |  Round 1 submission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949440" cy="1188720"/>
          </a:xfrm>
          <a:prstGeom prst="rect">
            <a:avLst/>
          </a:prstGeom>
          <a:noFill/>
          <a:ln/>
        </p:spPr>
        <p:txBody>
          <a:bodyPr wrap="square" lIns="0" tIns="0" rIns="0" bIns="0" rtlCol="0" anchor="b"/>
          <a:lstStyle/>
          <a:p>
            <a:pPr algn="l" indent="0" marL="0">
              <a:buNone/>
            </a:pPr>
            <a:r>
              <a:rPr lang="en-US" sz="5400" b="1" dirty="0">
                <a:solidFill>
                  <a:schemeClr val="bg1"/>
                </a:solidFill>
                <a:latin typeface="Arial" pitchFamily="34" charset="0"/>
                <a:ea typeface="Arial" pitchFamily="34" charset="-122"/>
                <a:cs typeface="Arial" pitchFamily="34" charset="-120"/>
              </a:rPr>
              <a:t>ChainSight</a:t>
            </a:r>
            <a:endParaRPr lang="en-US" sz="5400" dirty="0"/>
          </a:p>
        </p:txBody>
      </p:sp>
      <p:sp>
        <p:nvSpPr>
          <p:cNvPr id="3" name="Text 0"/>
          <p:cNvSpPr/>
          <p:nvPr>
            <p:ph idx="101" type="body" hasCustomPrompt="1"/>
          </p:nvPr>
        </p:nvSpPr>
        <p:spPr>
          <a:xfrm>
            <a:off x="548640" y="3337560"/>
            <a:ext cx="6583680" cy="1188720"/>
          </a:xfrm>
          <a:prstGeom prst="rect">
            <a:avLst/>
          </a:prstGeom>
          <a:noFill/>
          <a:ln/>
        </p:spPr>
        <p:txBody>
          <a:bodyPr wrap="square" lIns="0" tIns="0" rIns="0" bIns="0" rtlCol="0" anchor="t"/>
          <a:lstStyle/>
          <a:p>
            <a:pPr algn="l" indent="0" marL="0">
              <a:buNone/>
            </a:pPr>
            <a:r>
              <a:rPr lang="en-US" sz="2200" dirty="0">
                <a:solidFill>
                  <a:schemeClr val="bg2"/>
                </a:solidFill>
              </a:rPr>
              <a:t>From a reported scam wallet to a ready-to-send freeze request, in one automated investigator report</a:t>
            </a:r>
            <a:endParaRPr lang="en-US" sz="2200" dirty="0"/>
          </a:p>
        </p:txBody>
      </p:sp>
      <p:sp>
        <p:nvSpPr>
          <p:cNvPr id="4" name="Text 2"/>
          <p:cNvSpPr txBox="1"/>
          <p:nvPr/>
        </p:nvSpPr>
        <p:spPr>
          <a:xfrm>
            <a:off x="548640" y="5029200"/>
            <a:ext cx="6858000" cy="365760"/>
          </a:xfrm>
          <a:prstGeom prst="rect">
            <a:avLst/>
          </a:prstGeom>
          <a:noFill/>
          <a:ln/>
        </p:spPr>
        <p:txBody>
          <a:bodyPr wrap="square" lIns="0" tIns="0" rIns="0" bIns="0" rtlCol="0" anchor="t"/>
          <a:lstStyle/>
          <a:p>
            <a:pPr indent="0" marL="0">
              <a:buNone/>
            </a:pPr>
            <a:r>
              <a:rPr lang="en-US" sz="1600" b="1" dirty="0">
                <a:solidFill>
                  <a:schemeClr val="accent1"/>
                </a:solidFill>
              </a:rPr>
              <a:t>Team [Team name]   |   Powered by TinyFish web agents</a:t>
            </a:r>
            <a:endParaRPr lang="en-US" sz="1600" dirty="0"/>
          </a:p>
        </p:txBody>
      </p:sp>
      <p:sp>
        <p:nvSpPr>
          <p:cNvPr id="5" name="title-edge0"/>
          <p:cNvSpPr/>
          <p:nvPr/>
        </p:nvSpPr>
        <p:spPr>
          <a:xfrm>
            <a:off x="8366760" y="1965960"/>
            <a:ext cx="914400" cy="640080"/>
          </a:xfrm>
          <a:prstGeom prst="line">
            <a:avLst/>
          </a:prstGeom>
          <a:noFill/>
          <a:ln w="31750">
            <a:solidFill>
              <a:schemeClr val="accent1"/>
            </a:solidFill>
            <a:prstDash val="dash"/>
          </a:ln>
        </p:spPr>
      </p:sp>
      <p:sp>
        <p:nvSpPr>
          <p:cNvPr id="6" name="title-edge1"/>
          <p:cNvSpPr/>
          <p:nvPr/>
        </p:nvSpPr>
        <p:spPr>
          <a:xfrm flipH="1">
            <a:off x="8732520" y="2606040"/>
            <a:ext cx="548640" cy="914400"/>
          </a:xfrm>
          <a:prstGeom prst="line">
            <a:avLst/>
          </a:prstGeom>
          <a:noFill/>
          <a:ln w="31750">
            <a:solidFill>
              <a:schemeClr val="accent1"/>
            </a:solidFill>
            <a:prstDash val="dash"/>
          </a:ln>
        </p:spPr>
      </p:sp>
      <p:sp>
        <p:nvSpPr>
          <p:cNvPr id="7" name="title-edge2"/>
          <p:cNvSpPr/>
          <p:nvPr/>
        </p:nvSpPr>
        <p:spPr>
          <a:xfrm>
            <a:off x="8732520" y="3520440"/>
            <a:ext cx="1097280" cy="457200"/>
          </a:xfrm>
          <a:prstGeom prst="line">
            <a:avLst/>
          </a:prstGeom>
          <a:noFill/>
          <a:ln w="31750">
            <a:solidFill>
              <a:schemeClr val="accent1"/>
            </a:solidFill>
            <a:prstDash val="dash"/>
          </a:ln>
        </p:spPr>
      </p:sp>
      <p:sp>
        <p:nvSpPr>
          <p:cNvPr id="8" name="title-edge3"/>
          <p:cNvSpPr/>
          <p:nvPr/>
        </p:nvSpPr>
        <p:spPr>
          <a:xfrm flipH="1">
            <a:off x="9829800" y="3063240"/>
            <a:ext cx="822960" cy="914400"/>
          </a:xfrm>
          <a:prstGeom prst="line">
            <a:avLst/>
          </a:prstGeom>
          <a:noFill/>
          <a:ln w="31750">
            <a:solidFill>
              <a:schemeClr val="accent1"/>
            </a:solidFill>
            <a:prstDash val="dash"/>
          </a:ln>
        </p:spPr>
      </p:sp>
      <p:sp>
        <p:nvSpPr>
          <p:cNvPr id="9" name="title-edge4"/>
          <p:cNvSpPr/>
          <p:nvPr/>
        </p:nvSpPr>
        <p:spPr>
          <a:xfrm>
            <a:off x="10652760" y="3063240"/>
            <a:ext cx="548640" cy="1554480"/>
          </a:xfrm>
          <a:prstGeom prst="line">
            <a:avLst/>
          </a:prstGeom>
          <a:noFill/>
          <a:ln w="31750">
            <a:solidFill>
              <a:schemeClr val="accent1"/>
            </a:solidFill>
            <a:prstDash val="dash"/>
          </a:ln>
        </p:spPr>
      </p:sp>
      <p:sp>
        <p:nvSpPr>
          <p:cNvPr id="10" name="title-node0"/>
          <p:cNvSpPr/>
          <p:nvPr/>
        </p:nvSpPr>
        <p:spPr>
          <a:xfrm>
            <a:off x="8229600" y="1828800"/>
            <a:ext cx="274320" cy="274320"/>
          </a:xfrm>
          <a:prstGeom prst="ellipse">
            <a:avLst/>
          </a:prstGeom>
          <a:solidFill>
            <a:schemeClr val="accent4"/>
          </a:solidFill>
          <a:ln w="25400">
            <a:solidFill>
              <a:srgbClr val="0B1220"/>
            </a:solidFill>
            <a:prstDash val="solid"/>
          </a:ln>
        </p:spPr>
      </p:sp>
      <p:sp>
        <p:nvSpPr>
          <p:cNvPr id="11" name="title-node1"/>
          <p:cNvSpPr/>
          <p:nvPr/>
        </p:nvSpPr>
        <p:spPr>
          <a:xfrm>
            <a:off x="9144000" y="2468880"/>
            <a:ext cx="274320" cy="274320"/>
          </a:xfrm>
          <a:prstGeom prst="ellipse">
            <a:avLst/>
          </a:prstGeom>
          <a:solidFill>
            <a:schemeClr val="accent1"/>
          </a:solidFill>
          <a:ln w="25400">
            <a:solidFill>
              <a:srgbClr val="0B1220"/>
            </a:solidFill>
            <a:prstDash val="solid"/>
          </a:ln>
        </p:spPr>
      </p:sp>
      <p:sp>
        <p:nvSpPr>
          <p:cNvPr id="12" name="title-node2"/>
          <p:cNvSpPr/>
          <p:nvPr/>
        </p:nvSpPr>
        <p:spPr>
          <a:xfrm>
            <a:off x="8595360" y="3383280"/>
            <a:ext cx="274320" cy="274320"/>
          </a:xfrm>
          <a:prstGeom prst="ellipse">
            <a:avLst/>
          </a:prstGeom>
          <a:solidFill>
            <a:schemeClr val="accent1"/>
          </a:solidFill>
          <a:ln w="25400">
            <a:solidFill>
              <a:srgbClr val="0B1220"/>
            </a:solidFill>
            <a:prstDash val="solid"/>
          </a:ln>
        </p:spPr>
      </p:sp>
      <p:sp>
        <p:nvSpPr>
          <p:cNvPr id="13" name="title-node3"/>
          <p:cNvSpPr/>
          <p:nvPr/>
        </p:nvSpPr>
        <p:spPr>
          <a:xfrm>
            <a:off x="9692640" y="3840480"/>
            <a:ext cx="274320" cy="274320"/>
          </a:xfrm>
          <a:prstGeom prst="ellipse">
            <a:avLst/>
          </a:prstGeom>
          <a:solidFill>
            <a:schemeClr val="accent1"/>
          </a:solidFill>
          <a:ln w="25400">
            <a:solidFill>
              <a:srgbClr val="0B1220"/>
            </a:solidFill>
            <a:prstDash val="solid"/>
          </a:ln>
        </p:spPr>
      </p:sp>
      <p:sp>
        <p:nvSpPr>
          <p:cNvPr id="14" name="title-node4"/>
          <p:cNvSpPr/>
          <p:nvPr/>
        </p:nvSpPr>
        <p:spPr>
          <a:xfrm>
            <a:off x="10515600" y="2926080"/>
            <a:ext cx="274320" cy="274320"/>
          </a:xfrm>
          <a:prstGeom prst="ellipse">
            <a:avLst/>
          </a:prstGeom>
          <a:solidFill>
            <a:schemeClr val="accent1"/>
          </a:solidFill>
          <a:ln w="25400">
            <a:solidFill>
              <a:srgbClr val="0B1220"/>
            </a:solidFill>
            <a:prstDash val="solid"/>
          </a:ln>
        </p:spPr>
      </p:sp>
      <p:sp>
        <p:nvSpPr>
          <p:cNvPr id="15" name="title-node5"/>
          <p:cNvSpPr/>
          <p:nvPr/>
        </p:nvSpPr>
        <p:spPr>
          <a:xfrm>
            <a:off x="11064240" y="4480560"/>
            <a:ext cx="274320" cy="274320"/>
          </a:xfrm>
          <a:prstGeom prst="roundRect">
            <a:avLst>
              <a:gd name="adj" fmla="val 20000"/>
            </a:avLst>
          </a:prstGeom>
          <a:solidFill>
            <a:schemeClr val="accent3"/>
          </a:solidFill>
          <a:ln w="25400">
            <a:solidFill>
              <a:srgbClr val="0B1220"/>
            </a:solidFill>
            <a:prstDash val="solid"/>
          </a:ln>
        </p:spPr>
      </p:sp>
      <p:sp>
        <p:nvSpPr>
          <p:cNvPr id="16" name="Text 14"/>
          <p:cNvSpPr txBox="1"/>
          <p:nvPr/>
        </p:nvSpPr>
        <p:spPr>
          <a:xfrm>
            <a:off x="7498080" y="1463040"/>
            <a:ext cx="1645920" cy="274320"/>
          </a:xfrm>
          <a:prstGeom prst="rect">
            <a:avLst/>
          </a:prstGeom>
          <a:noFill/>
          <a:ln/>
        </p:spPr>
        <p:txBody>
          <a:bodyPr wrap="square" lIns="0" tIns="0" rIns="0" bIns="0" rtlCol="0" anchor="t"/>
          <a:lstStyle/>
          <a:p>
            <a:pPr indent="0" marL="0">
              <a:buNone/>
            </a:pPr>
            <a:r>
              <a:rPr lang="en-US" sz="1200" dirty="0">
                <a:solidFill>
                  <a:schemeClr val="bg2"/>
                </a:solidFill>
              </a:rPr>
              <a:t>Reported wallet</a:t>
            </a:r>
            <a:endParaRPr lang="en-US" sz="1200" dirty="0"/>
          </a:p>
        </p:txBody>
      </p:sp>
      <p:sp>
        <p:nvSpPr>
          <p:cNvPr id="17" name="Text 15"/>
          <p:cNvSpPr txBox="1"/>
          <p:nvPr/>
        </p:nvSpPr>
        <p:spPr>
          <a:xfrm>
            <a:off x="10332720" y="4846320"/>
            <a:ext cx="1737360" cy="274320"/>
          </a:xfrm>
          <a:prstGeom prst="rect">
            <a:avLst/>
          </a:prstGeom>
          <a:noFill/>
          <a:ln/>
        </p:spPr>
        <p:txBody>
          <a:bodyPr wrap="square" lIns="0" tIns="0" rIns="0" bIns="0" rtlCol="0" anchor="t"/>
          <a:lstStyle/>
          <a:p>
            <a:pPr indent="0" marL="0">
              <a:buNone/>
            </a:pPr>
            <a:r>
              <a:rPr lang="en-US" sz="1200" dirty="0">
                <a:solidFill>
                  <a:schemeClr val="bg2"/>
                </a:solidFill>
              </a:rPr>
              <a:t>Exchange deposit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Team details</a:t>
            </a:r>
            <a:endParaRPr lang="en-US" sz="3200" dirty="0"/>
          </a:p>
        </p:txBody>
      </p:sp>
      <p:sp>
        <p:nvSpPr>
          <p:cNvPr id="3" name="Text 1"/>
          <p:cNvSpPr txBox="1"/>
          <p:nvPr/>
        </p:nvSpPr>
        <p:spPr>
          <a:xfrm>
            <a:off x="548640" y="1234440"/>
            <a:ext cx="11094415" cy="365760"/>
          </a:xfrm>
          <a:prstGeom prst="rect">
            <a:avLst/>
          </a:prstGeom>
          <a:noFill/>
          <a:ln/>
        </p:spPr>
        <p:txBody>
          <a:bodyPr wrap="square" lIns="0" tIns="0" rIns="0" bIns="0" rtlCol="0" anchor="t"/>
          <a:lstStyle/>
          <a:p>
            <a:pPr indent="0" marL="0">
              <a:buNone/>
            </a:pPr>
            <a:r>
              <a:rPr lang="en-US" sz="1600" dirty="0">
                <a:solidFill>
                  <a:schemeClr val="tx2"/>
                </a:solidFill>
              </a:rPr>
              <a:t>Team name: [Team name]     Institution / organisation: [Name]     Contact: [Email / phone]</a:t>
            </a:r>
            <a:endParaRPr lang="en-US" sz="1600" dirty="0"/>
          </a:p>
        </p:txBody>
      </p:sp>
      <p:sp>
        <p:nvSpPr>
          <p:cNvPr id="4" name="team-card0"/>
          <p:cNvSpPr/>
          <p:nvPr/>
        </p:nvSpPr>
        <p:spPr>
          <a:xfrm>
            <a:off x="548640" y="1920240"/>
            <a:ext cx="2567864" cy="3566160"/>
          </a:xfrm>
          <a:prstGeom prst="roundRect">
            <a:avLst>
              <a:gd name="adj" fmla="val 2849"/>
            </a:avLst>
          </a:prstGeom>
          <a:solidFill>
            <a:schemeClr val="bg2"/>
          </a:solidFill>
          <a:ln w="12700">
            <a:solidFill>
              <a:schemeClr val="bg2"/>
            </a:solidFill>
            <a:prstDash val="solid"/>
          </a:ln>
        </p:spPr>
      </p:sp>
      <p:sp>
        <p:nvSpPr>
          <p:cNvPr id="5" name="team0-circle"/>
          <p:cNvSpPr/>
          <p:nvPr/>
        </p:nvSpPr>
        <p:spPr>
          <a:xfrm>
            <a:off x="1375372" y="2286000"/>
            <a:ext cx="914400" cy="914400"/>
          </a:xfrm>
          <a:prstGeom prst="ellipse">
            <a:avLst/>
          </a:prstGeom>
          <a:solidFill>
            <a:schemeClr val="accent1"/>
          </a:solidFill>
          <a:ln w="12700">
            <a:solidFill>
              <a:schemeClr val="accent1"/>
            </a:solidFill>
            <a:prstDash val="solid"/>
          </a:ln>
        </p:spPr>
      </p:sp>
      <p:pic>
        <p:nvPicPr>
          <p:cNvPr id="6" name="team0-icon" descr="preencoded.png">    </p:cNvPr>
          <p:cNvPicPr>
            <a:picLocks noChangeAspect="1"/>
          </p:cNvPicPr>
          <p:nvPr/>
        </p:nvPicPr>
        <p:blipFill>
          <a:blip r:embed="rId1"/>
          <a:stretch>
            <a:fillRect/>
          </a:stretch>
        </p:blipFill>
        <p:spPr>
          <a:xfrm>
            <a:off x="1613116" y="2523744"/>
            <a:ext cx="438912" cy="438912"/>
          </a:xfrm>
          <a:prstGeom prst="rect">
            <a:avLst/>
          </a:prstGeom>
        </p:spPr>
      </p:pic>
      <p:sp>
        <p:nvSpPr>
          <p:cNvPr id="7" name="Text 4"/>
          <p:cNvSpPr txBox="1"/>
          <p:nvPr/>
        </p:nvSpPr>
        <p:spPr>
          <a:xfrm>
            <a:off x="777240" y="3429000"/>
            <a:ext cx="2110664" cy="411480"/>
          </a:xfrm>
          <a:prstGeom prst="rect">
            <a:avLst/>
          </a:prstGeom>
          <a:noFill/>
          <a:ln/>
        </p:spPr>
        <p:txBody>
          <a:bodyPr wrap="square" lIns="0" tIns="0" rIns="0" bIns="0" rtlCol="0" anchor="t"/>
          <a:lstStyle/>
          <a:p>
            <a:pPr algn="ctr" indent="0" marL="0">
              <a:buNone/>
            </a:pPr>
            <a:r>
              <a:rPr lang="en-US" sz="1800" b="1" dirty="0">
                <a:solidFill>
                  <a:schemeClr val="tx1"/>
                </a:solidFill>
              </a:rPr>
              <a:t>[Member 1 name]</a:t>
            </a:r>
            <a:endParaRPr lang="en-US" sz="1800" dirty="0"/>
          </a:p>
        </p:txBody>
      </p:sp>
      <p:sp>
        <p:nvSpPr>
          <p:cNvPr id="8" name="Text 5"/>
          <p:cNvSpPr txBox="1"/>
          <p:nvPr/>
        </p:nvSpPr>
        <p:spPr>
          <a:xfrm>
            <a:off x="777240" y="3931920"/>
            <a:ext cx="2110664" cy="685800"/>
          </a:xfrm>
          <a:prstGeom prst="rect">
            <a:avLst/>
          </a:prstGeom>
          <a:noFill/>
          <a:ln/>
        </p:spPr>
        <p:txBody>
          <a:bodyPr wrap="square" lIns="0" tIns="0" rIns="0" bIns="0" rtlCol="0" anchor="t"/>
          <a:lstStyle/>
          <a:p>
            <a:pPr algn="ctr" indent="0" marL="0">
              <a:buNone/>
            </a:pPr>
            <a:r>
              <a:rPr lang="en-US" sz="1400" dirty="0">
                <a:solidFill>
                  <a:schemeClr val="tx2"/>
                </a:solidFill>
              </a:rPr>
              <a:t>Team lead, product and pitch</a:t>
            </a:r>
            <a:endParaRPr lang="en-US" sz="1400" dirty="0"/>
          </a:p>
        </p:txBody>
      </p:sp>
      <p:sp>
        <p:nvSpPr>
          <p:cNvPr id="9" name="Text 6"/>
          <p:cNvSpPr txBox="1"/>
          <p:nvPr/>
        </p:nvSpPr>
        <p:spPr>
          <a:xfrm>
            <a:off x="777240" y="4709160"/>
            <a:ext cx="2110664" cy="457200"/>
          </a:xfrm>
          <a:prstGeom prst="rect">
            <a:avLst/>
          </a:prstGeom>
          <a:noFill/>
          <a:ln/>
        </p:spPr>
        <p:txBody>
          <a:bodyPr wrap="square" lIns="0" tIns="0" rIns="0" bIns="0" rtlCol="0" anchor="t"/>
          <a:lstStyle/>
          <a:p>
            <a:pPr algn="ctr" indent="0" marL="0">
              <a:buNone/>
            </a:pPr>
            <a:r>
              <a:rPr lang="en-US" sz="1200" dirty="0">
                <a:solidFill>
                  <a:schemeClr val="accent5"/>
                </a:solidFill>
              </a:rPr>
              <a:t>[College / year / LinkedIn]</a:t>
            </a:r>
            <a:endParaRPr lang="en-US" sz="1200" dirty="0"/>
          </a:p>
        </p:txBody>
      </p:sp>
      <p:sp>
        <p:nvSpPr>
          <p:cNvPr id="10" name="team-card1"/>
          <p:cNvSpPr/>
          <p:nvPr/>
        </p:nvSpPr>
        <p:spPr>
          <a:xfrm>
            <a:off x="3390824" y="1920240"/>
            <a:ext cx="2567864" cy="3566160"/>
          </a:xfrm>
          <a:prstGeom prst="roundRect">
            <a:avLst>
              <a:gd name="adj" fmla="val 2849"/>
            </a:avLst>
          </a:prstGeom>
          <a:solidFill>
            <a:schemeClr val="bg2"/>
          </a:solidFill>
          <a:ln w="12700">
            <a:solidFill>
              <a:schemeClr val="bg2"/>
            </a:solidFill>
            <a:prstDash val="solid"/>
          </a:ln>
        </p:spPr>
      </p:sp>
      <p:sp>
        <p:nvSpPr>
          <p:cNvPr id="11" name="team1-circle"/>
          <p:cNvSpPr/>
          <p:nvPr/>
        </p:nvSpPr>
        <p:spPr>
          <a:xfrm>
            <a:off x="4217556" y="2286000"/>
            <a:ext cx="914400" cy="914400"/>
          </a:xfrm>
          <a:prstGeom prst="ellipse">
            <a:avLst/>
          </a:prstGeom>
          <a:solidFill>
            <a:schemeClr val="accent2"/>
          </a:solidFill>
          <a:ln w="12700">
            <a:solidFill>
              <a:schemeClr val="accent2"/>
            </a:solidFill>
            <a:prstDash val="solid"/>
          </a:ln>
        </p:spPr>
      </p:sp>
      <p:pic>
        <p:nvPicPr>
          <p:cNvPr id="12" name="team1-icon" descr="preencoded.png">    </p:cNvPr>
          <p:cNvPicPr>
            <a:picLocks noChangeAspect="1"/>
          </p:cNvPicPr>
          <p:nvPr/>
        </p:nvPicPr>
        <p:blipFill>
          <a:blip r:embed="rId2"/>
          <a:stretch>
            <a:fillRect/>
          </a:stretch>
        </p:blipFill>
        <p:spPr>
          <a:xfrm>
            <a:off x="4455300" y="2523744"/>
            <a:ext cx="438912" cy="438912"/>
          </a:xfrm>
          <a:prstGeom prst="rect">
            <a:avLst/>
          </a:prstGeom>
        </p:spPr>
      </p:pic>
      <p:sp>
        <p:nvSpPr>
          <p:cNvPr id="13" name="Text 9"/>
          <p:cNvSpPr txBox="1"/>
          <p:nvPr/>
        </p:nvSpPr>
        <p:spPr>
          <a:xfrm>
            <a:off x="3619424" y="3429000"/>
            <a:ext cx="2110664" cy="411480"/>
          </a:xfrm>
          <a:prstGeom prst="rect">
            <a:avLst/>
          </a:prstGeom>
          <a:noFill/>
          <a:ln/>
        </p:spPr>
        <p:txBody>
          <a:bodyPr wrap="square" lIns="0" tIns="0" rIns="0" bIns="0" rtlCol="0" anchor="t"/>
          <a:lstStyle/>
          <a:p>
            <a:pPr algn="ctr" indent="0" marL="0">
              <a:buNone/>
            </a:pPr>
            <a:r>
              <a:rPr lang="en-US" sz="1800" b="1" dirty="0">
                <a:solidFill>
                  <a:schemeClr val="tx1"/>
                </a:solidFill>
              </a:rPr>
              <a:t>[Member 2 name]</a:t>
            </a:r>
            <a:endParaRPr lang="en-US" sz="1800" dirty="0"/>
          </a:p>
        </p:txBody>
      </p:sp>
      <p:sp>
        <p:nvSpPr>
          <p:cNvPr id="14" name="Text 10"/>
          <p:cNvSpPr txBox="1"/>
          <p:nvPr/>
        </p:nvSpPr>
        <p:spPr>
          <a:xfrm>
            <a:off x="3619424" y="3931920"/>
            <a:ext cx="2110664" cy="685800"/>
          </a:xfrm>
          <a:prstGeom prst="rect">
            <a:avLst/>
          </a:prstGeom>
          <a:noFill/>
          <a:ln/>
        </p:spPr>
        <p:txBody>
          <a:bodyPr wrap="square" lIns="0" tIns="0" rIns="0" bIns="0" rtlCol="0" anchor="t"/>
          <a:lstStyle/>
          <a:p>
            <a:pPr algn="ctr" indent="0" marL="0">
              <a:buNone/>
            </a:pPr>
            <a:r>
              <a:rPr lang="en-US" sz="1400" dirty="0">
                <a:solidFill>
                  <a:schemeClr val="tx2"/>
                </a:solidFill>
              </a:rPr>
              <a:t>On-chain tracing and risk engine</a:t>
            </a:r>
            <a:endParaRPr lang="en-US" sz="1400" dirty="0"/>
          </a:p>
        </p:txBody>
      </p:sp>
      <p:sp>
        <p:nvSpPr>
          <p:cNvPr id="15" name="Text 11"/>
          <p:cNvSpPr txBox="1"/>
          <p:nvPr/>
        </p:nvSpPr>
        <p:spPr>
          <a:xfrm>
            <a:off x="3619424" y="4709160"/>
            <a:ext cx="2110664" cy="457200"/>
          </a:xfrm>
          <a:prstGeom prst="rect">
            <a:avLst/>
          </a:prstGeom>
          <a:noFill/>
          <a:ln/>
        </p:spPr>
        <p:txBody>
          <a:bodyPr wrap="square" lIns="0" tIns="0" rIns="0" bIns="0" rtlCol="0" anchor="t"/>
          <a:lstStyle/>
          <a:p>
            <a:pPr algn="ctr" indent="0" marL="0">
              <a:buNone/>
            </a:pPr>
            <a:r>
              <a:rPr lang="en-US" sz="1200" dirty="0">
                <a:solidFill>
                  <a:schemeClr val="accent5"/>
                </a:solidFill>
              </a:rPr>
              <a:t>[College / year / LinkedIn]</a:t>
            </a:r>
            <a:endParaRPr lang="en-US" sz="1200" dirty="0"/>
          </a:p>
        </p:txBody>
      </p:sp>
      <p:sp>
        <p:nvSpPr>
          <p:cNvPr id="16" name="team-card2"/>
          <p:cNvSpPr/>
          <p:nvPr/>
        </p:nvSpPr>
        <p:spPr>
          <a:xfrm>
            <a:off x="6233008" y="1920240"/>
            <a:ext cx="2567864" cy="3566160"/>
          </a:xfrm>
          <a:prstGeom prst="roundRect">
            <a:avLst>
              <a:gd name="adj" fmla="val 2849"/>
            </a:avLst>
          </a:prstGeom>
          <a:solidFill>
            <a:schemeClr val="bg2"/>
          </a:solidFill>
          <a:ln w="12700">
            <a:solidFill>
              <a:schemeClr val="bg2"/>
            </a:solidFill>
            <a:prstDash val="solid"/>
          </a:ln>
        </p:spPr>
      </p:sp>
      <p:sp>
        <p:nvSpPr>
          <p:cNvPr id="17" name="team2-circle"/>
          <p:cNvSpPr/>
          <p:nvPr/>
        </p:nvSpPr>
        <p:spPr>
          <a:xfrm>
            <a:off x="7059740" y="2286000"/>
            <a:ext cx="914400" cy="914400"/>
          </a:xfrm>
          <a:prstGeom prst="ellipse">
            <a:avLst/>
          </a:prstGeom>
          <a:solidFill>
            <a:schemeClr val="accent6"/>
          </a:solidFill>
          <a:ln w="12700">
            <a:solidFill>
              <a:schemeClr val="accent6"/>
            </a:solidFill>
            <a:prstDash val="solid"/>
          </a:ln>
        </p:spPr>
      </p:sp>
      <p:pic>
        <p:nvPicPr>
          <p:cNvPr id="18" name="team2-icon" descr="preencoded.png">    </p:cNvPr>
          <p:cNvPicPr>
            <a:picLocks noChangeAspect="1"/>
          </p:cNvPicPr>
          <p:nvPr/>
        </p:nvPicPr>
        <p:blipFill>
          <a:blip r:embed="rId3"/>
          <a:stretch>
            <a:fillRect/>
          </a:stretch>
        </p:blipFill>
        <p:spPr>
          <a:xfrm>
            <a:off x="7297484" y="2523744"/>
            <a:ext cx="438912" cy="438912"/>
          </a:xfrm>
          <a:prstGeom prst="rect">
            <a:avLst/>
          </a:prstGeom>
        </p:spPr>
      </p:pic>
      <p:sp>
        <p:nvSpPr>
          <p:cNvPr id="19" name="Text 14"/>
          <p:cNvSpPr txBox="1"/>
          <p:nvPr/>
        </p:nvSpPr>
        <p:spPr>
          <a:xfrm>
            <a:off x="6461608" y="3429000"/>
            <a:ext cx="2110664" cy="411480"/>
          </a:xfrm>
          <a:prstGeom prst="rect">
            <a:avLst/>
          </a:prstGeom>
          <a:noFill/>
          <a:ln/>
        </p:spPr>
        <p:txBody>
          <a:bodyPr wrap="square" lIns="0" tIns="0" rIns="0" bIns="0" rtlCol="0" anchor="t"/>
          <a:lstStyle/>
          <a:p>
            <a:pPr algn="ctr" indent="0" marL="0">
              <a:buNone/>
            </a:pPr>
            <a:r>
              <a:rPr lang="en-US" sz="1800" b="1" dirty="0">
                <a:solidFill>
                  <a:schemeClr val="tx1"/>
                </a:solidFill>
              </a:rPr>
              <a:t>[Member 3 name]</a:t>
            </a:r>
            <a:endParaRPr lang="en-US" sz="1800" dirty="0"/>
          </a:p>
        </p:txBody>
      </p:sp>
      <p:sp>
        <p:nvSpPr>
          <p:cNvPr id="20" name="Text 15"/>
          <p:cNvSpPr txBox="1"/>
          <p:nvPr/>
        </p:nvSpPr>
        <p:spPr>
          <a:xfrm>
            <a:off x="6461608" y="3931920"/>
            <a:ext cx="2110664" cy="685800"/>
          </a:xfrm>
          <a:prstGeom prst="rect">
            <a:avLst/>
          </a:prstGeom>
          <a:noFill/>
          <a:ln/>
        </p:spPr>
        <p:txBody>
          <a:bodyPr wrap="square" lIns="0" tIns="0" rIns="0" bIns="0" rtlCol="0" anchor="t"/>
          <a:lstStyle/>
          <a:p>
            <a:pPr algn="ctr" indent="0" marL="0">
              <a:buNone/>
            </a:pPr>
            <a:r>
              <a:rPr lang="en-US" sz="1400" dirty="0">
                <a:solidFill>
                  <a:schemeClr val="tx2"/>
                </a:solidFill>
              </a:rPr>
              <a:t>TinyFish agents and backend</a:t>
            </a:r>
            <a:endParaRPr lang="en-US" sz="1400" dirty="0"/>
          </a:p>
        </p:txBody>
      </p:sp>
      <p:sp>
        <p:nvSpPr>
          <p:cNvPr id="21" name="Text 16"/>
          <p:cNvSpPr txBox="1"/>
          <p:nvPr/>
        </p:nvSpPr>
        <p:spPr>
          <a:xfrm>
            <a:off x="6461608" y="4709160"/>
            <a:ext cx="2110664" cy="457200"/>
          </a:xfrm>
          <a:prstGeom prst="rect">
            <a:avLst/>
          </a:prstGeom>
          <a:noFill/>
          <a:ln/>
        </p:spPr>
        <p:txBody>
          <a:bodyPr wrap="square" lIns="0" tIns="0" rIns="0" bIns="0" rtlCol="0" anchor="t"/>
          <a:lstStyle/>
          <a:p>
            <a:pPr algn="ctr" indent="0" marL="0">
              <a:buNone/>
            </a:pPr>
            <a:r>
              <a:rPr lang="en-US" sz="1200" dirty="0">
                <a:solidFill>
                  <a:schemeClr val="accent5"/>
                </a:solidFill>
              </a:rPr>
              <a:t>[College / year / LinkedIn]</a:t>
            </a:r>
            <a:endParaRPr lang="en-US" sz="1200" dirty="0"/>
          </a:p>
        </p:txBody>
      </p:sp>
      <p:sp>
        <p:nvSpPr>
          <p:cNvPr id="22" name="team-card3"/>
          <p:cNvSpPr/>
          <p:nvPr/>
        </p:nvSpPr>
        <p:spPr>
          <a:xfrm>
            <a:off x="9075191" y="1920240"/>
            <a:ext cx="2567864" cy="3566160"/>
          </a:xfrm>
          <a:prstGeom prst="roundRect">
            <a:avLst>
              <a:gd name="adj" fmla="val 2849"/>
            </a:avLst>
          </a:prstGeom>
          <a:solidFill>
            <a:schemeClr val="bg2"/>
          </a:solidFill>
          <a:ln w="12700">
            <a:solidFill>
              <a:schemeClr val="bg2"/>
            </a:solidFill>
            <a:prstDash val="solid"/>
          </a:ln>
        </p:spPr>
      </p:sp>
      <p:sp>
        <p:nvSpPr>
          <p:cNvPr id="23" name="team3-circle"/>
          <p:cNvSpPr/>
          <p:nvPr/>
        </p:nvSpPr>
        <p:spPr>
          <a:xfrm>
            <a:off x="9901923" y="2286000"/>
            <a:ext cx="914400" cy="914400"/>
          </a:xfrm>
          <a:prstGeom prst="ellipse">
            <a:avLst/>
          </a:prstGeom>
          <a:solidFill>
            <a:schemeClr val="accent3"/>
          </a:solidFill>
          <a:ln w="12700">
            <a:solidFill>
              <a:schemeClr val="accent3"/>
            </a:solidFill>
            <a:prstDash val="solid"/>
          </a:ln>
        </p:spPr>
      </p:sp>
      <p:pic>
        <p:nvPicPr>
          <p:cNvPr id="24" name="team3-icon" descr="preencoded.png">    </p:cNvPr>
          <p:cNvPicPr>
            <a:picLocks noChangeAspect="1"/>
          </p:cNvPicPr>
          <p:nvPr/>
        </p:nvPicPr>
        <p:blipFill>
          <a:blip r:embed="rId4"/>
          <a:stretch>
            <a:fillRect/>
          </a:stretch>
        </p:blipFill>
        <p:spPr>
          <a:xfrm>
            <a:off x="10139667" y="2523744"/>
            <a:ext cx="438912" cy="438912"/>
          </a:xfrm>
          <a:prstGeom prst="rect">
            <a:avLst/>
          </a:prstGeom>
        </p:spPr>
      </p:pic>
      <p:sp>
        <p:nvSpPr>
          <p:cNvPr id="25" name="Text 19"/>
          <p:cNvSpPr txBox="1"/>
          <p:nvPr/>
        </p:nvSpPr>
        <p:spPr>
          <a:xfrm>
            <a:off x="9303791" y="3429000"/>
            <a:ext cx="2110664" cy="411480"/>
          </a:xfrm>
          <a:prstGeom prst="rect">
            <a:avLst/>
          </a:prstGeom>
          <a:noFill/>
          <a:ln/>
        </p:spPr>
        <p:txBody>
          <a:bodyPr wrap="square" lIns="0" tIns="0" rIns="0" bIns="0" rtlCol="0" anchor="t"/>
          <a:lstStyle/>
          <a:p>
            <a:pPr algn="ctr" indent="0" marL="0">
              <a:buNone/>
            </a:pPr>
            <a:r>
              <a:rPr lang="en-US" sz="1800" b="1" dirty="0">
                <a:solidFill>
                  <a:schemeClr val="tx1"/>
                </a:solidFill>
              </a:rPr>
              <a:t>[Member 4 name]</a:t>
            </a:r>
            <a:endParaRPr lang="en-US" sz="1800" dirty="0"/>
          </a:p>
        </p:txBody>
      </p:sp>
      <p:sp>
        <p:nvSpPr>
          <p:cNvPr id="26" name="Text 20"/>
          <p:cNvSpPr txBox="1"/>
          <p:nvPr/>
        </p:nvSpPr>
        <p:spPr>
          <a:xfrm>
            <a:off x="9303791" y="3931920"/>
            <a:ext cx="2110664" cy="685800"/>
          </a:xfrm>
          <a:prstGeom prst="rect">
            <a:avLst/>
          </a:prstGeom>
          <a:noFill/>
          <a:ln/>
        </p:spPr>
        <p:txBody>
          <a:bodyPr wrap="square" lIns="0" tIns="0" rIns="0" bIns="0" rtlCol="0" anchor="t"/>
          <a:lstStyle/>
          <a:p>
            <a:pPr algn="ctr" indent="0" marL="0">
              <a:buNone/>
            </a:pPr>
            <a:r>
              <a:rPr lang="en-US" sz="1400" dirty="0">
                <a:solidFill>
                  <a:schemeClr val="tx2"/>
                </a:solidFill>
              </a:rPr>
              <a:t>UI/UX and investigator report</a:t>
            </a:r>
            <a:endParaRPr lang="en-US" sz="1400" dirty="0"/>
          </a:p>
        </p:txBody>
      </p:sp>
      <p:sp>
        <p:nvSpPr>
          <p:cNvPr id="27" name="Text 21"/>
          <p:cNvSpPr txBox="1"/>
          <p:nvPr/>
        </p:nvSpPr>
        <p:spPr>
          <a:xfrm>
            <a:off x="9303791" y="4709160"/>
            <a:ext cx="2110664" cy="457200"/>
          </a:xfrm>
          <a:prstGeom prst="rect">
            <a:avLst/>
          </a:prstGeom>
          <a:noFill/>
          <a:ln/>
        </p:spPr>
        <p:txBody>
          <a:bodyPr wrap="square" lIns="0" tIns="0" rIns="0" bIns="0" rtlCol="0" anchor="t"/>
          <a:lstStyle/>
          <a:p>
            <a:pPr algn="ctr" indent="0" marL="0">
              <a:buNone/>
            </a:pPr>
            <a:r>
              <a:rPr lang="en-US" sz="1200" dirty="0">
                <a:solidFill>
                  <a:schemeClr val="accent5"/>
                </a:solidFill>
              </a:rPr>
              <a:t>[College / year / LinkedIn]</a:t>
            </a:r>
            <a:endParaRPr lang="en-US" sz="1200" dirty="0"/>
          </a:p>
        </p:txBody>
      </p:sp>
      <p:sp>
        <p:nvSpPr>
          <p:cNvPr id="28" name="Text 22"/>
          <p:cNvSpPr txBox="1"/>
          <p:nvPr/>
        </p:nvSpPr>
        <p:spPr>
          <a:xfrm>
            <a:off x="548640" y="5715000"/>
            <a:ext cx="8229600" cy="274320"/>
          </a:xfrm>
          <a:prstGeom prst="rect">
            <a:avLst/>
          </a:prstGeom>
          <a:noFill/>
          <a:ln/>
        </p:spPr>
        <p:txBody>
          <a:bodyPr wrap="square" lIns="0" tIns="0" rIns="0" bIns="0" rtlCol="0" anchor="t"/>
          <a:lstStyle/>
          <a:p>
            <a:pPr indent="0" marL="0">
              <a:buNone/>
            </a:pPr>
            <a:r>
              <a:rPr lang="en-US" sz="1100" i="1" dirty="0">
                <a:solidFill>
                  <a:schemeClr val="accent5"/>
                </a:solidFill>
              </a:rPr>
              <a:t>Roles are suggestions that match the work split; edit to fit your team.</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Scam money moves in hours; tracing it takes days</a:t>
            </a:r>
            <a:endParaRPr lang="en-US" sz="3200" dirty="0"/>
          </a:p>
        </p:txBody>
      </p:sp>
      <p:sp>
        <p:nvSpPr>
          <p:cNvPr id="3" name="Text 1"/>
          <p:cNvSpPr txBox="1"/>
          <p:nvPr/>
        </p:nvSpPr>
        <p:spPr>
          <a:xfrm>
            <a:off x="548640" y="1280160"/>
            <a:ext cx="5486400" cy="868680"/>
          </a:xfrm>
          <a:prstGeom prst="rect">
            <a:avLst/>
          </a:prstGeom>
          <a:noFill/>
          <a:ln/>
        </p:spPr>
        <p:txBody>
          <a:bodyPr wrap="square" lIns="0" tIns="0" rIns="0" bIns="0" rtlCol="0" anchor="t"/>
          <a:lstStyle/>
          <a:p>
            <a:pPr indent="0" marL="0">
              <a:buNone/>
            </a:pPr>
            <a:r>
              <a:rPr lang="en-US" sz="1500" dirty="0">
                <a:solidFill>
                  <a:schemeClr val="tx2"/>
                </a:solidFill>
              </a:rPr>
              <a:t>Cyber-fraud victims report the wallet addresses scammers used. Those are usually burner or intermediary wallets that hide the trail (layering).</a:t>
            </a:r>
            <a:endParaRPr lang="en-US" sz="1500" dirty="0"/>
          </a:p>
        </p:txBody>
      </p:sp>
      <p:sp>
        <p:nvSpPr>
          <p:cNvPr id="4" name="type0"/>
          <p:cNvSpPr/>
          <p:nvPr/>
        </p:nvSpPr>
        <p:spPr>
          <a:xfrm>
            <a:off x="548640" y="2240280"/>
            <a:ext cx="1307592" cy="292608"/>
          </a:xfrm>
          <a:prstGeom prst="roundRect">
            <a:avLst>
              <a:gd name="adj" fmla="val 50000"/>
            </a:avLst>
          </a:prstGeom>
          <a:solidFill>
            <a:schemeClr val="accent5"/>
          </a:solidFill>
          <a:ln w="12700">
            <a:solidFill>
              <a:schemeClr val="accent5"/>
            </a:solidFill>
            <a:prstDash val="solid"/>
          </a:ln>
        </p:spPr>
      </p:sp>
      <p:sp>
        <p:nvSpPr>
          <p:cNvPr id="5" name="Text 3"/>
          <p:cNvSpPr txBox="1"/>
          <p:nvPr/>
        </p:nvSpPr>
        <p:spPr>
          <a:xfrm>
            <a:off x="548640" y="2240280"/>
            <a:ext cx="1307592" cy="292608"/>
          </a:xfrm>
          <a:prstGeom prst="rect">
            <a:avLst/>
          </a:prstGeom>
          <a:noFill/>
          <a:ln/>
        </p:spPr>
        <p:txBody>
          <a:bodyPr wrap="square" lIns="0" tIns="0" rIns="0" bIns="0" rtlCol="0" anchor="ctr"/>
          <a:lstStyle/>
          <a:p>
            <a:pPr algn="ctr" indent="0" marL="0">
              <a:buNone/>
            </a:pPr>
            <a:r>
              <a:rPr lang="en-US" sz="1100" b="1" dirty="0">
                <a:solidFill>
                  <a:schemeClr val="bg1"/>
                </a:solidFill>
              </a:rPr>
              <a:t>Investment scams</a:t>
            </a:r>
            <a:endParaRPr lang="en-US" sz="1100" dirty="0"/>
          </a:p>
        </p:txBody>
      </p:sp>
      <p:sp>
        <p:nvSpPr>
          <p:cNvPr id="6" name="type1"/>
          <p:cNvSpPr/>
          <p:nvPr/>
        </p:nvSpPr>
        <p:spPr>
          <a:xfrm>
            <a:off x="1965960" y="2240280"/>
            <a:ext cx="1307592" cy="292608"/>
          </a:xfrm>
          <a:prstGeom prst="roundRect">
            <a:avLst>
              <a:gd name="adj" fmla="val 50000"/>
            </a:avLst>
          </a:prstGeom>
          <a:solidFill>
            <a:schemeClr val="accent5"/>
          </a:solidFill>
          <a:ln w="12700">
            <a:solidFill>
              <a:schemeClr val="accent5"/>
            </a:solidFill>
            <a:prstDash val="solid"/>
          </a:ln>
        </p:spPr>
      </p:sp>
      <p:sp>
        <p:nvSpPr>
          <p:cNvPr id="7" name="Text 5"/>
          <p:cNvSpPr txBox="1"/>
          <p:nvPr/>
        </p:nvSpPr>
        <p:spPr>
          <a:xfrm>
            <a:off x="1965960" y="2240280"/>
            <a:ext cx="1307592" cy="292608"/>
          </a:xfrm>
          <a:prstGeom prst="rect">
            <a:avLst/>
          </a:prstGeom>
          <a:noFill/>
          <a:ln/>
        </p:spPr>
        <p:txBody>
          <a:bodyPr wrap="square" lIns="0" tIns="0" rIns="0" bIns="0" rtlCol="0" anchor="ctr"/>
          <a:lstStyle/>
          <a:p>
            <a:pPr algn="ctr" indent="0" marL="0">
              <a:buNone/>
            </a:pPr>
            <a:r>
              <a:rPr lang="en-US" sz="1100" b="1" dirty="0">
                <a:solidFill>
                  <a:schemeClr val="bg1"/>
                </a:solidFill>
              </a:rPr>
              <a:t>Task-based fraud</a:t>
            </a:r>
            <a:endParaRPr lang="en-US" sz="1100" dirty="0"/>
          </a:p>
        </p:txBody>
      </p:sp>
      <p:sp>
        <p:nvSpPr>
          <p:cNvPr id="8" name="type2"/>
          <p:cNvSpPr/>
          <p:nvPr/>
        </p:nvSpPr>
        <p:spPr>
          <a:xfrm>
            <a:off x="3383280" y="2240280"/>
            <a:ext cx="868680" cy="292608"/>
          </a:xfrm>
          <a:prstGeom prst="roundRect">
            <a:avLst>
              <a:gd name="adj" fmla="val 50000"/>
            </a:avLst>
          </a:prstGeom>
          <a:solidFill>
            <a:schemeClr val="accent5"/>
          </a:solidFill>
          <a:ln w="12700">
            <a:solidFill>
              <a:schemeClr val="accent5"/>
            </a:solidFill>
            <a:prstDash val="solid"/>
          </a:ln>
        </p:spPr>
      </p:sp>
      <p:sp>
        <p:nvSpPr>
          <p:cNvPr id="9" name="Text 7"/>
          <p:cNvSpPr txBox="1"/>
          <p:nvPr/>
        </p:nvSpPr>
        <p:spPr>
          <a:xfrm>
            <a:off x="3383280" y="2240280"/>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Sextortion</a:t>
            </a:r>
            <a:endParaRPr lang="en-US" sz="1100" dirty="0"/>
          </a:p>
        </p:txBody>
      </p:sp>
      <p:sp>
        <p:nvSpPr>
          <p:cNvPr id="10" name="type3"/>
          <p:cNvSpPr/>
          <p:nvPr/>
        </p:nvSpPr>
        <p:spPr>
          <a:xfrm>
            <a:off x="4361688" y="2240280"/>
            <a:ext cx="722376" cy="292608"/>
          </a:xfrm>
          <a:prstGeom prst="roundRect">
            <a:avLst>
              <a:gd name="adj" fmla="val 50000"/>
            </a:avLst>
          </a:prstGeom>
          <a:solidFill>
            <a:schemeClr val="accent5"/>
          </a:solidFill>
          <a:ln w="12700">
            <a:solidFill>
              <a:schemeClr val="accent5"/>
            </a:solidFill>
            <a:prstDash val="solid"/>
          </a:ln>
        </p:spPr>
      </p:sp>
      <p:sp>
        <p:nvSpPr>
          <p:cNvPr id="11" name="Text 9"/>
          <p:cNvSpPr txBox="1"/>
          <p:nvPr/>
        </p:nvSpPr>
        <p:spPr>
          <a:xfrm>
            <a:off x="4361688" y="2240280"/>
            <a:ext cx="722376" cy="292608"/>
          </a:xfrm>
          <a:prstGeom prst="rect">
            <a:avLst/>
          </a:prstGeom>
          <a:noFill/>
          <a:ln/>
        </p:spPr>
        <p:txBody>
          <a:bodyPr wrap="square" lIns="0" tIns="0" rIns="0" bIns="0" rtlCol="0" anchor="ctr"/>
          <a:lstStyle/>
          <a:p>
            <a:pPr algn="ctr" indent="0" marL="0">
              <a:buNone/>
            </a:pPr>
            <a:r>
              <a:rPr lang="en-US" sz="1100" b="1" dirty="0">
                <a:solidFill>
                  <a:schemeClr val="bg1"/>
                </a:solidFill>
              </a:rPr>
              <a:t>Phishing</a:t>
            </a:r>
            <a:endParaRPr lang="en-US" sz="1100" dirty="0"/>
          </a:p>
        </p:txBody>
      </p:sp>
      <p:sp>
        <p:nvSpPr>
          <p:cNvPr id="12" name="type4"/>
          <p:cNvSpPr/>
          <p:nvPr/>
        </p:nvSpPr>
        <p:spPr>
          <a:xfrm>
            <a:off x="5193792" y="2240280"/>
            <a:ext cx="868680" cy="292608"/>
          </a:xfrm>
          <a:prstGeom prst="roundRect">
            <a:avLst>
              <a:gd name="adj" fmla="val 50000"/>
            </a:avLst>
          </a:prstGeom>
          <a:solidFill>
            <a:schemeClr val="accent5"/>
          </a:solidFill>
          <a:ln w="12700">
            <a:solidFill>
              <a:schemeClr val="accent5"/>
            </a:solidFill>
            <a:prstDash val="solid"/>
          </a:ln>
        </p:spPr>
      </p:sp>
      <p:sp>
        <p:nvSpPr>
          <p:cNvPr id="13" name="Text 11"/>
          <p:cNvSpPr txBox="1"/>
          <p:nvPr/>
        </p:nvSpPr>
        <p:spPr>
          <a:xfrm>
            <a:off x="5193792" y="2240280"/>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Ransomware</a:t>
            </a:r>
            <a:endParaRPr lang="en-US" sz="1100" dirty="0"/>
          </a:p>
        </p:txBody>
      </p:sp>
      <p:sp>
        <p:nvSpPr>
          <p:cNvPr id="14" name="pain-card0"/>
          <p:cNvSpPr/>
          <p:nvPr/>
        </p:nvSpPr>
        <p:spPr>
          <a:xfrm>
            <a:off x="6583680" y="1234440"/>
            <a:ext cx="5059375" cy="1078992"/>
          </a:xfrm>
          <a:prstGeom prst="roundRect">
            <a:avLst>
              <a:gd name="adj" fmla="val 6780"/>
            </a:avLst>
          </a:prstGeom>
          <a:solidFill>
            <a:schemeClr val="bg2"/>
          </a:solidFill>
          <a:ln w="12700">
            <a:solidFill>
              <a:schemeClr val="bg2"/>
            </a:solidFill>
            <a:prstDash val="solid"/>
          </a:ln>
        </p:spPr>
      </p:sp>
      <p:sp>
        <p:nvSpPr>
          <p:cNvPr id="15" name="pain0-circle"/>
          <p:cNvSpPr/>
          <p:nvPr/>
        </p:nvSpPr>
        <p:spPr>
          <a:xfrm>
            <a:off x="6812280" y="1453896"/>
            <a:ext cx="640080" cy="640080"/>
          </a:xfrm>
          <a:prstGeom prst="ellipse">
            <a:avLst/>
          </a:prstGeom>
          <a:solidFill>
            <a:schemeClr val="accent4"/>
          </a:solidFill>
          <a:ln w="12700">
            <a:solidFill>
              <a:schemeClr val="accent4"/>
            </a:solidFill>
            <a:prstDash val="solid"/>
          </a:ln>
        </p:spPr>
      </p:sp>
      <p:pic>
        <p:nvPicPr>
          <p:cNvPr id="16" name="pain0-icon" descr="preencoded.png">    </p:cNvPr>
          <p:cNvPicPr>
            <a:picLocks noChangeAspect="1"/>
          </p:cNvPicPr>
          <p:nvPr/>
        </p:nvPicPr>
        <p:blipFill>
          <a:blip r:embed="rId1"/>
          <a:stretch>
            <a:fillRect/>
          </a:stretch>
        </p:blipFill>
        <p:spPr>
          <a:xfrm>
            <a:off x="6978701" y="1620317"/>
            <a:ext cx="307238" cy="307238"/>
          </a:xfrm>
          <a:prstGeom prst="rect">
            <a:avLst/>
          </a:prstGeom>
        </p:spPr>
      </p:pic>
      <p:sp>
        <p:nvSpPr>
          <p:cNvPr id="17" name="Text 14"/>
          <p:cNvSpPr txBox="1"/>
          <p:nvPr/>
        </p:nvSpPr>
        <p:spPr>
          <a:xfrm>
            <a:off x="7635240" y="1362456"/>
            <a:ext cx="3749040" cy="320040"/>
          </a:xfrm>
          <a:prstGeom prst="rect">
            <a:avLst/>
          </a:prstGeom>
          <a:noFill/>
          <a:ln/>
        </p:spPr>
        <p:txBody>
          <a:bodyPr wrap="square" lIns="0" tIns="0" rIns="0" bIns="0" rtlCol="0" anchor="t"/>
          <a:lstStyle/>
          <a:p>
            <a:pPr indent="0" marL="0">
              <a:buNone/>
            </a:pPr>
            <a:r>
              <a:rPr lang="en-US" sz="1600" b="1" dirty="0">
                <a:solidFill>
                  <a:schemeClr val="tx1"/>
                </a:solidFill>
              </a:rPr>
              <a:t>Which exchange received it?</a:t>
            </a:r>
            <a:endParaRPr lang="en-US" sz="1600" dirty="0"/>
          </a:p>
        </p:txBody>
      </p:sp>
      <p:sp>
        <p:nvSpPr>
          <p:cNvPr id="18" name="Text 15"/>
          <p:cNvSpPr txBox="1"/>
          <p:nvPr/>
        </p:nvSpPr>
        <p:spPr>
          <a:xfrm>
            <a:off x="7635240" y="1691640"/>
            <a:ext cx="3840480" cy="594360"/>
          </a:xfrm>
          <a:prstGeom prst="rect">
            <a:avLst/>
          </a:prstGeom>
          <a:noFill/>
          <a:ln/>
        </p:spPr>
        <p:txBody>
          <a:bodyPr wrap="square" lIns="0" tIns="0" rIns="0" bIns="0" rtlCol="0" anchor="t"/>
          <a:lstStyle/>
          <a:p>
            <a:pPr indent="0" marL="0">
              <a:buNone/>
            </a:pPr>
            <a:r>
              <a:rPr lang="en-US" sz="1200" dirty="0">
                <a:solidFill>
                  <a:schemeClr val="tx2"/>
                </a:solidFill>
              </a:rPr>
              <a:t>Only exchanges (VASPs) can freeze funds and hand over identity. Finding them needs rare blockchain skills, across chains, mixers and bridges.</a:t>
            </a:r>
            <a:endParaRPr lang="en-US" sz="1200" dirty="0"/>
          </a:p>
        </p:txBody>
      </p:sp>
      <p:sp>
        <p:nvSpPr>
          <p:cNvPr id="19" name="pain-card1"/>
          <p:cNvSpPr/>
          <p:nvPr/>
        </p:nvSpPr>
        <p:spPr>
          <a:xfrm>
            <a:off x="6583680" y="2441448"/>
            <a:ext cx="5059375" cy="1078992"/>
          </a:xfrm>
          <a:prstGeom prst="roundRect">
            <a:avLst>
              <a:gd name="adj" fmla="val 6780"/>
            </a:avLst>
          </a:prstGeom>
          <a:solidFill>
            <a:schemeClr val="bg2"/>
          </a:solidFill>
          <a:ln w="12700">
            <a:solidFill>
              <a:schemeClr val="bg2"/>
            </a:solidFill>
            <a:prstDash val="solid"/>
          </a:ln>
        </p:spPr>
      </p:sp>
      <p:sp>
        <p:nvSpPr>
          <p:cNvPr id="20" name="pain1-circle"/>
          <p:cNvSpPr/>
          <p:nvPr/>
        </p:nvSpPr>
        <p:spPr>
          <a:xfrm>
            <a:off x="6812280" y="2660904"/>
            <a:ext cx="640080" cy="640080"/>
          </a:xfrm>
          <a:prstGeom prst="ellipse">
            <a:avLst/>
          </a:prstGeom>
          <a:solidFill>
            <a:schemeClr val="accent4"/>
          </a:solidFill>
          <a:ln w="12700">
            <a:solidFill>
              <a:schemeClr val="accent4"/>
            </a:solidFill>
            <a:prstDash val="solid"/>
          </a:ln>
        </p:spPr>
      </p:sp>
      <p:pic>
        <p:nvPicPr>
          <p:cNvPr id="21" name="pain1-icon" descr="preencoded.png">    </p:cNvPr>
          <p:cNvPicPr>
            <a:picLocks noChangeAspect="1"/>
          </p:cNvPicPr>
          <p:nvPr/>
        </p:nvPicPr>
        <p:blipFill>
          <a:blip r:embed="rId2"/>
          <a:stretch>
            <a:fillRect/>
          </a:stretch>
        </p:blipFill>
        <p:spPr>
          <a:xfrm>
            <a:off x="6978701" y="2827325"/>
            <a:ext cx="307238" cy="307238"/>
          </a:xfrm>
          <a:prstGeom prst="rect">
            <a:avLst/>
          </a:prstGeom>
        </p:spPr>
      </p:pic>
      <p:sp>
        <p:nvSpPr>
          <p:cNvPr id="22" name="Text 18"/>
          <p:cNvSpPr txBox="1"/>
          <p:nvPr/>
        </p:nvSpPr>
        <p:spPr>
          <a:xfrm>
            <a:off x="7635240" y="2569464"/>
            <a:ext cx="3749040" cy="320040"/>
          </a:xfrm>
          <a:prstGeom prst="rect">
            <a:avLst/>
          </a:prstGeom>
          <a:noFill/>
          <a:ln/>
        </p:spPr>
        <p:txBody>
          <a:bodyPr wrap="square" lIns="0" tIns="0" rIns="0" bIns="0" rtlCol="0" anchor="t"/>
          <a:lstStyle/>
          <a:p>
            <a:pPr indent="0" marL="0">
              <a:buNone/>
            </a:pPr>
            <a:r>
              <a:rPr lang="en-US" sz="1600" b="1" dirty="0">
                <a:solidFill>
                  <a:schemeClr val="tx1"/>
                </a:solidFill>
              </a:rPr>
              <a:t>Who do we contact, and how?</a:t>
            </a:r>
            <a:endParaRPr lang="en-US" sz="1600" dirty="0"/>
          </a:p>
        </p:txBody>
      </p:sp>
      <p:sp>
        <p:nvSpPr>
          <p:cNvPr id="23" name="Text 19"/>
          <p:cNvSpPr txBox="1"/>
          <p:nvPr/>
        </p:nvSpPr>
        <p:spPr>
          <a:xfrm>
            <a:off x="7635240" y="2898648"/>
            <a:ext cx="3840480" cy="594360"/>
          </a:xfrm>
          <a:prstGeom prst="rect">
            <a:avLst/>
          </a:prstGeom>
          <a:noFill/>
          <a:ln/>
        </p:spPr>
        <p:txBody>
          <a:bodyPr wrap="square" lIns="0" tIns="0" rIns="0" bIns="0" rtlCol="0" anchor="t"/>
          <a:lstStyle/>
          <a:p>
            <a:pPr indent="0" marL="0">
              <a:buNone/>
            </a:pPr>
            <a:r>
              <a:rPr lang="en-US" sz="1200" dirty="0">
                <a:solidFill>
                  <a:schemeClr val="tx2"/>
                </a:solidFill>
              </a:rPr>
              <a:t>Even once the exchange is known, finding its compliance contact and request process is manual web research.</a:t>
            </a:r>
            <a:endParaRPr lang="en-US" sz="1200" dirty="0"/>
          </a:p>
        </p:txBody>
      </p:sp>
      <p:sp>
        <p:nvSpPr>
          <p:cNvPr id="24" name="pain-card2"/>
          <p:cNvSpPr/>
          <p:nvPr/>
        </p:nvSpPr>
        <p:spPr>
          <a:xfrm>
            <a:off x="6583680" y="3648456"/>
            <a:ext cx="5059375" cy="1078992"/>
          </a:xfrm>
          <a:prstGeom prst="roundRect">
            <a:avLst>
              <a:gd name="adj" fmla="val 6780"/>
            </a:avLst>
          </a:prstGeom>
          <a:solidFill>
            <a:schemeClr val="bg2"/>
          </a:solidFill>
          <a:ln w="12700">
            <a:solidFill>
              <a:schemeClr val="bg2"/>
            </a:solidFill>
            <a:prstDash val="solid"/>
          </a:ln>
        </p:spPr>
      </p:sp>
      <p:sp>
        <p:nvSpPr>
          <p:cNvPr id="25" name="pain2-circle"/>
          <p:cNvSpPr/>
          <p:nvPr/>
        </p:nvSpPr>
        <p:spPr>
          <a:xfrm>
            <a:off x="6812280" y="3867912"/>
            <a:ext cx="640080" cy="640080"/>
          </a:xfrm>
          <a:prstGeom prst="ellipse">
            <a:avLst/>
          </a:prstGeom>
          <a:solidFill>
            <a:schemeClr val="accent4"/>
          </a:solidFill>
          <a:ln w="12700">
            <a:solidFill>
              <a:schemeClr val="accent4"/>
            </a:solidFill>
            <a:prstDash val="solid"/>
          </a:ln>
        </p:spPr>
      </p:sp>
      <p:pic>
        <p:nvPicPr>
          <p:cNvPr id="26" name="pain2-icon" descr="preencoded.png">    </p:cNvPr>
          <p:cNvPicPr>
            <a:picLocks noChangeAspect="1"/>
          </p:cNvPicPr>
          <p:nvPr/>
        </p:nvPicPr>
        <p:blipFill>
          <a:blip r:embed="rId3"/>
          <a:stretch>
            <a:fillRect/>
          </a:stretch>
        </p:blipFill>
        <p:spPr>
          <a:xfrm>
            <a:off x="6978701" y="4034333"/>
            <a:ext cx="307238" cy="307238"/>
          </a:xfrm>
          <a:prstGeom prst="rect">
            <a:avLst/>
          </a:prstGeom>
        </p:spPr>
      </p:pic>
      <p:sp>
        <p:nvSpPr>
          <p:cNvPr id="27" name="Text 22"/>
          <p:cNvSpPr txBox="1"/>
          <p:nvPr/>
        </p:nvSpPr>
        <p:spPr>
          <a:xfrm>
            <a:off x="7635240" y="3776472"/>
            <a:ext cx="3749040" cy="320040"/>
          </a:xfrm>
          <a:prstGeom prst="rect">
            <a:avLst/>
          </a:prstGeom>
          <a:noFill/>
          <a:ln/>
        </p:spPr>
        <p:txBody>
          <a:bodyPr wrap="square" lIns="0" tIns="0" rIns="0" bIns="0" rtlCol="0" anchor="t"/>
          <a:lstStyle/>
          <a:p>
            <a:pPr indent="0" marL="0">
              <a:buNone/>
            </a:pPr>
            <a:r>
              <a:rPr lang="en-US" sz="1600" b="1" dirty="0">
                <a:solidFill>
                  <a:schemeClr val="tx1"/>
                </a:solidFill>
              </a:rPr>
              <a:t>Every hour counts</a:t>
            </a:r>
            <a:endParaRPr lang="en-US" sz="1600" dirty="0"/>
          </a:p>
        </p:txBody>
      </p:sp>
      <p:sp>
        <p:nvSpPr>
          <p:cNvPr id="28" name="Text 23"/>
          <p:cNvSpPr txBox="1"/>
          <p:nvPr/>
        </p:nvSpPr>
        <p:spPr>
          <a:xfrm>
            <a:off x="7635240" y="4105656"/>
            <a:ext cx="3840480" cy="594360"/>
          </a:xfrm>
          <a:prstGeom prst="rect">
            <a:avLst/>
          </a:prstGeom>
          <a:noFill/>
          <a:ln/>
        </p:spPr>
        <p:txBody>
          <a:bodyPr wrap="square" lIns="0" tIns="0" rIns="0" bIns="0" rtlCol="0" anchor="t"/>
          <a:lstStyle/>
          <a:p>
            <a:pPr indent="0" marL="0">
              <a:buNone/>
            </a:pPr>
            <a:r>
              <a:rPr lang="en-US" sz="1200" dirty="0">
                <a:solidFill>
                  <a:schemeClr val="tx2"/>
                </a:solidFill>
              </a:rPr>
              <a:t>Funds move on within hours. Delay means the money is lost for good.</a:t>
            </a:r>
            <a:endParaRPr lang="en-US" sz="1200" dirty="0"/>
          </a:p>
        </p:txBody>
      </p:sp>
      <p:sp>
        <p:nvSpPr>
          <p:cNvPr id="29" name="timeline-card"/>
          <p:cNvSpPr/>
          <p:nvPr/>
        </p:nvSpPr>
        <p:spPr>
          <a:xfrm>
            <a:off x="548640" y="2926080"/>
            <a:ext cx="5715000" cy="2011680"/>
          </a:xfrm>
          <a:prstGeom prst="roundRect">
            <a:avLst>
              <a:gd name="adj" fmla="val 3636"/>
            </a:avLst>
          </a:prstGeom>
          <a:solidFill>
            <a:schemeClr val="tx1"/>
          </a:solidFill>
          <a:ln w="12700">
            <a:solidFill>
              <a:schemeClr val="tx1"/>
            </a:solidFill>
            <a:prstDash val="solid"/>
          </a:ln>
        </p:spPr>
      </p:sp>
      <p:sp>
        <p:nvSpPr>
          <p:cNvPr id="30" name="Text 25"/>
          <p:cNvSpPr txBox="1"/>
          <p:nvPr/>
        </p:nvSpPr>
        <p:spPr>
          <a:xfrm>
            <a:off x="822960" y="3063240"/>
            <a:ext cx="4572000" cy="320040"/>
          </a:xfrm>
          <a:prstGeom prst="rect">
            <a:avLst/>
          </a:prstGeom>
          <a:noFill/>
          <a:ln/>
        </p:spPr>
        <p:txBody>
          <a:bodyPr wrap="square" lIns="0" tIns="0" rIns="0" bIns="0" rtlCol="0" anchor="t"/>
          <a:lstStyle/>
          <a:p>
            <a:pPr indent="0" marL="0">
              <a:buNone/>
            </a:pPr>
            <a:r>
              <a:rPr lang="en-US" sz="1400" b="1" dirty="0">
                <a:solidFill>
                  <a:schemeClr val="bg1"/>
                </a:solidFill>
              </a:rPr>
              <a:t>How the money disappears</a:t>
            </a:r>
            <a:endParaRPr lang="en-US" sz="1400" dirty="0"/>
          </a:p>
        </p:txBody>
      </p:sp>
      <p:sp>
        <p:nvSpPr>
          <p:cNvPr id="31" name="prob-trail-line"/>
          <p:cNvSpPr/>
          <p:nvPr/>
        </p:nvSpPr>
        <p:spPr>
          <a:xfrm>
            <a:off x="1106424" y="3803904"/>
            <a:ext cx="4599432" cy="0"/>
          </a:xfrm>
          <a:prstGeom prst="line">
            <a:avLst/>
          </a:prstGeom>
          <a:noFill/>
          <a:ln w="31750">
            <a:solidFill>
              <a:schemeClr val="accent1"/>
            </a:solidFill>
            <a:prstDash val="dash"/>
          </a:ln>
        </p:spPr>
      </p:sp>
      <p:sp>
        <p:nvSpPr>
          <p:cNvPr id="32" name="prob-trail-node0"/>
          <p:cNvSpPr/>
          <p:nvPr/>
        </p:nvSpPr>
        <p:spPr>
          <a:xfrm>
            <a:off x="1005840" y="3703320"/>
            <a:ext cx="201168" cy="201168"/>
          </a:xfrm>
          <a:prstGeom prst="ellipse">
            <a:avLst/>
          </a:prstGeom>
          <a:solidFill>
            <a:schemeClr val="accent4"/>
          </a:solidFill>
          <a:ln w="19050">
            <a:solidFill>
              <a:srgbClr val="0B1220"/>
            </a:solidFill>
            <a:prstDash val="solid"/>
          </a:ln>
        </p:spPr>
      </p:sp>
      <p:sp>
        <p:nvSpPr>
          <p:cNvPr id="33" name="prob-trail-node1"/>
          <p:cNvSpPr/>
          <p:nvPr/>
        </p:nvSpPr>
        <p:spPr>
          <a:xfrm>
            <a:off x="2155698" y="3703320"/>
            <a:ext cx="201168" cy="201168"/>
          </a:xfrm>
          <a:prstGeom prst="ellipse">
            <a:avLst/>
          </a:prstGeom>
          <a:solidFill>
            <a:schemeClr val="accent1"/>
          </a:solidFill>
          <a:ln w="19050">
            <a:solidFill>
              <a:srgbClr val="0B1220"/>
            </a:solidFill>
            <a:prstDash val="solid"/>
          </a:ln>
        </p:spPr>
      </p:sp>
      <p:sp>
        <p:nvSpPr>
          <p:cNvPr id="34" name="prob-trail-node2"/>
          <p:cNvSpPr/>
          <p:nvPr/>
        </p:nvSpPr>
        <p:spPr>
          <a:xfrm>
            <a:off x="3305556" y="3703320"/>
            <a:ext cx="201168" cy="201168"/>
          </a:xfrm>
          <a:prstGeom prst="ellipse">
            <a:avLst/>
          </a:prstGeom>
          <a:solidFill>
            <a:schemeClr val="accent1"/>
          </a:solidFill>
          <a:ln w="19050">
            <a:solidFill>
              <a:srgbClr val="0B1220"/>
            </a:solidFill>
            <a:prstDash val="solid"/>
          </a:ln>
        </p:spPr>
      </p:sp>
      <p:sp>
        <p:nvSpPr>
          <p:cNvPr id="35" name="prob-trail-node3"/>
          <p:cNvSpPr/>
          <p:nvPr/>
        </p:nvSpPr>
        <p:spPr>
          <a:xfrm>
            <a:off x="4455414" y="3703320"/>
            <a:ext cx="201168" cy="201168"/>
          </a:xfrm>
          <a:prstGeom prst="ellipse">
            <a:avLst/>
          </a:prstGeom>
          <a:solidFill>
            <a:schemeClr val="accent1"/>
          </a:solidFill>
          <a:ln w="19050">
            <a:solidFill>
              <a:srgbClr val="0B1220"/>
            </a:solidFill>
            <a:prstDash val="solid"/>
          </a:ln>
        </p:spPr>
      </p:sp>
      <p:sp>
        <p:nvSpPr>
          <p:cNvPr id="36" name="prob-trail-node4"/>
          <p:cNvSpPr/>
          <p:nvPr/>
        </p:nvSpPr>
        <p:spPr>
          <a:xfrm>
            <a:off x="5568696" y="3666744"/>
            <a:ext cx="274320" cy="274320"/>
          </a:xfrm>
          <a:prstGeom prst="roundRect">
            <a:avLst>
              <a:gd name="adj" fmla="val 16667"/>
            </a:avLst>
          </a:prstGeom>
          <a:solidFill>
            <a:schemeClr val="accent3"/>
          </a:solidFill>
          <a:ln w="19050">
            <a:solidFill>
              <a:srgbClr val="0B1220"/>
            </a:solidFill>
            <a:prstDash val="solid"/>
          </a:ln>
        </p:spPr>
      </p:sp>
      <p:sp>
        <p:nvSpPr>
          <p:cNvPr id="37" name="Text 32"/>
          <p:cNvSpPr txBox="1"/>
          <p:nvPr/>
        </p:nvSpPr>
        <p:spPr>
          <a:xfrm>
            <a:off x="502920" y="4041648"/>
            <a:ext cx="1207008" cy="457200"/>
          </a:xfrm>
          <a:prstGeom prst="rect">
            <a:avLst/>
          </a:prstGeom>
          <a:noFill/>
          <a:ln/>
        </p:spPr>
        <p:txBody>
          <a:bodyPr wrap="square" lIns="0" tIns="0" rIns="0" bIns="0" rtlCol="0" anchor="t"/>
          <a:lstStyle/>
          <a:p>
            <a:pPr algn="ctr" indent="0" marL="0">
              <a:buNone/>
            </a:pPr>
            <a:r>
              <a:rPr lang="en-US" sz="1100" dirty="0">
                <a:solidFill>
                  <a:schemeClr val="bg2"/>
                </a:solidFill>
              </a:rPr>
              <a:t>Victim pays</a:t>
            </a:r>
            <a:endParaRPr lang="en-US" sz="1100" dirty="0"/>
          </a:p>
        </p:txBody>
      </p:sp>
      <p:sp>
        <p:nvSpPr>
          <p:cNvPr id="38" name="Text 33"/>
          <p:cNvSpPr txBox="1"/>
          <p:nvPr/>
        </p:nvSpPr>
        <p:spPr>
          <a:xfrm>
            <a:off x="1652778" y="4041648"/>
            <a:ext cx="1207008" cy="457200"/>
          </a:xfrm>
          <a:prstGeom prst="rect">
            <a:avLst/>
          </a:prstGeom>
          <a:noFill/>
          <a:ln/>
        </p:spPr>
        <p:txBody>
          <a:bodyPr wrap="square" lIns="0" tIns="0" rIns="0" bIns="0" rtlCol="0" anchor="t"/>
          <a:lstStyle/>
          <a:p>
            <a:pPr algn="ctr" indent="0" marL="0">
              <a:buNone/>
            </a:pPr>
            <a:r>
              <a:rPr lang="en-US" sz="1100" dirty="0">
                <a:solidFill>
                  <a:schemeClr val="bg2"/>
                </a:solidFill>
              </a:rPr>
              <a:t>Burner wallet</a:t>
            </a:r>
            <a:endParaRPr lang="en-US" sz="1100" dirty="0"/>
          </a:p>
        </p:txBody>
      </p:sp>
      <p:sp>
        <p:nvSpPr>
          <p:cNvPr id="39" name="Text 34"/>
          <p:cNvSpPr txBox="1"/>
          <p:nvPr/>
        </p:nvSpPr>
        <p:spPr>
          <a:xfrm>
            <a:off x="2802636" y="4041648"/>
            <a:ext cx="1207008" cy="457200"/>
          </a:xfrm>
          <a:prstGeom prst="rect">
            <a:avLst/>
          </a:prstGeom>
          <a:noFill/>
          <a:ln/>
        </p:spPr>
        <p:txBody>
          <a:bodyPr wrap="square" lIns="0" tIns="0" rIns="0" bIns="0" rtlCol="0" anchor="t"/>
          <a:lstStyle/>
          <a:p>
            <a:pPr algn="ctr" indent="0" marL="0">
              <a:buNone/>
            </a:pPr>
            <a:r>
              <a:rPr lang="en-US" sz="1100" dirty="0">
                <a:solidFill>
                  <a:schemeClr val="bg2"/>
                </a:solidFill>
              </a:rPr>
              <a:t>Layering hops</a:t>
            </a:r>
            <a:endParaRPr lang="en-US" sz="1100" dirty="0"/>
          </a:p>
        </p:txBody>
      </p:sp>
      <p:sp>
        <p:nvSpPr>
          <p:cNvPr id="40" name="Text 35"/>
          <p:cNvSpPr txBox="1"/>
          <p:nvPr/>
        </p:nvSpPr>
        <p:spPr>
          <a:xfrm>
            <a:off x="3952494" y="4041648"/>
            <a:ext cx="1207008" cy="457200"/>
          </a:xfrm>
          <a:prstGeom prst="rect">
            <a:avLst/>
          </a:prstGeom>
          <a:noFill/>
          <a:ln/>
        </p:spPr>
        <p:txBody>
          <a:bodyPr wrap="square" lIns="0" tIns="0" rIns="0" bIns="0" rtlCol="0" anchor="t"/>
          <a:lstStyle/>
          <a:p>
            <a:pPr algn="ctr" indent="0" marL="0">
              <a:buNone/>
            </a:pPr>
            <a:r>
              <a:rPr lang="en-US" sz="1100" dirty="0">
                <a:solidFill>
                  <a:schemeClr val="bg2"/>
                </a:solidFill>
              </a:rPr>
              <a:t>Exchange deposit</a:t>
            </a:r>
            <a:endParaRPr lang="en-US" sz="1100" dirty="0"/>
          </a:p>
        </p:txBody>
      </p:sp>
      <p:sp>
        <p:nvSpPr>
          <p:cNvPr id="41" name="Text 36"/>
          <p:cNvSpPr txBox="1"/>
          <p:nvPr/>
        </p:nvSpPr>
        <p:spPr>
          <a:xfrm>
            <a:off x="5102352" y="4041648"/>
            <a:ext cx="1207008" cy="457200"/>
          </a:xfrm>
          <a:prstGeom prst="rect">
            <a:avLst/>
          </a:prstGeom>
          <a:noFill/>
          <a:ln/>
        </p:spPr>
        <p:txBody>
          <a:bodyPr wrap="square" lIns="0" tIns="0" rIns="0" bIns="0" rtlCol="0" anchor="t"/>
          <a:lstStyle/>
          <a:p>
            <a:pPr algn="ctr" indent="0" marL="0">
              <a:buNone/>
            </a:pPr>
            <a:r>
              <a:rPr lang="en-US" sz="1100" dirty="0">
                <a:solidFill>
                  <a:schemeClr val="bg2"/>
                </a:solidFill>
              </a:rPr>
              <a:t>Cash-out</a:t>
            </a:r>
            <a:endParaRPr lang="en-US" sz="1100" dirty="0"/>
          </a:p>
        </p:txBody>
      </p:sp>
      <p:sp>
        <p:nvSpPr>
          <p:cNvPr id="42" name="Text 37"/>
          <p:cNvSpPr txBox="1"/>
          <p:nvPr/>
        </p:nvSpPr>
        <p:spPr>
          <a:xfrm>
            <a:off x="822960" y="4526280"/>
            <a:ext cx="5120640" cy="320040"/>
          </a:xfrm>
          <a:prstGeom prst="rect">
            <a:avLst/>
          </a:prstGeom>
          <a:noFill/>
          <a:ln/>
        </p:spPr>
        <p:txBody>
          <a:bodyPr wrap="square" lIns="0" tIns="0" rIns="0" bIns="0" rtlCol="0" anchor="t"/>
          <a:lstStyle/>
          <a:p>
            <a:pPr indent="0" marL="0">
              <a:buNone/>
            </a:pPr>
            <a:r>
              <a:rPr lang="en-US" sz="1300" i="1" dirty="0">
                <a:solidFill>
                  <a:schemeClr val="accent1"/>
                </a:solidFill>
              </a:rPr>
              <a:t>Meanwhile, the investigator is still researching</a:t>
            </a:r>
            <a:endParaRPr lang="en-US" sz="1300" dirty="0"/>
          </a:p>
        </p:txBody>
      </p:sp>
      <p:sp>
        <p:nvSpPr>
          <p:cNvPr id="43" name="Text 38"/>
          <p:cNvSpPr txBox="1"/>
          <p:nvPr/>
        </p:nvSpPr>
        <p:spPr>
          <a:xfrm>
            <a:off x="548640" y="5212080"/>
            <a:ext cx="5715000" cy="868680"/>
          </a:xfrm>
          <a:prstGeom prst="rect">
            <a:avLst/>
          </a:prstGeom>
          <a:noFill/>
          <a:ln/>
        </p:spPr>
        <p:txBody>
          <a:bodyPr wrap="square" lIns="0" tIns="0" rIns="0" bIns="0" rtlCol="0" anchor="t"/>
          <a:lstStyle/>
          <a:p>
            <a:pPr indent="0" marL="0">
              <a:buNone/>
            </a:pPr>
            <a:r>
              <a:rPr lang="en-US" sz="1300" dirty="0">
                <a:solidFill>
                  <a:schemeClr val="tx2"/>
                </a:solidFill>
              </a:rPr>
              <a:t>Why existing tools don't fully solve it: commercial tracing tools (Chainalysis, TRM and similar) are expensive and built for large firms, and even they don't automate the web research around a wallet or VASP contact discovery.</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The gap: tracing tools stop at the web research</a:t>
            </a:r>
            <a:endParaRPr lang="en-US" sz="3200" dirty="0"/>
          </a:p>
        </p:txBody>
      </p:sp>
      <p:graphicFrame>
        <p:nvGraphicFramePr>
          <p:cNvPr id="5" name="gap-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743200"/>
                <a:gridCol w="2606040"/>
                <a:gridCol w="2606040"/>
                <a:gridCol w="3139135"/>
              </a:tblGrid>
              <a:tr h="566928">
                <a:tc>
                  <a:txBody>
                    <a:bodyPr/>
                    <a:lstStyle/>
                    <a:p>
                      <a:pPr algn="ctr" indent="0" marL="0">
                        <a:buNone/>
                      </a:pPr>
                      <a:endParaRPr lang="en-US" sz="14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Manual investigation</a:t>
                      </a:r>
                      <a:endParaRPr lang="en-US" sz="14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accent5"/>
                    </a:solidFill>
                  </a:tcPr>
                </a:tc>
                <a:tc>
                  <a:txBody>
                    <a:bodyPr/>
                    <a:lstStyle/>
                    <a:p>
                      <a:pPr algn="ctr" indent="0" marL="0">
                        <a:buNone/>
                      </a:pPr>
                      <a:r>
                        <a:rPr lang="en-US" sz="1400" b="1" dirty="0">
                          <a:solidFill>
                            <a:schemeClr val="bg1"/>
                          </a:solidFill>
                        </a:rPr>
                        <a:t>Commercial tracing tools</a:t>
                      </a:r>
                      <a:endParaRPr lang="en-US" sz="14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accent5"/>
                    </a:solidFill>
                  </a:tcPr>
                </a:tc>
                <a:tc>
                  <a:txBody>
                    <a:bodyPr/>
                    <a:lstStyle/>
                    <a:p>
                      <a:pPr algn="ctr" indent="0" marL="0">
                        <a:buNone/>
                      </a:pPr>
                      <a:r>
                        <a:rPr lang="en-US" sz="1400" b="1" dirty="0">
                          <a:solidFill>
                            <a:schemeClr val="bg1"/>
                          </a:solidFill>
                        </a:rPr>
                        <a:t>ChainSight</a:t>
                      </a:r>
                      <a:endParaRPr lang="en-US" sz="14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accent1"/>
                    </a:solidFill>
                  </a:tcPr>
                </a:tc>
              </a:tr>
              <a:tr h="566928">
                <a:tc>
                  <a:txBody>
                    <a:bodyPr/>
                    <a:lstStyle/>
                    <a:p>
                      <a:pPr indent="0" marL="0">
                        <a:buNone/>
                      </a:pPr>
                      <a:r>
                        <a:rPr lang="en-US" sz="1300" b="1" dirty="0">
                          <a:solidFill>
                            <a:schemeClr val="tx1"/>
                          </a:solidFill>
                        </a:rPr>
                        <a:t>Cost</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Low tooling cost, very labour-heavy</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Expensive enterprise licences</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Low: public blockchain APIs + TinyFish</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Expertise needed</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Rare blockchain experts</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Trained analysts</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Guided report any investigator can use</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Finding the exchange</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Hours to days</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Fast</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Automated, down to the deposit address</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Web research on the wallet</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Manual searching</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Not automated</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Automated (TinyFish Search + Fetch)</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Exchange's law-enforcement contact</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Manual web research</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Not automated</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Automated (TinyFish Web Agent)</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tx1"/>
                          </a:solidFill>
                        </a:rPr>
                        <a:t>Evidence for the case</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Ad-hoc screenshots</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Tool exports</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Timestamped, hashed page snapshots</a:t>
                      </a:r>
                      <a:endParaRPr lang="en-US" sz="1300" dirty="0"/>
                    </a:p>
                  </a:txBody>
                  <a:tcPr marL="91440" marR="91440" marT="45720" marB="45720" anchor="ctr">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897880"/>
            <a:ext cx="11094415" cy="274320"/>
          </a:xfrm>
          <a:prstGeom prst="rect">
            <a:avLst/>
          </a:prstGeom>
          <a:noFill/>
          <a:ln/>
        </p:spPr>
        <p:txBody>
          <a:bodyPr wrap="square" lIns="0" tIns="0" rIns="0" bIns="0" rtlCol="0" anchor="t"/>
          <a:lstStyle/>
          <a:p>
            <a:pPr indent="0" marL="0">
              <a:buNone/>
            </a:pPr>
            <a:r>
              <a:rPr lang="en-US" sz="1100" i="1" dirty="0">
                <a:solidFill>
                  <a:schemeClr val="accent5"/>
                </a:solidFill>
              </a:rPr>
              <a:t>Comparison reflects the problem framing; ChainSight complements, not replaces, commercial tools for large firms.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Our solution: one wallet in, one investigator report out</a:t>
            </a:r>
            <a:endParaRPr lang="en-US" sz="3200" dirty="0"/>
          </a:p>
        </p:txBody>
      </p:sp>
      <p:sp>
        <p:nvSpPr>
          <p:cNvPr id="3" name="input-card"/>
          <p:cNvSpPr/>
          <p:nvPr/>
        </p:nvSpPr>
        <p:spPr>
          <a:xfrm>
            <a:off x="548640" y="1325880"/>
            <a:ext cx="1600200" cy="3291840"/>
          </a:xfrm>
          <a:prstGeom prst="roundRect">
            <a:avLst>
              <a:gd name="adj" fmla="val 4571"/>
            </a:avLst>
          </a:prstGeom>
          <a:solidFill>
            <a:schemeClr val="tx1"/>
          </a:solidFill>
          <a:ln w="12700">
            <a:solidFill>
              <a:schemeClr val="tx1"/>
            </a:solidFill>
            <a:prstDash val="solid"/>
          </a:ln>
        </p:spPr>
      </p:sp>
      <p:sp>
        <p:nvSpPr>
          <p:cNvPr id="4" name="input-circle"/>
          <p:cNvSpPr/>
          <p:nvPr/>
        </p:nvSpPr>
        <p:spPr>
          <a:xfrm>
            <a:off x="1005840" y="1554480"/>
            <a:ext cx="685800" cy="685800"/>
          </a:xfrm>
          <a:prstGeom prst="ellipse">
            <a:avLst/>
          </a:prstGeom>
          <a:solidFill>
            <a:schemeClr val="accent4"/>
          </a:solidFill>
          <a:ln w="12700">
            <a:solidFill>
              <a:schemeClr val="accent4"/>
            </a:solidFill>
            <a:prstDash val="solid"/>
          </a:ln>
        </p:spPr>
      </p:sp>
      <p:pic>
        <p:nvPicPr>
          <p:cNvPr id="5" name="input-icon" descr="preencoded.png">    </p:cNvPr>
          <p:cNvPicPr>
            <a:picLocks noChangeAspect="1"/>
          </p:cNvPicPr>
          <p:nvPr/>
        </p:nvPicPr>
        <p:blipFill>
          <a:blip r:embed="rId1"/>
          <a:stretch>
            <a:fillRect/>
          </a:stretch>
        </p:blipFill>
        <p:spPr>
          <a:xfrm>
            <a:off x="1184148" y="1732788"/>
            <a:ext cx="329184" cy="329184"/>
          </a:xfrm>
          <a:prstGeom prst="rect">
            <a:avLst/>
          </a:prstGeom>
        </p:spPr>
      </p:pic>
      <p:sp>
        <p:nvSpPr>
          <p:cNvPr id="6" name="Text 3"/>
          <p:cNvSpPr txBox="1"/>
          <p:nvPr/>
        </p:nvSpPr>
        <p:spPr>
          <a:xfrm>
            <a:off x="685800" y="2377440"/>
            <a:ext cx="1325880" cy="320040"/>
          </a:xfrm>
          <a:prstGeom prst="rect">
            <a:avLst/>
          </a:prstGeom>
          <a:noFill/>
          <a:ln/>
        </p:spPr>
        <p:txBody>
          <a:bodyPr wrap="square" lIns="0" tIns="0" rIns="0" bIns="0" rtlCol="0" anchor="t"/>
          <a:lstStyle/>
          <a:p>
            <a:pPr algn="ctr" indent="0" marL="0">
              <a:buNone/>
            </a:pPr>
            <a:r>
              <a:rPr lang="en-US" sz="1500" b="1" dirty="0">
                <a:solidFill>
                  <a:schemeClr val="bg1"/>
                </a:solidFill>
              </a:rPr>
              <a:t>Input</a:t>
            </a:r>
            <a:endParaRPr lang="en-US" sz="1500" dirty="0"/>
          </a:p>
        </p:txBody>
      </p:sp>
      <p:sp>
        <p:nvSpPr>
          <p:cNvPr id="7" name="Text 4"/>
          <p:cNvSpPr txBox="1"/>
          <p:nvPr/>
        </p:nvSpPr>
        <p:spPr>
          <a:xfrm>
            <a:off x="685800" y="2743200"/>
            <a:ext cx="1325880" cy="1737360"/>
          </a:xfrm>
          <a:prstGeom prst="rect">
            <a:avLst/>
          </a:prstGeom>
          <a:noFill/>
          <a:ln/>
        </p:spPr>
        <p:txBody>
          <a:bodyPr wrap="square" lIns="0" tIns="0" rIns="0" bIns="0" rtlCol="0" anchor="t"/>
          <a:lstStyle/>
          <a:p>
            <a:pPr algn="ctr" indent="0" marL="0">
              <a:buNone/>
            </a:pPr>
            <a:r>
              <a:rPr lang="en-US" sz="1200" dirty="0">
                <a:solidFill>
                  <a:schemeClr val="bg2"/>
                </a:solidFill>
              </a:rPr>
              <a:t>Reported wallet + chain, via dashboard or API (later: pulled from complaint systems)</a:t>
            </a:r>
            <a:endParaRPr lang="en-US" sz="1200" dirty="0"/>
          </a:p>
        </p:txBody>
      </p:sp>
      <p:sp>
        <p:nvSpPr>
          <p:cNvPr id="8" name="flow-line"/>
          <p:cNvSpPr/>
          <p:nvPr/>
        </p:nvSpPr>
        <p:spPr>
          <a:xfrm>
            <a:off x="2148840" y="1892808"/>
            <a:ext cx="8636234" cy="0"/>
          </a:xfrm>
          <a:prstGeom prst="line">
            <a:avLst/>
          </a:prstGeom>
          <a:noFill/>
          <a:ln w="31750">
            <a:solidFill>
              <a:schemeClr val="accent1"/>
            </a:solidFill>
            <a:prstDash val="dash"/>
          </a:ln>
        </p:spPr>
      </p:sp>
      <p:sp>
        <p:nvSpPr>
          <p:cNvPr id="9" name="flow-card0"/>
          <p:cNvSpPr/>
          <p:nvPr/>
        </p:nvSpPr>
        <p:spPr>
          <a:xfrm>
            <a:off x="2331720" y="2194560"/>
            <a:ext cx="1715963" cy="2423160"/>
          </a:xfrm>
          <a:prstGeom prst="roundRect">
            <a:avLst>
              <a:gd name="adj" fmla="val 4263"/>
            </a:avLst>
          </a:prstGeom>
          <a:solidFill>
            <a:schemeClr val="bg2"/>
          </a:solidFill>
          <a:ln w="12700">
            <a:solidFill>
              <a:schemeClr val="bg2"/>
            </a:solidFill>
            <a:prstDash val="solid"/>
          </a:ln>
        </p:spPr>
      </p:sp>
      <p:sp>
        <p:nvSpPr>
          <p:cNvPr id="10" name="flow0-circle"/>
          <p:cNvSpPr/>
          <p:nvPr/>
        </p:nvSpPr>
        <p:spPr>
          <a:xfrm>
            <a:off x="2823942" y="1527048"/>
            <a:ext cx="731520" cy="731520"/>
          </a:xfrm>
          <a:prstGeom prst="ellipse">
            <a:avLst/>
          </a:prstGeom>
          <a:solidFill>
            <a:schemeClr val="accent1"/>
          </a:solidFill>
          <a:ln w="12700">
            <a:solidFill>
              <a:schemeClr val="accent1"/>
            </a:solidFill>
            <a:prstDash val="solid"/>
          </a:ln>
        </p:spPr>
      </p:sp>
      <p:pic>
        <p:nvPicPr>
          <p:cNvPr id="11" name="flow0-icon" descr="preencoded.png">    </p:cNvPr>
          <p:cNvPicPr>
            <a:picLocks noChangeAspect="1"/>
          </p:cNvPicPr>
          <p:nvPr/>
        </p:nvPicPr>
        <p:blipFill>
          <a:blip r:embed="rId2"/>
          <a:stretch>
            <a:fillRect/>
          </a:stretch>
        </p:blipFill>
        <p:spPr>
          <a:xfrm>
            <a:off x="3014137" y="1717243"/>
            <a:ext cx="351130" cy="351130"/>
          </a:xfrm>
          <a:prstGeom prst="rect">
            <a:avLst/>
          </a:prstGeom>
        </p:spPr>
      </p:pic>
      <p:sp>
        <p:nvSpPr>
          <p:cNvPr id="12" name="Text 8"/>
          <p:cNvSpPr txBox="1"/>
          <p:nvPr/>
        </p:nvSpPr>
        <p:spPr>
          <a:xfrm>
            <a:off x="2468880" y="2331720"/>
            <a:ext cx="1441643" cy="548640"/>
          </a:xfrm>
          <a:prstGeom prst="rect">
            <a:avLst/>
          </a:prstGeom>
          <a:noFill/>
          <a:ln/>
        </p:spPr>
        <p:txBody>
          <a:bodyPr wrap="square" lIns="0" tIns="0" rIns="0" bIns="0" rtlCol="0" anchor="t"/>
          <a:lstStyle/>
          <a:p>
            <a:pPr indent="0" marL="0">
              <a:buNone/>
            </a:pPr>
            <a:r>
              <a:rPr lang="en-US" sz="1400" b="1" dirty="0">
                <a:solidFill>
                  <a:schemeClr val="tx1"/>
                </a:solidFill>
              </a:rPr>
              <a:t>1. On-chain tracing</a:t>
            </a:r>
            <a:endParaRPr lang="en-US" sz="1400" dirty="0"/>
          </a:p>
        </p:txBody>
      </p:sp>
      <p:sp>
        <p:nvSpPr>
          <p:cNvPr id="13" name="Text 9"/>
          <p:cNvSpPr txBox="1"/>
          <p:nvPr/>
        </p:nvSpPr>
        <p:spPr>
          <a:xfrm>
            <a:off x="2468880" y="2880360"/>
            <a:ext cx="1441643" cy="1280160"/>
          </a:xfrm>
          <a:prstGeom prst="rect">
            <a:avLst/>
          </a:prstGeom>
          <a:noFill/>
          <a:ln/>
        </p:spPr>
        <p:txBody>
          <a:bodyPr wrap="square" lIns="0" tIns="0" rIns="0" bIns="0" rtlCol="0" anchor="t"/>
          <a:lstStyle/>
          <a:p>
            <a:pPr indent="0" marL="0">
              <a:buNone/>
            </a:pPr>
            <a:r>
              <a:rPr lang="en-US" sz="1200" dirty="0">
                <a:solidFill>
                  <a:schemeClr val="tx2"/>
                </a:solidFill>
              </a:rPr>
              <a:t>Follow funds hop by hop; detect pass-through, fan-out / fan-in and peel chains; match known exchange wallets</a:t>
            </a:r>
            <a:endParaRPr lang="en-US" sz="1200" dirty="0"/>
          </a:p>
        </p:txBody>
      </p:sp>
      <p:sp>
        <p:nvSpPr>
          <p:cNvPr id="14" name="flow-card1"/>
          <p:cNvSpPr/>
          <p:nvPr/>
        </p:nvSpPr>
        <p:spPr>
          <a:xfrm>
            <a:off x="4230563" y="2194560"/>
            <a:ext cx="1715963" cy="2423160"/>
          </a:xfrm>
          <a:prstGeom prst="roundRect">
            <a:avLst>
              <a:gd name="adj" fmla="val 4263"/>
            </a:avLst>
          </a:prstGeom>
          <a:solidFill>
            <a:schemeClr val="bg2"/>
          </a:solidFill>
          <a:ln w="12700">
            <a:solidFill>
              <a:schemeClr val="bg2"/>
            </a:solidFill>
            <a:prstDash val="solid"/>
          </a:ln>
        </p:spPr>
      </p:sp>
      <p:sp>
        <p:nvSpPr>
          <p:cNvPr id="15" name="flow1-circle"/>
          <p:cNvSpPr/>
          <p:nvPr/>
        </p:nvSpPr>
        <p:spPr>
          <a:xfrm>
            <a:off x="4722785" y="1527048"/>
            <a:ext cx="731520" cy="731520"/>
          </a:xfrm>
          <a:prstGeom prst="ellipse">
            <a:avLst/>
          </a:prstGeom>
          <a:solidFill>
            <a:schemeClr val="accent1"/>
          </a:solidFill>
          <a:ln w="12700">
            <a:solidFill>
              <a:schemeClr val="accent1"/>
            </a:solidFill>
            <a:prstDash val="solid"/>
          </a:ln>
        </p:spPr>
      </p:sp>
      <p:pic>
        <p:nvPicPr>
          <p:cNvPr id="16" name="flow1-icon" descr="preencoded.png">    </p:cNvPr>
          <p:cNvPicPr>
            <a:picLocks noChangeAspect="1"/>
          </p:cNvPicPr>
          <p:nvPr/>
        </p:nvPicPr>
        <p:blipFill>
          <a:blip r:embed="rId3"/>
          <a:stretch>
            <a:fillRect/>
          </a:stretch>
        </p:blipFill>
        <p:spPr>
          <a:xfrm>
            <a:off x="4912980" y="1717243"/>
            <a:ext cx="351130" cy="351130"/>
          </a:xfrm>
          <a:prstGeom prst="rect">
            <a:avLst/>
          </a:prstGeom>
        </p:spPr>
      </p:pic>
      <p:sp>
        <p:nvSpPr>
          <p:cNvPr id="17" name="Text 12"/>
          <p:cNvSpPr txBox="1"/>
          <p:nvPr/>
        </p:nvSpPr>
        <p:spPr>
          <a:xfrm>
            <a:off x="4367723" y="2331720"/>
            <a:ext cx="1441643" cy="548640"/>
          </a:xfrm>
          <a:prstGeom prst="rect">
            <a:avLst/>
          </a:prstGeom>
          <a:noFill/>
          <a:ln/>
        </p:spPr>
        <p:txBody>
          <a:bodyPr wrap="square" lIns="0" tIns="0" rIns="0" bIns="0" rtlCol="0" anchor="t"/>
          <a:lstStyle/>
          <a:p>
            <a:pPr indent="0" marL="0">
              <a:buNone/>
            </a:pPr>
            <a:r>
              <a:rPr lang="en-US" sz="1400" b="1" dirty="0">
                <a:solidFill>
                  <a:schemeClr val="tx1"/>
                </a:solidFill>
              </a:rPr>
              <a:t>2. Off-chain intel</a:t>
            </a:r>
            <a:endParaRPr lang="en-US" sz="1400" dirty="0"/>
          </a:p>
        </p:txBody>
      </p:sp>
      <p:sp>
        <p:nvSpPr>
          <p:cNvPr id="18" name="Text 13"/>
          <p:cNvSpPr txBox="1"/>
          <p:nvPr/>
        </p:nvSpPr>
        <p:spPr>
          <a:xfrm>
            <a:off x="4367723" y="2880360"/>
            <a:ext cx="1441643" cy="1280160"/>
          </a:xfrm>
          <a:prstGeom prst="rect">
            <a:avLst/>
          </a:prstGeom>
          <a:noFill/>
          <a:ln/>
        </p:spPr>
        <p:txBody>
          <a:bodyPr wrap="square" lIns="0" tIns="0" rIns="0" bIns="0" rtlCol="0" anchor="t"/>
          <a:lstStyle/>
          <a:p>
            <a:pPr indent="0" marL="0">
              <a:buNone/>
            </a:pPr>
            <a:r>
              <a:rPr lang="en-US" sz="1200" dirty="0">
                <a:solidFill>
                  <a:schemeClr val="tx2"/>
                </a:solidFill>
              </a:rPr>
              <a:t>Scam-report sites, forums and social pages; sanctions and abuse lists; P2P seller profiles</a:t>
            </a:r>
            <a:endParaRPr lang="en-US" sz="1200" dirty="0"/>
          </a:p>
        </p:txBody>
      </p:sp>
      <p:sp>
        <p:nvSpPr>
          <p:cNvPr id="19" name="flow-tf1"/>
          <p:cNvSpPr/>
          <p:nvPr/>
        </p:nvSpPr>
        <p:spPr>
          <a:xfrm>
            <a:off x="4367723" y="4206240"/>
            <a:ext cx="1005840" cy="292608"/>
          </a:xfrm>
          <a:prstGeom prst="roundRect">
            <a:avLst>
              <a:gd name="adj" fmla="val 50000"/>
            </a:avLst>
          </a:prstGeom>
          <a:solidFill>
            <a:schemeClr val="accent2"/>
          </a:solidFill>
          <a:ln w="12700">
            <a:solidFill>
              <a:schemeClr val="accent2"/>
            </a:solidFill>
            <a:prstDash val="solid"/>
          </a:ln>
        </p:spPr>
      </p:sp>
      <p:sp>
        <p:nvSpPr>
          <p:cNvPr id="20" name="Text 15"/>
          <p:cNvSpPr txBox="1"/>
          <p:nvPr/>
        </p:nvSpPr>
        <p:spPr>
          <a:xfrm>
            <a:off x="4367723" y="4206240"/>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TinyFish</a:t>
            </a:r>
            <a:endParaRPr lang="en-US" sz="1100" dirty="0"/>
          </a:p>
        </p:txBody>
      </p:sp>
      <p:sp>
        <p:nvSpPr>
          <p:cNvPr id="21" name="flow-card2"/>
          <p:cNvSpPr/>
          <p:nvPr/>
        </p:nvSpPr>
        <p:spPr>
          <a:xfrm>
            <a:off x="6129406" y="2194560"/>
            <a:ext cx="1715963" cy="2423160"/>
          </a:xfrm>
          <a:prstGeom prst="roundRect">
            <a:avLst>
              <a:gd name="adj" fmla="val 4263"/>
            </a:avLst>
          </a:prstGeom>
          <a:solidFill>
            <a:schemeClr val="bg2"/>
          </a:solidFill>
          <a:ln w="12700">
            <a:solidFill>
              <a:schemeClr val="bg2"/>
            </a:solidFill>
            <a:prstDash val="solid"/>
          </a:ln>
        </p:spPr>
      </p:sp>
      <p:sp>
        <p:nvSpPr>
          <p:cNvPr id="22" name="flow2-circle"/>
          <p:cNvSpPr/>
          <p:nvPr/>
        </p:nvSpPr>
        <p:spPr>
          <a:xfrm>
            <a:off x="6621628" y="1527048"/>
            <a:ext cx="731520" cy="731520"/>
          </a:xfrm>
          <a:prstGeom prst="ellipse">
            <a:avLst/>
          </a:prstGeom>
          <a:solidFill>
            <a:schemeClr val="accent1"/>
          </a:solidFill>
          <a:ln w="12700">
            <a:solidFill>
              <a:schemeClr val="accent1"/>
            </a:solidFill>
            <a:prstDash val="solid"/>
          </a:ln>
        </p:spPr>
      </p:sp>
      <p:pic>
        <p:nvPicPr>
          <p:cNvPr id="23" name="flow2-icon" descr="preencoded.png">    </p:cNvPr>
          <p:cNvPicPr>
            <a:picLocks noChangeAspect="1"/>
          </p:cNvPicPr>
          <p:nvPr/>
        </p:nvPicPr>
        <p:blipFill>
          <a:blip r:embed="rId4"/>
          <a:stretch>
            <a:fillRect/>
          </a:stretch>
        </p:blipFill>
        <p:spPr>
          <a:xfrm>
            <a:off x="6811823" y="1717243"/>
            <a:ext cx="351130" cy="351130"/>
          </a:xfrm>
          <a:prstGeom prst="rect">
            <a:avLst/>
          </a:prstGeom>
        </p:spPr>
      </p:pic>
      <p:sp>
        <p:nvSpPr>
          <p:cNvPr id="24" name="Text 18"/>
          <p:cNvSpPr txBox="1"/>
          <p:nvPr/>
        </p:nvSpPr>
        <p:spPr>
          <a:xfrm>
            <a:off x="6266566" y="2331720"/>
            <a:ext cx="1441643" cy="548640"/>
          </a:xfrm>
          <a:prstGeom prst="rect">
            <a:avLst/>
          </a:prstGeom>
          <a:noFill/>
          <a:ln/>
        </p:spPr>
        <p:txBody>
          <a:bodyPr wrap="square" lIns="0" tIns="0" rIns="0" bIns="0" rtlCol="0" anchor="t"/>
          <a:lstStyle/>
          <a:p>
            <a:pPr indent="0" marL="0">
              <a:buNone/>
            </a:pPr>
            <a:r>
              <a:rPr lang="en-US" sz="1400" b="1" dirty="0">
                <a:solidFill>
                  <a:schemeClr val="tx1"/>
                </a:solidFill>
              </a:rPr>
              <a:t>3. VASP contact discovery</a:t>
            </a:r>
            <a:endParaRPr lang="en-US" sz="1400" dirty="0"/>
          </a:p>
        </p:txBody>
      </p:sp>
      <p:sp>
        <p:nvSpPr>
          <p:cNvPr id="25" name="Text 19"/>
          <p:cNvSpPr txBox="1"/>
          <p:nvPr/>
        </p:nvSpPr>
        <p:spPr>
          <a:xfrm>
            <a:off x="6266566" y="2880360"/>
            <a:ext cx="1441643" cy="1280160"/>
          </a:xfrm>
          <a:prstGeom prst="rect">
            <a:avLst/>
          </a:prstGeom>
          <a:noFill/>
          <a:ln/>
        </p:spPr>
        <p:txBody>
          <a:bodyPr wrap="square" lIns="0" tIns="0" rIns="0" bIns="0" rtlCol="0" anchor="t"/>
          <a:lstStyle/>
          <a:p>
            <a:pPr indent="0" marL="0">
              <a:buNone/>
            </a:pPr>
            <a:r>
              <a:rPr lang="en-US" sz="1200" dirty="0">
                <a:solidFill>
                  <a:schemeClr val="tx2"/>
                </a:solidFill>
              </a:rPr>
              <a:t>Agent finds the exchange's law-enforcement request page, process and contact</a:t>
            </a:r>
            <a:endParaRPr lang="en-US" sz="1200" dirty="0"/>
          </a:p>
        </p:txBody>
      </p:sp>
      <p:sp>
        <p:nvSpPr>
          <p:cNvPr id="26" name="flow-tf2"/>
          <p:cNvSpPr/>
          <p:nvPr/>
        </p:nvSpPr>
        <p:spPr>
          <a:xfrm>
            <a:off x="6266566" y="4206240"/>
            <a:ext cx="1005840" cy="292608"/>
          </a:xfrm>
          <a:prstGeom prst="roundRect">
            <a:avLst>
              <a:gd name="adj" fmla="val 50000"/>
            </a:avLst>
          </a:prstGeom>
          <a:solidFill>
            <a:schemeClr val="accent2"/>
          </a:solidFill>
          <a:ln w="12700">
            <a:solidFill>
              <a:schemeClr val="accent2"/>
            </a:solidFill>
            <a:prstDash val="solid"/>
          </a:ln>
        </p:spPr>
      </p:sp>
      <p:sp>
        <p:nvSpPr>
          <p:cNvPr id="27" name="Text 21"/>
          <p:cNvSpPr txBox="1"/>
          <p:nvPr/>
        </p:nvSpPr>
        <p:spPr>
          <a:xfrm>
            <a:off x="6266566" y="4206240"/>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TinyFish</a:t>
            </a:r>
            <a:endParaRPr lang="en-US" sz="1100" dirty="0"/>
          </a:p>
        </p:txBody>
      </p:sp>
      <p:sp>
        <p:nvSpPr>
          <p:cNvPr id="28" name="flow-card3"/>
          <p:cNvSpPr/>
          <p:nvPr/>
        </p:nvSpPr>
        <p:spPr>
          <a:xfrm>
            <a:off x="8028249" y="2194560"/>
            <a:ext cx="1715963" cy="2423160"/>
          </a:xfrm>
          <a:prstGeom prst="roundRect">
            <a:avLst>
              <a:gd name="adj" fmla="val 4263"/>
            </a:avLst>
          </a:prstGeom>
          <a:solidFill>
            <a:schemeClr val="bg2"/>
          </a:solidFill>
          <a:ln w="12700">
            <a:solidFill>
              <a:schemeClr val="bg2"/>
            </a:solidFill>
            <a:prstDash val="solid"/>
          </a:ln>
        </p:spPr>
      </p:sp>
      <p:sp>
        <p:nvSpPr>
          <p:cNvPr id="29" name="flow3-circle"/>
          <p:cNvSpPr/>
          <p:nvPr/>
        </p:nvSpPr>
        <p:spPr>
          <a:xfrm>
            <a:off x="8520471" y="1527048"/>
            <a:ext cx="731520" cy="731520"/>
          </a:xfrm>
          <a:prstGeom prst="ellipse">
            <a:avLst/>
          </a:prstGeom>
          <a:solidFill>
            <a:schemeClr val="accent1"/>
          </a:solidFill>
          <a:ln w="12700">
            <a:solidFill>
              <a:schemeClr val="accent1"/>
            </a:solidFill>
            <a:prstDash val="solid"/>
          </a:ln>
        </p:spPr>
      </p:sp>
      <p:pic>
        <p:nvPicPr>
          <p:cNvPr id="30" name="flow3-icon" descr="preencoded.png">    </p:cNvPr>
          <p:cNvPicPr>
            <a:picLocks noChangeAspect="1"/>
          </p:cNvPicPr>
          <p:nvPr/>
        </p:nvPicPr>
        <p:blipFill>
          <a:blip r:embed="rId5"/>
          <a:stretch>
            <a:fillRect/>
          </a:stretch>
        </p:blipFill>
        <p:spPr>
          <a:xfrm>
            <a:off x="8710666" y="1717243"/>
            <a:ext cx="351130" cy="351130"/>
          </a:xfrm>
          <a:prstGeom prst="rect">
            <a:avLst/>
          </a:prstGeom>
        </p:spPr>
      </p:pic>
      <p:sp>
        <p:nvSpPr>
          <p:cNvPr id="31" name="Text 24"/>
          <p:cNvSpPr txBox="1"/>
          <p:nvPr/>
        </p:nvSpPr>
        <p:spPr>
          <a:xfrm>
            <a:off x="8165409" y="2331720"/>
            <a:ext cx="1441643" cy="548640"/>
          </a:xfrm>
          <a:prstGeom prst="rect">
            <a:avLst/>
          </a:prstGeom>
          <a:noFill/>
          <a:ln/>
        </p:spPr>
        <p:txBody>
          <a:bodyPr wrap="square" lIns="0" tIns="0" rIns="0" bIns="0" rtlCol="0" anchor="t"/>
          <a:lstStyle/>
          <a:p>
            <a:pPr indent="0" marL="0">
              <a:buNone/>
            </a:pPr>
            <a:r>
              <a:rPr lang="en-US" sz="1400" b="1" dirty="0">
                <a:solidFill>
                  <a:schemeClr val="tx1"/>
                </a:solidFill>
              </a:rPr>
              <a:t>4. Evidence capture</a:t>
            </a:r>
            <a:endParaRPr lang="en-US" sz="1400" dirty="0"/>
          </a:p>
        </p:txBody>
      </p:sp>
      <p:sp>
        <p:nvSpPr>
          <p:cNvPr id="32" name="Text 25"/>
          <p:cNvSpPr txBox="1"/>
          <p:nvPr/>
        </p:nvSpPr>
        <p:spPr>
          <a:xfrm>
            <a:off x="8165409" y="2880360"/>
            <a:ext cx="1441643" cy="1280160"/>
          </a:xfrm>
          <a:prstGeom prst="rect">
            <a:avLst/>
          </a:prstGeom>
          <a:noFill/>
          <a:ln/>
        </p:spPr>
        <p:txBody>
          <a:bodyPr wrap="square" lIns="0" tIns="0" rIns="0" bIns="0" rtlCol="0" anchor="t"/>
          <a:lstStyle/>
          <a:p>
            <a:pPr indent="0" marL="0">
              <a:buNone/>
            </a:pPr>
            <a:r>
              <a:rPr lang="en-US" sz="1200" dirty="0">
                <a:solidFill>
                  <a:schemeClr val="tx2"/>
                </a:solidFill>
              </a:rPr>
              <a:t>Timestamped, hashed snapshots of every page used</a:t>
            </a:r>
            <a:endParaRPr lang="en-US" sz="1200" dirty="0"/>
          </a:p>
        </p:txBody>
      </p:sp>
      <p:sp>
        <p:nvSpPr>
          <p:cNvPr id="33" name="flow-tf3"/>
          <p:cNvSpPr/>
          <p:nvPr/>
        </p:nvSpPr>
        <p:spPr>
          <a:xfrm>
            <a:off x="8165409" y="4206240"/>
            <a:ext cx="1005840" cy="292608"/>
          </a:xfrm>
          <a:prstGeom prst="roundRect">
            <a:avLst>
              <a:gd name="adj" fmla="val 50000"/>
            </a:avLst>
          </a:prstGeom>
          <a:solidFill>
            <a:schemeClr val="accent2"/>
          </a:solidFill>
          <a:ln w="12700">
            <a:solidFill>
              <a:schemeClr val="accent2"/>
            </a:solidFill>
            <a:prstDash val="solid"/>
          </a:ln>
        </p:spPr>
      </p:sp>
      <p:sp>
        <p:nvSpPr>
          <p:cNvPr id="34" name="Text 27"/>
          <p:cNvSpPr txBox="1"/>
          <p:nvPr/>
        </p:nvSpPr>
        <p:spPr>
          <a:xfrm>
            <a:off x="8165409" y="4206240"/>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TinyFish</a:t>
            </a:r>
            <a:endParaRPr lang="en-US" sz="1100" dirty="0"/>
          </a:p>
        </p:txBody>
      </p:sp>
      <p:sp>
        <p:nvSpPr>
          <p:cNvPr id="35" name="flow-card4"/>
          <p:cNvSpPr/>
          <p:nvPr/>
        </p:nvSpPr>
        <p:spPr>
          <a:xfrm>
            <a:off x="9927092" y="2194560"/>
            <a:ext cx="1715963" cy="2423160"/>
          </a:xfrm>
          <a:prstGeom prst="roundRect">
            <a:avLst>
              <a:gd name="adj" fmla="val 4263"/>
            </a:avLst>
          </a:prstGeom>
          <a:solidFill>
            <a:schemeClr val="bg2"/>
          </a:solidFill>
          <a:ln w="12700">
            <a:solidFill>
              <a:schemeClr val="bg2"/>
            </a:solidFill>
            <a:prstDash val="solid"/>
          </a:ln>
        </p:spPr>
      </p:sp>
      <p:sp>
        <p:nvSpPr>
          <p:cNvPr id="36" name="flow4-circle"/>
          <p:cNvSpPr/>
          <p:nvPr/>
        </p:nvSpPr>
        <p:spPr>
          <a:xfrm>
            <a:off x="10419314" y="1527048"/>
            <a:ext cx="731520" cy="731520"/>
          </a:xfrm>
          <a:prstGeom prst="ellipse">
            <a:avLst/>
          </a:prstGeom>
          <a:solidFill>
            <a:schemeClr val="accent3"/>
          </a:solidFill>
          <a:ln w="12700">
            <a:solidFill>
              <a:schemeClr val="accent3"/>
            </a:solidFill>
            <a:prstDash val="solid"/>
          </a:ln>
        </p:spPr>
      </p:sp>
      <p:pic>
        <p:nvPicPr>
          <p:cNvPr id="37" name="flow4-icon" descr="preencoded.png">    </p:cNvPr>
          <p:cNvPicPr>
            <a:picLocks noChangeAspect="1"/>
          </p:cNvPicPr>
          <p:nvPr/>
        </p:nvPicPr>
        <p:blipFill>
          <a:blip r:embed="rId6"/>
          <a:stretch>
            <a:fillRect/>
          </a:stretch>
        </p:blipFill>
        <p:spPr>
          <a:xfrm>
            <a:off x="10609509" y="1717243"/>
            <a:ext cx="351130" cy="351130"/>
          </a:xfrm>
          <a:prstGeom prst="rect">
            <a:avLst/>
          </a:prstGeom>
        </p:spPr>
      </p:pic>
      <p:sp>
        <p:nvSpPr>
          <p:cNvPr id="38" name="Text 30"/>
          <p:cNvSpPr txBox="1"/>
          <p:nvPr/>
        </p:nvSpPr>
        <p:spPr>
          <a:xfrm>
            <a:off x="10064252" y="2331720"/>
            <a:ext cx="1441643" cy="548640"/>
          </a:xfrm>
          <a:prstGeom prst="rect">
            <a:avLst/>
          </a:prstGeom>
          <a:noFill/>
          <a:ln/>
        </p:spPr>
        <p:txBody>
          <a:bodyPr wrap="square" lIns="0" tIns="0" rIns="0" bIns="0" rtlCol="0" anchor="t"/>
          <a:lstStyle/>
          <a:p>
            <a:pPr indent="0" marL="0">
              <a:buNone/>
            </a:pPr>
            <a:r>
              <a:rPr lang="en-US" sz="1400" b="1" dirty="0">
                <a:solidFill>
                  <a:schemeClr val="tx1"/>
                </a:solidFill>
              </a:rPr>
              <a:t>5. Report</a:t>
            </a:r>
            <a:endParaRPr lang="en-US" sz="1400" dirty="0"/>
          </a:p>
        </p:txBody>
      </p:sp>
      <p:sp>
        <p:nvSpPr>
          <p:cNvPr id="39" name="Text 31"/>
          <p:cNvSpPr txBox="1"/>
          <p:nvPr/>
        </p:nvSpPr>
        <p:spPr>
          <a:xfrm>
            <a:off x="10064252" y="2880360"/>
            <a:ext cx="1441643" cy="1280160"/>
          </a:xfrm>
          <a:prstGeom prst="rect">
            <a:avLst/>
          </a:prstGeom>
          <a:noFill/>
          <a:ln/>
        </p:spPr>
        <p:txBody>
          <a:bodyPr wrap="square" lIns="0" tIns="0" rIns="0" bIns="0" rtlCol="0" anchor="t"/>
          <a:lstStyle/>
          <a:p>
            <a:pPr indent="0" marL="0">
              <a:buNone/>
            </a:pPr>
            <a:r>
              <a:rPr lang="en-US" sz="1200" dirty="0">
                <a:solidFill>
                  <a:schemeClr val="tx2"/>
                </a:solidFill>
              </a:rPr>
              <a:t>Fund-flow graph, risk category, nearest VASP, next action, evidence trail</a:t>
            </a:r>
            <a:endParaRPr lang="en-US" sz="1200" dirty="0"/>
          </a:p>
        </p:txBody>
      </p:sp>
      <p:sp>
        <p:nvSpPr>
          <p:cNvPr id="40" name="review-card"/>
          <p:cNvSpPr/>
          <p:nvPr/>
        </p:nvSpPr>
        <p:spPr>
          <a:xfrm>
            <a:off x="548640" y="4892040"/>
            <a:ext cx="11094415" cy="1097280"/>
          </a:xfrm>
          <a:prstGeom prst="roundRect">
            <a:avLst>
              <a:gd name="adj" fmla="val 6667"/>
            </a:avLst>
          </a:prstGeom>
          <a:solidFill>
            <a:schemeClr val="tx1"/>
          </a:solidFill>
          <a:ln w="12700">
            <a:solidFill>
              <a:schemeClr val="tx1"/>
            </a:solidFill>
            <a:prstDash val="solid"/>
          </a:ln>
        </p:spPr>
      </p:sp>
      <p:sp>
        <p:nvSpPr>
          <p:cNvPr id="41" name="review-circle"/>
          <p:cNvSpPr/>
          <p:nvPr/>
        </p:nvSpPr>
        <p:spPr>
          <a:xfrm>
            <a:off x="822960" y="5093208"/>
            <a:ext cx="685800" cy="685800"/>
          </a:xfrm>
          <a:prstGeom prst="ellipse">
            <a:avLst/>
          </a:prstGeom>
          <a:solidFill>
            <a:schemeClr val="accent2"/>
          </a:solidFill>
          <a:ln w="12700">
            <a:solidFill>
              <a:schemeClr val="accent2"/>
            </a:solidFill>
            <a:prstDash val="solid"/>
          </a:ln>
        </p:spPr>
      </p:sp>
      <p:pic>
        <p:nvPicPr>
          <p:cNvPr id="42" name="review-icon" descr="preencoded.png">    </p:cNvPr>
          <p:cNvPicPr>
            <a:picLocks noChangeAspect="1"/>
          </p:cNvPicPr>
          <p:nvPr/>
        </p:nvPicPr>
        <p:blipFill>
          <a:blip r:embed="rId7"/>
          <a:stretch>
            <a:fillRect/>
          </a:stretch>
        </p:blipFill>
        <p:spPr>
          <a:xfrm>
            <a:off x="1001268" y="5271516"/>
            <a:ext cx="329184" cy="329184"/>
          </a:xfrm>
          <a:prstGeom prst="rect">
            <a:avLst/>
          </a:prstGeom>
        </p:spPr>
      </p:pic>
      <p:sp>
        <p:nvSpPr>
          <p:cNvPr id="43" name="Text 34"/>
          <p:cNvSpPr txBox="1"/>
          <p:nvPr/>
        </p:nvSpPr>
        <p:spPr>
          <a:xfrm>
            <a:off x="1737360" y="5029200"/>
            <a:ext cx="9631375" cy="822960"/>
          </a:xfrm>
          <a:prstGeom prst="rect">
            <a:avLst/>
          </a:prstGeom>
          <a:noFill/>
          <a:ln/>
        </p:spPr>
        <p:txBody>
          <a:bodyPr wrap="square" lIns="0" tIns="0" rIns="0" bIns="0" rtlCol="0" anchor="ctr"/>
          <a:lstStyle/>
          <a:p>
            <a:pPr indent="0" marL="0">
              <a:buNone/>
            </a:pPr>
            <a:r>
              <a:rPr lang="en-US" sz="1500" b="1" dirty="0">
                <a:solidFill>
                  <a:schemeClr val="bg1"/>
                </a:solidFill>
              </a:rPr>
              <a:t>A human investigator always reviews.  </a:t>
            </a:r>
            <a:pPr indent="0" marL="0">
              <a:buNone/>
            </a:pPr>
            <a:r>
              <a:rPr lang="en-US" sz="1500" dirty="0">
                <a:solidFill>
                  <a:schemeClr val="bg2"/>
                </a:solidFill>
              </a:rPr>
              <a:t>The risk score is a lead, not proof of guilt. Every point in the score is explained, and every finding links to its evidence.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What the investigator gets: a case-ready report</a:t>
            </a:r>
            <a:endParaRPr lang="en-US" sz="3200" dirty="0"/>
          </a:p>
        </p:txBody>
      </p:sp>
      <p:sp>
        <p:nvSpPr>
          <p:cNvPr id="3" name="part0-circle"/>
          <p:cNvSpPr/>
          <p:nvPr/>
        </p:nvSpPr>
        <p:spPr>
          <a:xfrm>
            <a:off x="548640" y="1371600"/>
            <a:ext cx="640080" cy="640080"/>
          </a:xfrm>
          <a:prstGeom prst="ellipse">
            <a:avLst/>
          </a:prstGeom>
          <a:solidFill>
            <a:schemeClr val="accent1"/>
          </a:solidFill>
          <a:ln w="12700">
            <a:solidFill>
              <a:schemeClr val="accent1"/>
            </a:solidFill>
            <a:prstDash val="solid"/>
          </a:ln>
        </p:spPr>
      </p:sp>
      <p:pic>
        <p:nvPicPr>
          <p:cNvPr id="4" name="part0-icon" descr="preencoded.png">    </p:cNvPr>
          <p:cNvPicPr>
            <a:picLocks noChangeAspect="1"/>
          </p:cNvPicPr>
          <p:nvPr/>
        </p:nvPicPr>
        <p:blipFill>
          <a:blip r:embed="rId1"/>
          <a:stretch>
            <a:fillRect/>
          </a:stretch>
        </p:blipFill>
        <p:spPr>
          <a:xfrm>
            <a:off x="715061" y="1538021"/>
            <a:ext cx="307238" cy="307238"/>
          </a:xfrm>
          <a:prstGeom prst="rect">
            <a:avLst/>
          </a:prstGeom>
        </p:spPr>
      </p:pic>
      <p:sp>
        <p:nvSpPr>
          <p:cNvPr id="5" name="Text 2"/>
          <p:cNvSpPr txBox="1"/>
          <p:nvPr/>
        </p:nvSpPr>
        <p:spPr>
          <a:xfrm>
            <a:off x="1371600" y="1353312"/>
            <a:ext cx="2606040" cy="548640"/>
          </a:xfrm>
          <a:prstGeom prst="rect">
            <a:avLst/>
          </a:prstGeom>
          <a:noFill/>
          <a:ln/>
        </p:spPr>
        <p:txBody>
          <a:bodyPr wrap="square" lIns="0" tIns="0" rIns="0" bIns="0" rtlCol="0" anchor="t"/>
          <a:lstStyle/>
          <a:p>
            <a:pPr indent="0" marL="0">
              <a:buNone/>
            </a:pPr>
            <a:r>
              <a:rPr lang="en-US" sz="1500" b="1" dirty="0">
                <a:solidFill>
                  <a:schemeClr val="tx1"/>
                </a:solidFill>
              </a:rPr>
              <a:t>Fund-flow graph</a:t>
            </a:r>
            <a:endParaRPr lang="en-US" sz="1500" dirty="0"/>
          </a:p>
        </p:txBody>
      </p:sp>
      <p:sp>
        <p:nvSpPr>
          <p:cNvPr id="6" name="Text 3"/>
          <p:cNvSpPr txBox="1"/>
          <p:nvPr/>
        </p:nvSpPr>
        <p:spPr>
          <a:xfrm>
            <a:off x="1371600" y="1920240"/>
            <a:ext cx="2606040" cy="731520"/>
          </a:xfrm>
          <a:prstGeom prst="rect">
            <a:avLst/>
          </a:prstGeom>
          <a:noFill/>
          <a:ln/>
        </p:spPr>
        <p:txBody>
          <a:bodyPr wrap="square" lIns="0" tIns="0" rIns="0" bIns="0" rtlCol="0" anchor="t"/>
          <a:lstStyle/>
          <a:p>
            <a:pPr indent="0" marL="0">
              <a:buNone/>
            </a:pPr>
            <a:r>
              <a:rPr lang="en-US" sz="1200" dirty="0">
                <a:solidFill>
                  <a:schemeClr val="tx2"/>
                </a:solidFill>
              </a:rPr>
              <a:t>Every hop, amount and timestamp, with the path to the exchange highlighted</a:t>
            </a:r>
            <a:endParaRPr lang="en-US" sz="1200" dirty="0"/>
          </a:p>
        </p:txBody>
      </p:sp>
      <p:sp>
        <p:nvSpPr>
          <p:cNvPr id="7" name="part1-circle"/>
          <p:cNvSpPr/>
          <p:nvPr/>
        </p:nvSpPr>
        <p:spPr>
          <a:xfrm>
            <a:off x="4160520" y="1371600"/>
            <a:ext cx="640080" cy="640080"/>
          </a:xfrm>
          <a:prstGeom prst="ellipse">
            <a:avLst/>
          </a:prstGeom>
          <a:solidFill>
            <a:schemeClr val="accent1"/>
          </a:solidFill>
          <a:ln w="12700">
            <a:solidFill>
              <a:schemeClr val="accent1"/>
            </a:solidFill>
            <a:prstDash val="solid"/>
          </a:ln>
        </p:spPr>
      </p:sp>
      <p:pic>
        <p:nvPicPr>
          <p:cNvPr id="8" name="part1-icon" descr="preencoded.png">    </p:cNvPr>
          <p:cNvPicPr>
            <a:picLocks noChangeAspect="1"/>
          </p:cNvPicPr>
          <p:nvPr/>
        </p:nvPicPr>
        <p:blipFill>
          <a:blip r:embed="rId2"/>
          <a:stretch>
            <a:fillRect/>
          </a:stretch>
        </p:blipFill>
        <p:spPr>
          <a:xfrm>
            <a:off x="4326941" y="1538021"/>
            <a:ext cx="307238" cy="307238"/>
          </a:xfrm>
          <a:prstGeom prst="rect">
            <a:avLst/>
          </a:prstGeom>
        </p:spPr>
      </p:pic>
      <p:sp>
        <p:nvSpPr>
          <p:cNvPr id="9" name="Text 5"/>
          <p:cNvSpPr txBox="1"/>
          <p:nvPr/>
        </p:nvSpPr>
        <p:spPr>
          <a:xfrm>
            <a:off x="4983480" y="1353312"/>
            <a:ext cx="2606040" cy="548640"/>
          </a:xfrm>
          <a:prstGeom prst="rect">
            <a:avLst/>
          </a:prstGeom>
          <a:noFill/>
          <a:ln/>
        </p:spPr>
        <p:txBody>
          <a:bodyPr wrap="square" lIns="0" tIns="0" rIns="0" bIns="0" rtlCol="0" anchor="t"/>
          <a:lstStyle/>
          <a:p>
            <a:pPr indent="0" marL="0">
              <a:buNone/>
            </a:pPr>
            <a:r>
              <a:rPr lang="en-US" sz="1500" b="1" dirty="0">
                <a:solidFill>
                  <a:schemeClr val="tx1"/>
                </a:solidFill>
              </a:rPr>
              <a:t>Nearest VASP + deposit address</a:t>
            </a:r>
            <a:endParaRPr lang="en-US" sz="1500" dirty="0"/>
          </a:p>
        </p:txBody>
      </p:sp>
      <p:sp>
        <p:nvSpPr>
          <p:cNvPr id="10" name="Text 6"/>
          <p:cNvSpPr txBox="1"/>
          <p:nvPr/>
        </p:nvSpPr>
        <p:spPr>
          <a:xfrm>
            <a:off x="4983480" y="1920240"/>
            <a:ext cx="2606040" cy="731520"/>
          </a:xfrm>
          <a:prstGeom prst="rect">
            <a:avLst/>
          </a:prstGeom>
          <a:noFill/>
          <a:ln/>
        </p:spPr>
        <p:txBody>
          <a:bodyPr wrap="square" lIns="0" tIns="0" rIns="0" bIns="0" rtlCol="0" anchor="t"/>
          <a:lstStyle/>
          <a:p>
            <a:pPr indent="0" marL="0">
              <a:buNone/>
            </a:pPr>
            <a:r>
              <a:rPr lang="en-US" sz="1200" dirty="0">
                <a:solidFill>
                  <a:schemeClr val="tx2"/>
                </a:solidFill>
              </a:rPr>
              <a:t>Which exchange, how many hops, how much arrived, and when</a:t>
            </a:r>
            <a:endParaRPr lang="en-US" sz="1200" dirty="0"/>
          </a:p>
        </p:txBody>
      </p:sp>
      <p:sp>
        <p:nvSpPr>
          <p:cNvPr id="11" name="part2-circle"/>
          <p:cNvSpPr/>
          <p:nvPr/>
        </p:nvSpPr>
        <p:spPr>
          <a:xfrm>
            <a:off x="548640" y="2834640"/>
            <a:ext cx="640080" cy="640080"/>
          </a:xfrm>
          <a:prstGeom prst="ellipse">
            <a:avLst/>
          </a:prstGeom>
          <a:solidFill>
            <a:schemeClr val="accent1"/>
          </a:solidFill>
          <a:ln w="12700">
            <a:solidFill>
              <a:schemeClr val="accent1"/>
            </a:solidFill>
            <a:prstDash val="solid"/>
          </a:ln>
        </p:spPr>
      </p:sp>
      <p:pic>
        <p:nvPicPr>
          <p:cNvPr id="12" name="part2-icon" descr="preencoded.png">    </p:cNvPr>
          <p:cNvPicPr>
            <a:picLocks noChangeAspect="1"/>
          </p:cNvPicPr>
          <p:nvPr/>
        </p:nvPicPr>
        <p:blipFill>
          <a:blip r:embed="rId3"/>
          <a:stretch>
            <a:fillRect/>
          </a:stretch>
        </p:blipFill>
        <p:spPr>
          <a:xfrm>
            <a:off x="715061" y="3001061"/>
            <a:ext cx="307238" cy="307238"/>
          </a:xfrm>
          <a:prstGeom prst="rect">
            <a:avLst/>
          </a:prstGeom>
        </p:spPr>
      </p:pic>
      <p:sp>
        <p:nvSpPr>
          <p:cNvPr id="13" name="Text 8"/>
          <p:cNvSpPr txBox="1"/>
          <p:nvPr/>
        </p:nvSpPr>
        <p:spPr>
          <a:xfrm>
            <a:off x="1371600" y="2816352"/>
            <a:ext cx="2606040" cy="548640"/>
          </a:xfrm>
          <a:prstGeom prst="rect">
            <a:avLst/>
          </a:prstGeom>
          <a:noFill/>
          <a:ln/>
        </p:spPr>
        <p:txBody>
          <a:bodyPr wrap="square" lIns="0" tIns="0" rIns="0" bIns="0" rtlCol="0" anchor="t"/>
          <a:lstStyle/>
          <a:p>
            <a:pPr indent="0" marL="0">
              <a:buNone/>
            </a:pPr>
            <a:r>
              <a:rPr lang="en-US" sz="1500" b="1" dirty="0">
                <a:solidFill>
                  <a:schemeClr val="tx1"/>
                </a:solidFill>
              </a:rPr>
              <a:t>Risk lead score + category</a:t>
            </a:r>
            <a:endParaRPr lang="en-US" sz="1500" dirty="0"/>
          </a:p>
        </p:txBody>
      </p:sp>
      <p:sp>
        <p:nvSpPr>
          <p:cNvPr id="14" name="Text 9"/>
          <p:cNvSpPr txBox="1"/>
          <p:nvPr/>
        </p:nvSpPr>
        <p:spPr>
          <a:xfrm>
            <a:off x="1371600" y="3383280"/>
            <a:ext cx="2606040" cy="731520"/>
          </a:xfrm>
          <a:prstGeom prst="rect">
            <a:avLst/>
          </a:prstGeom>
          <a:noFill/>
          <a:ln/>
        </p:spPr>
        <p:txBody>
          <a:bodyPr wrap="square" lIns="0" tIns="0" rIns="0" bIns="0" rtlCol="0" anchor="t"/>
          <a:lstStyle/>
          <a:p>
            <a:pPr indent="0" marL="0">
              <a:buNone/>
            </a:pPr>
            <a:r>
              <a:rPr lang="en-US" sz="1200" dirty="0">
                <a:solidFill>
                  <a:schemeClr val="tx2"/>
                </a:solidFill>
              </a:rPr>
              <a:t>Rule-based, with the reason for every point (ML later)</a:t>
            </a:r>
            <a:endParaRPr lang="en-US" sz="1200" dirty="0"/>
          </a:p>
        </p:txBody>
      </p:sp>
      <p:sp>
        <p:nvSpPr>
          <p:cNvPr id="15" name="part3-circle"/>
          <p:cNvSpPr/>
          <p:nvPr/>
        </p:nvSpPr>
        <p:spPr>
          <a:xfrm>
            <a:off x="4160520" y="2834640"/>
            <a:ext cx="640080" cy="640080"/>
          </a:xfrm>
          <a:prstGeom prst="ellipse">
            <a:avLst/>
          </a:prstGeom>
          <a:solidFill>
            <a:schemeClr val="accent1"/>
          </a:solidFill>
          <a:ln w="12700">
            <a:solidFill>
              <a:schemeClr val="accent1"/>
            </a:solidFill>
            <a:prstDash val="solid"/>
          </a:ln>
        </p:spPr>
      </p:sp>
      <p:pic>
        <p:nvPicPr>
          <p:cNvPr id="16" name="part3-icon" descr="preencoded.png">    </p:cNvPr>
          <p:cNvPicPr>
            <a:picLocks noChangeAspect="1"/>
          </p:cNvPicPr>
          <p:nvPr/>
        </p:nvPicPr>
        <p:blipFill>
          <a:blip r:embed="rId4"/>
          <a:stretch>
            <a:fillRect/>
          </a:stretch>
        </p:blipFill>
        <p:spPr>
          <a:xfrm>
            <a:off x="4326941" y="3001061"/>
            <a:ext cx="307238" cy="307238"/>
          </a:xfrm>
          <a:prstGeom prst="rect">
            <a:avLst/>
          </a:prstGeom>
        </p:spPr>
      </p:pic>
      <p:sp>
        <p:nvSpPr>
          <p:cNvPr id="17" name="Text 11"/>
          <p:cNvSpPr txBox="1"/>
          <p:nvPr/>
        </p:nvSpPr>
        <p:spPr>
          <a:xfrm>
            <a:off x="4983480" y="2816352"/>
            <a:ext cx="2606040" cy="548640"/>
          </a:xfrm>
          <a:prstGeom prst="rect">
            <a:avLst/>
          </a:prstGeom>
          <a:noFill/>
          <a:ln/>
        </p:spPr>
        <p:txBody>
          <a:bodyPr wrap="square" lIns="0" tIns="0" rIns="0" bIns="0" rtlCol="0" anchor="t"/>
          <a:lstStyle/>
          <a:p>
            <a:pPr indent="0" marL="0">
              <a:buNone/>
            </a:pPr>
            <a:r>
              <a:rPr lang="en-US" sz="1500" b="1" dirty="0">
                <a:solidFill>
                  <a:schemeClr val="tx1"/>
                </a:solidFill>
              </a:rPr>
              <a:t>Contact + draft freeze request</a:t>
            </a:r>
            <a:endParaRPr lang="en-US" sz="1500" dirty="0"/>
          </a:p>
        </p:txBody>
      </p:sp>
      <p:sp>
        <p:nvSpPr>
          <p:cNvPr id="18" name="Text 12"/>
          <p:cNvSpPr txBox="1"/>
          <p:nvPr/>
        </p:nvSpPr>
        <p:spPr>
          <a:xfrm>
            <a:off x="4983480" y="3383280"/>
            <a:ext cx="2606040" cy="731520"/>
          </a:xfrm>
          <a:prstGeom prst="rect">
            <a:avLst/>
          </a:prstGeom>
          <a:noFill/>
          <a:ln/>
        </p:spPr>
        <p:txBody>
          <a:bodyPr wrap="square" lIns="0" tIns="0" rIns="0" bIns="0" rtlCol="0" anchor="t"/>
          <a:lstStyle/>
          <a:p>
            <a:pPr indent="0" marL="0">
              <a:buNone/>
            </a:pPr>
            <a:r>
              <a:rPr lang="en-US" sz="1200" dirty="0">
                <a:solidFill>
                  <a:schemeClr val="tx2"/>
                </a:solidFill>
              </a:rPr>
              <a:t>Portal, process, required documents, pre-filled request letter</a:t>
            </a:r>
            <a:endParaRPr lang="en-US" sz="1200" dirty="0"/>
          </a:p>
        </p:txBody>
      </p:sp>
      <p:sp>
        <p:nvSpPr>
          <p:cNvPr id="19" name="part4-circle"/>
          <p:cNvSpPr/>
          <p:nvPr/>
        </p:nvSpPr>
        <p:spPr>
          <a:xfrm>
            <a:off x="548640" y="4297680"/>
            <a:ext cx="640080" cy="640080"/>
          </a:xfrm>
          <a:prstGeom prst="ellipse">
            <a:avLst/>
          </a:prstGeom>
          <a:solidFill>
            <a:schemeClr val="accent1"/>
          </a:solidFill>
          <a:ln w="12700">
            <a:solidFill>
              <a:schemeClr val="accent1"/>
            </a:solidFill>
            <a:prstDash val="solid"/>
          </a:ln>
        </p:spPr>
      </p:sp>
      <p:pic>
        <p:nvPicPr>
          <p:cNvPr id="20" name="part4-icon" descr="preencoded.png">    </p:cNvPr>
          <p:cNvPicPr>
            <a:picLocks noChangeAspect="1"/>
          </p:cNvPicPr>
          <p:nvPr/>
        </p:nvPicPr>
        <p:blipFill>
          <a:blip r:embed="rId5"/>
          <a:stretch>
            <a:fillRect/>
          </a:stretch>
        </p:blipFill>
        <p:spPr>
          <a:xfrm>
            <a:off x="715061" y="4464101"/>
            <a:ext cx="307238" cy="307238"/>
          </a:xfrm>
          <a:prstGeom prst="rect">
            <a:avLst/>
          </a:prstGeom>
        </p:spPr>
      </p:pic>
      <p:sp>
        <p:nvSpPr>
          <p:cNvPr id="21" name="Text 14"/>
          <p:cNvSpPr txBox="1"/>
          <p:nvPr/>
        </p:nvSpPr>
        <p:spPr>
          <a:xfrm>
            <a:off x="1371600" y="4279392"/>
            <a:ext cx="2606040" cy="548640"/>
          </a:xfrm>
          <a:prstGeom prst="rect">
            <a:avLst/>
          </a:prstGeom>
          <a:noFill/>
          <a:ln/>
        </p:spPr>
        <p:txBody>
          <a:bodyPr wrap="square" lIns="0" tIns="0" rIns="0" bIns="0" rtlCol="0" anchor="t"/>
          <a:lstStyle/>
          <a:p>
            <a:pPr indent="0" marL="0">
              <a:buNone/>
            </a:pPr>
            <a:r>
              <a:rPr lang="en-US" sz="1500" b="1" dirty="0">
                <a:solidFill>
                  <a:schemeClr val="tx1"/>
                </a:solidFill>
              </a:rPr>
              <a:t>Evidence trail</a:t>
            </a:r>
            <a:endParaRPr lang="en-US" sz="1500" dirty="0"/>
          </a:p>
        </p:txBody>
      </p:sp>
      <p:sp>
        <p:nvSpPr>
          <p:cNvPr id="22" name="Text 15"/>
          <p:cNvSpPr txBox="1"/>
          <p:nvPr/>
        </p:nvSpPr>
        <p:spPr>
          <a:xfrm>
            <a:off x="1371600" y="4846320"/>
            <a:ext cx="2606040" cy="731520"/>
          </a:xfrm>
          <a:prstGeom prst="rect">
            <a:avLst/>
          </a:prstGeom>
          <a:noFill/>
          <a:ln/>
        </p:spPr>
        <p:txBody>
          <a:bodyPr wrap="square" lIns="0" tIns="0" rIns="0" bIns="0" rtlCol="0" anchor="t"/>
          <a:lstStyle/>
          <a:p>
            <a:pPr indent="0" marL="0">
              <a:buNone/>
            </a:pPr>
            <a:r>
              <a:rPr lang="en-US" sz="1200" dirty="0">
                <a:solidFill>
                  <a:schemeClr val="tx2"/>
                </a:solidFill>
              </a:rPr>
              <a:t>UTC timestamp and SHA-256 hash for each page relied on</a:t>
            </a:r>
            <a:endParaRPr lang="en-US" sz="1200" dirty="0"/>
          </a:p>
        </p:txBody>
      </p:sp>
      <p:sp>
        <p:nvSpPr>
          <p:cNvPr id="23" name="part5-circle"/>
          <p:cNvSpPr/>
          <p:nvPr/>
        </p:nvSpPr>
        <p:spPr>
          <a:xfrm>
            <a:off x="4160520" y="4297680"/>
            <a:ext cx="640080" cy="640080"/>
          </a:xfrm>
          <a:prstGeom prst="ellipse">
            <a:avLst/>
          </a:prstGeom>
          <a:solidFill>
            <a:schemeClr val="accent1"/>
          </a:solidFill>
          <a:ln w="12700">
            <a:solidFill>
              <a:schemeClr val="accent1"/>
            </a:solidFill>
            <a:prstDash val="solid"/>
          </a:ln>
        </p:spPr>
      </p:sp>
      <p:pic>
        <p:nvPicPr>
          <p:cNvPr id="24" name="part5-icon" descr="preencoded.png">    </p:cNvPr>
          <p:cNvPicPr>
            <a:picLocks noChangeAspect="1"/>
          </p:cNvPicPr>
          <p:nvPr/>
        </p:nvPicPr>
        <p:blipFill>
          <a:blip r:embed="rId6"/>
          <a:stretch>
            <a:fillRect/>
          </a:stretch>
        </p:blipFill>
        <p:spPr>
          <a:xfrm>
            <a:off x="4326941" y="4464101"/>
            <a:ext cx="307238" cy="307238"/>
          </a:xfrm>
          <a:prstGeom prst="rect">
            <a:avLst/>
          </a:prstGeom>
        </p:spPr>
      </p:pic>
      <p:sp>
        <p:nvSpPr>
          <p:cNvPr id="25" name="Text 17"/>
          <p:cNvSpPr txBox="1"/>
          <p:nvPr/>
        </p:nvSpPr>
        <p:spPr>
          <a:xfrm>
            <a:off x="4983480" y="4279392"/>
            <a:ext cx="2606040" cy="548640"/>
          </a:xfrm>
          <a:prstGeom prst="rect">
            <a:avLst/>
          </a:prstGeom>
          <a:noFill/>
          <a:ln/>
        </p:spPr>
        <p:txBody>
          <a:bodyPr wrap="square" lIns="0" tIns="0" rIns="0" bIns="0" rtlCol="0" anchor="t"/>
          <a:lstStyle/>
          <a:p>
            <a:pPr indent="0" marL="0">
              <a:buNone/>
            </a:pPr>
            <a:r>
              <a:rPr lang="en-US" sz="1500" b="1" dirty="0">
                <a:solidFill>
                  <a:schemeClr val="tx1"/>
                </a:solidFill>
              </a:rPr>
              <a:t>PDF / JSON export</a:t>
            </a:r>
            <a:endParaRPr lang="en-US" sz="1500" dirty="0"/>
          </a:p>
        </p:txBody>
      </p:sp>
      <p:sp>
        <p:nvSpPr>
          <p:cNvPr id="26" name="Text 18"/>
          <p:cNvSpPr txBox="1"/>
          <p:nvPr/>
        </p:nvSpPr>
        <p:spPr>
          <a:xfrm>
            <a:off x="4983480" y="4846320"/>
            <a:ext cx="2606040" cy="731520"/>
          </a:xfrm>
          <a:prstGeom prst="rect">
            <a:avLst/>
          </a:prstGeom>
          <a:noFill/>
          <a:ln/>
        </p:spPr>
        <p:txBody>
          <a:bodyPr wrap="square" lIns="0" tIns="0" rIns="0" bIns="0" rtlCol="0" anchor="t"/>
          <a:lstStyle/>
          <a:p>
            <a:pPr indent="0" marL="0">
              <a:buNone/>
            </a:pPr>
            <a:r>
              <a:rPr lang="en-US" sz="1200" dirty="0">
                <a:solidFill>
                  <a:schemeClr val="tx2"/>
                </a:solidFill>
              </a:rPr>
              <a:t>Standardised output for case files and other systems</a:t>
            </a:r>
            <a:endParaRPr lang="en-US" sz="1200" dirty="0"/>
          </a:p>
        </p:txBody>
      </p:sp>
      <p:sp>
        <p:nvSpPr>
          <p:cNvPr id="27" name="insight-card"/>
          <p:cNvSpPr/>
          <p:nvPr/>
        </p:nvSpPr>
        <p:spPr>
          <a:xfrm>
            <a:off x="7955280" y="1325880"/>
            <a:ext cx="3687775" cy="4663440"/>
          </a:xfrm>
          <a:prstGeom prst="roundRect">
            <a:avLst>
              <a:gd name="adj" fmla="val 1984"/>
            </a:avLst>
          </a:prstGeom>
          <a:solidFill>
            <a:schemeClr val="tx1"/>
          </a:solidFill>
          <a:ln w="12700">
            <a:solidFill>
              <a:schemeClr val="tx1"/>
            </a:solidFill>
            <a:prstDash val="solid"/>
          </a:ln>
        </p:spPr>
      </p:sp>
      <p:sp>
        <p:nvSpPr>
          <p:cNvPr id="28" name="Text 20"/>
          <p:cNvSpPr txBox="1"/>
          <p:nvPr/>
        </p:nvSpPr>
        <p:spPr>
          <a:xfrm>
            <a:off x="8275320" y="1554480"/>
            <a:ext cx="3017520" cy="320040"/>
          </a:xfrm>
          <a:prstGeom prst="rect">
            <a:avLst/>
          </a:prstGeom>
          <a:noFill/>
          <a:ln/>
        </p:spPr>
        <p:txBody>
          <a:bodyPr wrap="square" lIns="0" tIns="0" rIns="0" bIns="0" rtlCol="0" anchor="t"/>
          <a:lstStyle/>
          <a:p>
            <a:pPr indent="0" marL="0">
              <a:buNone/>
            </a:pPr>
            <a:r>
              <a:rPr lang="en-US" sz="1400" b="1" dirty="0">
                <a:solidFill>
                  <a:schemeClr val="accent1"/>
                </a:solidFill>
              </a:rPr>
              <a:t>Key insight</a:t>
            </a:r>
            <a:endParaRPr lang="en-US" sz="1400" dirty="0"/>
          </a:p>
        </p:txBody>
      </p:sp>
      <p:sp>
        <p:nvSpPr>
          <p:cNvPr id="29" name="Text 21"/>
          <p:cNvSpPr txBox="1"/>
          <p:nvPr/>
        </p:nvSpPr>
        <p:spPr>
          <a:xfrm>
            <a:off x="8275320" y="1920240"/>
            <a:ext cx="3108960" cy="1005840"/>
          </a:xfrm>
          <a:prstGeom prst="rect">
            <a:avLst/>
          </a:prstGeom>
          <a:noFill/>
          <a:ln/>
        </p:spPr>
        <p:txBody>
          <a:bodyPr wrap="square" lIns="0" tIns="0" rIns="0" bIns="0" rtlCol="0" anchor="t"/>
          <a:lstStyle/>
          <a:p>
            <a:pPr indent="0" marL="0">
              <a:buNone/>
            </a:pPr>
            <a:r>
              <a:rPr lang="en-US" sz="2000" b="1" dirty="0">
                <a:solidFill>
                  <a:schemeClr val="bg1"/>
                </a:solidFill>
              </a:rPr>
              <a:t>We find the deposit address, not just the exchange name</a:t>
            </a:r>
            <a:endParaRPr lang="en-US" sz="2000" dirty="0"/>
          </a:p>
        </p:txBody>
      </p:sp>
      <p:sp>
        <p:nvSpPr>
          <p:cNvPr id="30" name="Text 22"/>
          <p:cNvSpPr txBox="1"/>
          <p:nvPr/>
        </p:nvSpPr>
        <p:spPr>
          <a:xfrm>
            <a:off x="8275320" y="3063240"/>
            <a:ext cx="3108960" cy="1554480"/>
          </a:xfrm>
          <a:prstGeom prst="rect">
            <a:avLst/>
          </a:prstGeom>
          <a:noFill/>
          <a:ln/>
        </p:spPr>
        <p:txBody>
          <a:bodyPr wrap="square" lIns="0" tIns="0" rIns="0" bIns="0" rtlCol="0" anchor="t"/>
          <a:lstStyle/>
          <a:p>
            <a:pPr indent="0" marL="0">
              <a:buNone/>
            </a:pPr>
            <a:r>
              <a:rPr lang="en-US" sz="1400" dirty="0">
                <a:solidFill>
                  <a:schemeClr val="bg2"/>
                </a:solidFill>
              </a:rPr>
              <a:t>An unlabelled address that sweeps its funds into an exchange's hot wallet is that exchange's customer deposit address. That identifies the exact account the exchange can freeze and run KYC on.</a:t>
            </a:r>
            <a:endParaRPr lang="en-US" sz="1400" dirty="0"/>
          </a:p>
        </p:txBody>
      </p:sp>
      <p:sp>
        <p:nvSpPr>
          <p:cNvPr id="31" name="insight-trail-line"/>
          <p:cNvSpPr/>
          <p:nvPr/>
        </p:nvSpPr>
        <p:spPr>
          <a:xfrm>
            <a:off x="8421624" y="5175504"/>
            <a:ext cx="2724912" cy="0"/>
          </a:xfrm>
          <a:prstGeom prst="line">
            <a:avLst/>
          </a:prstGeom>
          <a:noFill/>
          <a:ln w="31750">
            <a:solidFill>
              <a:schemeClr val="accent1"/>
            </a:solidFill>
            <a:prstDash val="dash"/>
          </a:ln>
        </p:spPr>
      </p:sp>
      <p:sp>
        <p:nvSpPr>
          <p:cNvPr id="32" name="insight-trail-node0"/>
          <p:cNvSpPr/>
          <p:nvPr/>
        </p:nvSpPr>
        <p:spPr>
          <a:xfrm>
            <a:off x="8321040" y="5074920"/>
            <a:ext cx="201168" cy="201168"/>
          </a:xfrm>
          <a:prstGeom prst="ellipse">
            <a:avLst/>
          </a:prstGeom>
          <a:solidFill>
            <a:schemeClr val="accent4"/>
          </a:solidFill>
          <a:ln w="19050">
            <a:solidFill>
              <a:srgbClr val="0B1220"/>
            </a:solidFill>
            <a:prstDash val="solid"/>
          </a:ln>
        </p:spPr>
      </p:sp>
      <p:sp>
        <p:nvSpPr>
          <p:cNvPr id="33" name="insight-trail-node1"/>
          <p:cNvSpPr/>
          <p:nvPr/>
        </p:nvSpPr>
        <p:spPr>
          <a:xfrm>
            <a:off x="9229344" y="5074920"/>
            <a:ext cx="201168" cy="201168"/>
          </a:xfrm>
          <a:prstGeom prst="ellipse">
            <a:avLst/>
          </a:prstGeom>
          <a:solidFill>
            <a:schemeClr val="accent1"/>
          </a:solidFill>
          <a:ln w="19050">
            <a:solidFill>
              <a:srgbClr val="0B1220"/>
            </a:solidFill>
            <a:prstDash val="solid"/>
          </a:ln>
        </p:spPr>
      </p:sp>
      <p:sp>
        <p:nvSpPr>
          <p:cNvPr id="34" name="insight-trail-node2"/>
          <p:cNvSpPr/>
          <p:nvPr/>
        </p:nvSpPr>
        <p:spPr>
          <a:xfrm>
            <a:off x="10137648" y="5074920"/>
            <a:ext cx="201168" cy="201168"/>
          </a:xfrm>
          <a:prstGeom prst="ellipse">
            <a:avLst/>
          </a:prstGeom>
          <a:solidFill>
            <a:schemeClr val="accent1"/>
          </a:solidFill>
          <a:ln w="19050">
            <a:solidFill>
              <a:srgbClr val="0B1220"/>
            </a:solidFill>
            <a:prstDash val="solid"/>
          </a:ln>
        </p:spPr>
      </p:sp>
      <p:sp>
        <p:nvSpPr>
          <p:cNvPr id="35" name="insight-trail-node3"/>
          <p:cNvSpPr/>
          <p:nvPr/>
        </p:nvSpPr>
        <p:spPr>
          <a:xfrm>
            <a:off x="11009376" y="5038344"/>
            <a:ext cx="274320" cy="274320"/>
          </a:xfrm>
          <a:prstGeom prst="roundRect">
            <a:avLst>
              <a:gd name="adj" fmla="val 16667"/>
            </a:avLst>
          </a:prstGeom>
          <a:solidFill>
            <a:schemeClr val="accent3"/>
          </a:solidFill>
          <a:ln w="19050">
            <a:solidFill>
              <a:srgbClr val="0B1220"/>
            </a:solidFill>
            <a:prstDash val="solid"/>
          </a:ln>
        </p:spPr>
      </p:sp>
      <p:sp>
        <p:nvSpPr>
          <p:cNvPr id="36" name="Text 28"/>
          <p:cNvSpPr txBox="1"/>
          <p:nvPr/>
        </p:nvSpPr>
        <p:spPr>
          <a:xfrm>
            <a:off x="8138160" y="5394960"/>
            <a:ext cx="3291840" cy="274320"/>
          </a:xfrm>
          <a:prstGeom prst="rect">
            <a:avLst/>
          </a:prstGeom>
          <a:noFill/>
          <a:ln/>
        </p:spPr>
        <p:txBody>
          <a:bodyPr wrap="square" lIns="0" tIns="0" rIns="0" bIns="0" rtlCol="0" anchor="t"/>
          <a:lstStyle/>
          <a:p>
            <a:pPr algn="ctr" indent="0" marL="0">
              <a:buNone/>
            </a:pPr>
            <a:r>
              <a:rPr lang="en-US" sz="1100" dirty="0">
                <a:solidFill>
                  <a:schemeClr val="bg2"/>
                </a:solidFill>
              </a:rPr>
              <a:t>scam wallet  &gt;  hops  &gt;  deposit  &gt;  exchange</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Built for the people who have to freeze the money</a:t>
            </a:r>
            <a:endParaRPr lang="en-US" sz="3200" dirty="0"/>
          </a:p>
        </p:txBody>
      </p:sp>
      <p:sp>
        <p:nvSpPr>
          <p:cNvPr id="3" name="user-card0"/>
          <p:cNvSpPr/>
          <p:nvPr/>
        </p:nvSpPr>
        <p:spPr>
          <a:xfrm>
            <a:off x="548640" y="1325880"/>
            <a:ext cx="3515258" cy="2514600"/>
          </a:xfrm>
          <a:prstGeom prst="roundRect">
            <a:avLst>
              <a:gd name="adj" fmla="val 2909"/>
            </a:avLst>
          </a:prstGeom>
          <a:solidFill>
            <a:schemeClr val="bg2"/>
          </a:solidFill>
          <a:ln w="12700">
            <a:solidFill>
              <a:schemeClr val="bg2"/>
            </a:solidFill>
            <a:prstDash val="solid"/>
          </a:ln>
        </p:spPr>
      </p:sp>
      <p:sp>
        <p:nvSpPr>
          <p:cNvPr id="4" name="user0-circle"/>
          <p:cNvSpPr/>
          <p:nvPr/>
        </p:nvSpPr>
        <p:spPr>
          <a:xfrm>
            <a:off x="822960" y="1600200"/>
            <a:ext cx="731520" cy="731520"/>
          </a:xfrm>
          <a:prstGeom prst="ellipse">
            <a:avLst/>
          </a:prstGeom>
          <a:solidFill>
            <a:schemeClr val="accent4"/>
          </a:solidFill>
          <a:ln w="12700">
            <a:solidFill>
              <a:schemeClr val="accent4"/>
            </a:solidFill>
            <a:prstDash val="solid"/>
          </a:ln>
        </p:spPr>
      </p:sp>
      <p:pic>
        <p:nvPicPr>
          <p:cNvPr id="5" name="user0-icon" descr="preencoded.png">    </p:cNvPr>
          <p:cNvPicPr>
            <a:picLocks noChangeAspect="1"/>
          </p:cNvPicPr>
          <p:nvPr/>
        </p:nvPicPr>
        <p:blipFill>
          <a:blip r:embed="rId1"/>
          <a:stretch>
            <a:fillRect/>
          </a:stretch>
        </p:blipFill>
        <p:spPr>
          <a:xfrm>
            <a:off x="1013155" y="1790395"/>
            <a:ext cx="351130" cy="351130"/>
          </a:xfrm>
          <a:prstGeom prst="rect">
            <a:avLst/>
          </a:prstGeom>
        </p:spPr>
      </p:pic>
      <p:sp>
        <p:nvSpPr>
          <p:cNvPr id="6" name="user-tag0"/>
          <p:cNvSpPr/>
          <p:nvPr/>
        </p:nvSpPr>
        <p:spPr>
          <a:xfrm>
            <a:off x="2738018" y="1645920"/>
            <a:ext cx="1051560" cy="292608"/>
          </a:xfrm>
          <a:prstGeom prst="roundRect">
            <a:avLst>
              <a:gd name="adj" fmla="val 50000"/>
            </a:avLst>
          </a:prstGeom>
          <a:solidFill>
            <a:schemeClr val="accent4"/>
          </a:solidFill>
          <a:ln w="12700">
            <a:solidFill>
              <a:schemeClr val="accent4"/>
            </a:solidFill>
            <a:prstDash val="solid"/>
          </a:ln>
        </p:spPr>
      </p:sp>
      <p:sp>
        <p:nvSpPr>
          <p:cNvPr id="7" name="Text 4"/>
          <p:cNvSpPr txBox="1"/>
          <p:nvPr/>
        </p:nvSpPr>
        <p:spPr>
          <a:xfrm>
            <a:off x="2738018" y="1645920"/>
            <a:ext cx="1051560" cy="292608"/>
          </a:xfrm>
          <a:prstGeom prst="rect">
            <a:avLst/>
          </a:prstGeom>
          <a:noFill/>
          <a:ln/>
        </p:spPr>
        <p:txBody>
          <a:bodyPr wrap="square" lIns="0" tIns="0" rIns="0" bIns="0" rtlCol="0" anchor="ctr"/>
          <a:lstStyle/>
          <a:p>
            <a:pPr algn="ctr" indent="0" marL="0">
              <a:buNone/>
            </a:pPr>
            <a:r>
              <a:rPr lang="en-US" sz="1100" b="1" dirty="0">
                <a:solidFill>
                  <a:schemeClr val="bg1"/>
                </a:solidFill>
              </a:rPr>
              <a:t>Primary</a:t>
            </a:r>
            <a:endParaRPr lang="en-US" sz="1100" dirty="0"/>
          </a:p>
        </p:txBody>
      </p:sp>
      <p:sp>
        <p:nvSpPr>
          <p:cNvPr id="8" name="Text 5"/>
          <p:cNvSpPr txBox="1"/>
          <p:nvPr/>
        </p:nvSpPr>
        <p:spPr>
          <a:xfrm>
            <a:off x="822960" y="2468880"/>
            <a:ext cx="2966618" cy="640080"/>
          </a:xfrm>
          <a:prstGeom prst="rect">
            <a:avLst/>
          </a:prstGeom>
          <a:noFill/>
          <a:ln/>
        </p:spPr>
        <p:txBody>
          <a:bodyPr wrap="square" lIns="0" tIns="0" rIns="0" bIns="0" rtlCol="0" anchor="t"/>
          <a:lstStyle/>
          <a:p>
            <a:pPr indent="0" marL="0">
              <a:buNone/>
            </a:pPr>
            <a:r>
              <a:rPr lang="en-US" sz="1700" b="1" dirty="0">
                <a:solidFill>
                  <a:schemeClr val="tx1"/>
                </a:solidFill>
              </a:rPr>
              <a:t>State cyber cells and police units</a:t>
            </a:r>
            <a:endParaRPr lang="en-US" sz="1700" dirty="0"/>
          </a:p>
        </p:txBody>
      </p:sp>
      <p:sp>
        <p:nvSpPr>
          <p:cNvPr id="9" name="Text 6"/>
          <p:cNvSpPr txBox="1"/>
          <p:nvPr/>
        </p:nvSpPr>
        <p:spPr>
          <a:xfrm>
            <a:off x="822960" y="3108960"/>
            <a:ext cx="2966618" cy="640080"/>
          </a:xfrm>
          <a:prstGeom prst="rect">
            <a:avLst/>
          </a:prstGeom>
          <a:noFill/>
          <a:ln/>
        </p:spPr>
        <p:txBody>
          <a:bodyPr wrap="square" lIns="0" tIns="0" rIns="0" bIns="0" rtlCol="0" anchor="t"/>
          <a:lstStyle/>
          <a:p>
            <a:pPr indent="0" marL="0">
              <a:buNone/>
            </a:pPr>
            <a:r>
              <a:rPr lang="en-US" sz="1300" dirty="0">
                <a:solidFill>
                  <a:schemeClr val="tx2"/>
                </a:solidFill>
              </a:rPr>
              <a:t>Teams working on national cybercrime complaints (NCRP) and SAHYOG</a:t>
            </a:r>
            <a:endParaRPr lang="en-US" sz="1300" dirty="0"/>
          </a:p>
        </p:txBody>
      </p:sp>
      <p:sp>
        <p:nvSpPr>
          <p:cNvPr id="10" name="user-card1"/>
          <p:cNvSpPr/>
          <p:nvPr/>
        </p:nvSpPr>
        <p:spPr>
          <a:xfrm>
            <a:off x="4338218" y="1325880"/>
            <a:ext cx="3515258" cy="2514600"/>
          </a:xfrm>
          <a:prstGeom prst="roundRect">
            <a:avLst>
              <a:gd name="adj" fmla="val 2909"/>
            </a:avLst>
          </a:prstGeom>
          <a:solidFill>
            <a:schemeClr val="bg2"/>
          </a:solidFill>
          <a:ln w="12700">
            <a:solidFill>
              <a:schemeClr val="bg2"/>
            </a:solidFill>
            <a:prstDash val="solid"/>
          </a:ln>
        </p:spPr>
      </p:sp>
      <p:sp>
        <p:nvSpPr>
          <p:cNvPr id="11" name="user1-circle"/>
          <p:cNvSpPr/>
          <p:nvPr/>
        </p:nvSpPr>
        <p:spPr>
          <a:xfrm>
            <a:off x="4612538" y="1600200"/>
            <a:ext cx="731520" cy="731520"/>
          </a:xfrm>
          <a:prstGeom prst="ellipse">
            <a:avLst/>
          </a:prstGeom>
          <a:solidFill>
            <a:schemeClr val="accent2"/>
          </a:solidFill>
          <a:ln w="12700">
            <a:solidFill>
              <a:schemeClr val="accent2"/>
            </a:solidFill>
            <a:prstDash val="solid"/>
          </a:ln>
        </p:spPr>
      </p:sp>
      <p:pic>
        <p:nvPicPr>
          <p:cNvPr id="12" name="user1-icon" descr="preencoded.png">    </p:cNvPr>
          <p:cNvPicPr>
            <a:picLocks noChangeAspect="1"/>
          </p:cNvPicPr>
          <p:nvPr/>
        </p:nvPicPr>
        <p:blipFill>
          <a:blip r:embed="rId2"/>
          <a:stretch>
            <a:fillRect/>
          </a:stretch>
        </p:blipFill>
        <p:spPr>
          <a:xfrm>
            <a:off x="4802734" y="1790395"/>
            <a:ext cx="351130" cy="351130"/>
          </a:xfrm>
          <a:prstGeom prst="rect">
            <a:avLst/>
          </a:prstGeom>
        </p:spPr>
      </p:pic>
      <p:sp>
        <p:nvSpPr>
          <p:cNvPr id="13" name="user-tag1"/>
          <p:cNvSpPr/>
          <p:nvPr/>
        </p:nvSpPr>
        <p:spPr>
          <a:xfrm>
            <a:off x="6527597" y="1645920"/>
            <a:ext cx="1051560" cy="292608"/>
          </a:xfrm>
          <a:prstGeom prst="roundRect">
            <a:avLst>
              <a:gd name="adj" fmla="val 50000"/>
            </a:avLst>
          </a:prstGeom>
          <a:solidFill>
            <a:schemeClr val="accent2"/>
          </a:solidFill>
          <a:ln w="12700">
            <a:solidFill>
              <a:schemeClr val="accent2"/>
            </a:solidFill>
            <a:prstDash val="solid"/>
          </a:ln>
        </p:spPr>
      </p:sp>
      <p:sp>
        <p:nvSpPr>
          <p:cNvPr id="14" name="Text 10"/>
          <p:cNvSpPr txBox="1"/>
          <p:nvPr/>
        </p:nvSpPr>
        <p:spPr>
          <a:xfrm>
            <a:off x="6527597" y="1645920"/>
            <a:ext cx="1051560" cy="292608"/>
          </a:xfrm>
          <a:prstGeom prst="rect">
            <a:avLst/>
          </a:prstGeom>
          <a:noFill/>
          <a:ln/>
        </p:spPr>
        <p:txBody>
          <a:bodyPr wrap="square" lIns="0" tIns="0" rIns="0" bIns="0" rtlCol="0" anchor="ctr"/>
          <a:lstStyle/>
          <a:p>
            <a:pPr algn="ctr" indent="0" marL="0">
              <a:buNone/>
            </a:pPr>
            <a:r>
              <a:rPr lang="en-US" sz="1100" b="1" dirty="0">
                <a:solidFill>
                  <a:schemeClr val="bg1"/>
                </a:solidFill>
              </a:rPr>
              <a:t>Secondary</a:t>
            </a:r>
            <a:endParaRPr lang="en-US" sz="1100" dirty="0"/>
          </a:p>
        </p:txBody>
      </p:sp>
      <p:sp>
        <p:nvSpPr>
          <p:cNvPr id="15" name="Text 11"/>
          <p:cNvSpPr txBox="1"/>
          <p:nvPr/>
        </p:nvSpPr>
        <p:spPr>
          <a:xfrm>
            <a:off x="4612538" y="2468880"/>
            <a:ext cx="2966618" cy="640080"/>
          </a:xfrm>
          <a:prstGeom prst="rect">
            <a:avLst/>
          </a:prstGeom>
          <a:noFill/>
          <a:ln/>
        </p:spPr>
        <p:txBody>
          <a:bodyPr wrap="square" lIns="0" tIns="0" rIns="0" bIns="0" rtlCol="0" anchor="t"/>
          <a:lstStyle/>
          <a:p>
            <a:pPr indent="0" marL="0">
              <a:buNone/>
            </a:pPr>
            <a:r>
              <a:rPr lang="en-US" sz="1700" b="1" dirty="0">
                <a:solidFill>
                  <a:schemeClr val="tx1"/>
                </a:solidFill>
              </a:rPr>
              <a:t>Exchange and VASP compliance teams</a:t>
            </a:r>
            <a:endParaRPr lang="en-US" sz="1700" dirty="0"/>
          </a:p>
        </p:txBody>
      </p:sp>
      <p:sp>
        <p:nvSpPr>
          <p:cNvPr id="16" name="Text 12"/>
          <p:cNvSpPr txBox="1"/>
          <p:nvPr/>
        </p:nvSpPr>
        <p:spPr>
          <a:xfrm>
            <a:off x="4612538" y="3108960"/>
            <a:ext cx="2966618" cy="640080"/>
          </a:xfrm>
          <a:prstGeom prst="rect">
            <a:avLst/>
          </a:prstGeom>
          <a:noFill/>
          <a:ln/>
        </p:spPr>
        <p:txBody>
          <a:bodyPr wrap="square" lIns="0" tIns="0" rIns="0" bIns="0" rtlCol="0" anchor="t"/>
          <a:lstStyle/>
          <a:p>
            <a:pPr indent="0" marL="0">
              <a:buNone/>
            </a:pPr>
            <a:r>
              <a:rPr lang="en-US" sz="1300" dirty="0">
                <a:solidFill>
                  <a:schemeClr val="tx2"/>
                </a:solidFill>
              </a:rPr>
              <a:t>Screen incoming deposits against reported fraud flows</a:t>
            </a:r>
            <a:endParaRPr lang="en-US" sz="1300" dirty="0"/>
          </a:p>
        </p:txBody>
      </p:sp>
      <p:sp>
        <p:nvSpPr>
          <p:cNvPr id="17" name="user-card2"/>
          <p:cNvSpPr/>
          <p:nvPr/>
        </p:nvSpPr>
        <p:spPr>
          <a:xfrm>
            <a:off x="8127797" y="1325880"/>
            <a:ext cx="3515258" cy="2514600"/>
          </a:xfrm>
          <a:prstGeom prst="roundRect">
            <a:avLst>
              <a:gd name="adj" fmla="val 2909"/>
            </a:avLst>
          </a:prstGeom>
          <a:solidFill>
            <a:schemeClr val="bg2"/>
          </a:solidFill>
          <a:ln w="12700">
            <a:solidFill>
              <a:schemeClr val="bg2"/>
            </a:solidFill>
            <a:prstDash val="solid"/>
          </a:ln>
        </p:spPr>
      </p:sp>
      <p:sp>
        <p:nvSpPr>
          <p:cNvPr id="18" name="user2-circle"/>
          <p:cNvSpPr/>
          <p:nvPr/>
        </p:nvSpPr>
        <p:spPr>
          <a:xfrm>
            <a:off x="8402117" y="1600200"/>
            <a:ext cx="731520" cy="731520"/>
          </a:xfrm>
          <a:prstGeom prst="ellipse">
            <a:avLst/>
          </a:prstGeom>
          <a:solidFill>
            <a:schemeClr val="accent6"/>
          </a:solidFill>
          <a:ln w="12700">
            <a:solidFill>
              <a:schemeClr val="accent6"/>
            </a:solidFill>
            <a:prstDash val="solid"/>
          </a:ln>
        </p:spPr>
      </p:sp>
      <p:pic>
        <p:nvPicPr>
          <p:cNvPr id="19" name="user2-icon" descr="preencoded.png">    </p:cNvPr>
          <p:cNvPicPr>
            <a:picLocks noChangeAspect="1"/>
          </p:cNvPicPr>
          <p:nvPr/>
        </p:nvPicPr>
        <p:blipFill>
          <a:blip r:embed="rId3"/>
          <a:stretch>
            <a:fillRect/>
          </a:stretch>
        </p:blipFill>
        <p:spPr>
          <a:xfrm>
            <a:off x="8592312" y="1790395"/>
            <a:ext cx="351130" cy="351130"/>
          </a:xfrm>
          <a:prstGeom prst="rect">
            <a:avLst/>
          </a:prstGeom>
        </p:spPr>
      </p:pic>
      <p:sp>
        <p:nvSpPr>
          <p:cNvPr id="20" name="user-tag2"/>
          <p:cNvSpPr/>
          <p:nvPr/>
        </p:nvSpPr>
        <p:spPr>
          <a:xfrm>
            <a:off x="10317175" y="1645920"/>
            <a:ext cx="1051560" cy="292608"/>
          </a:xfrm>
          <a:prstGeom prst="roundRect">
            <a:avLst>
              <a:gd name="adj" fmla="val 50000"/>
            </a:avLst>
          </a:prstGeom>
          <a:solidFill>
            <a:schemeClr val="accent6"/>
          </a:solidFill>
          <a:ln w="12700">
            <a:solidFill>
              <a:schemeClr val="accent6"/>
            </a:solidFill>
            <a:prstDash val="solid"/>
          </a:ln>
        </p:spPr>
      </p:sp>
      <p:sp>
        <p:nvSpPr>
          <p:cNvPr id="21" name="Text 16"/>
          <p:cNvSpPr txBox="1"/>
          <p:nvPr/>
        </p:nvSpPr>
        <p:spPr>
          <a:xfrm>
            <a:off x="10317175" y="1645920"/>
            <a:ext cx="1051560" cy="292608"/>
          </a:xfrm>
          <a:prstGeom prst="rect">
            <a:avLst/>
          </a:prstGeom>
          <a:noFill/>
          <a:ln/>
        </p:spPr>
        <p:txBody>
          <a:bodyPr wrap="square" lIns="0" tIns="0" rIns="0" bIns="0" rtlCol="0" anchor="ctr"/>
          <a:lstStyle/>
          <a:p>
            <a:pPr algn="ctr" indent="0" marL="0">
              <a:buNone/>
            </a:pPr>
            <a:r>
              <a:rPr lang="en-US" sz="1100" b="1" dirty="0">
                <a:solidFill>
                  <a:schemeClr val="bg1"/>
                </a:solidFill>
              </a:rPr>
              <a:t>Secondary</a:t>
            </a:r>
            <a:endParaRPr lang="en-US" sz="1100" dirty="0"/>
          </a:p>
        </p:txBody>
      </p:sp>
      <p:sp>
        <p:nvSpPr>
          <p:cNvPr id="22" name="Text 17"/>
          <p:cNvSpPr txBox="1"/>
          <p:nvPr/>
        </p:nvSpPr>
        <p:spPr>
          <a:xfrm>
            <a:off x="8402117" y="2468880"/>
            <a:ext cx="2966618" cy="640080"/>
          </a:xfrm>
          <a:prstGeom prst="rect">
            <a:avLst/>
          </a:prstGeom>
          <a:noFill/>
          <a:ln/>
        </p:spPr>
        <p:txBody>
          <a:bodyPr wrap="square" lIns="0" tIns="0" rIns="0" bIns="0" rtlCol="0" anchor="t"/>
          <a:lstStyle/>
          <a:p>
            <a:pPr indent="0" marL="0">
              <a:buNone/>
            </a:pPr>
            <a:r>
              <a:rPr lang="en-US" sz="1700" b="1" dirty="0">
                <a:solidFill>
                  <a:schemeClr val="tx1"/>
                </a:solidFill>
              </a:rPr>
              <a:t>Banks' fraud units</a:t>
            </a:r>
            <a:endParaRPr lang="en-US" sz="1700" dirty="0"/>
          </a:p>
        </p:txBody>
      </p:sp>
      <p:sp>
        <p:nvSpPr>
          <p:cNvPr id="23" name="Text 18"/>
          <p:cNvSpPr txBox="1"/>
          <p:nvPr/>
        </p:nvSpPr>
        <p:spPr>
          <a:xfrm>
            <a:off x="8402117" y="3108960"/>
            <a:ext cx="2966618" cy="640080"/>
          </a:xfrm>
          <a:prstGeom prst="rect">
            <a:avLst/>
          </a:prstGeom>
          <a:noFill/>
          <a:ln/>
        </p:spPr>
        <p:txBody>
          <a:bodyPr wrap="square" lIns="0" tIns="0" rIns="0" bIns="0" rtlCol="0" anchor="t"/>
          <a:lstStyle/>
          <a:p>
            <a:pPr indent="0" marL="0">
              <a:buNone/>
            </a:pPr>
            <a:r>
              <a:rPr lang="en-US" sz="1300" dirty="0">
                <a:solidFill>
                  <a:schemeClr val="tx2"/>
                </a:solidFill>
              </a:rPr>
              <a:t>Link crypto cash-outs to the fiat accounts they control</a:t>
            </a:r>
            <a:endParaRPr lang="en-US" sz="1300" dirty="0"/>
          </a:p>
        </p:txBody>
      </p:sp>
      <p:sp>
        <p:nvSpPr>
          <p:cNvPr id="24" name="Text 19"/>
          <p:cNvSpPr txBox="1"/>
          <p:nvPr/>
        </p:nvSpPr>
        <p:spPr>
          <a:xfrm>
            <a:off x="548640" y="4114800"/>
            <a:ext cx="4572000" cy="365760"/>
          </a:xfrm>
          <a:prstGeom prst="rect">
            <a:avLst/>
          </a:prstGeom>
          <a:noFill/>
          <a:ln/>
        </p:spPr>
        <p:txBody>
          <a:bodyPr wrap="square" lIns="0" tIns="0" rIns="0" bIns="0" rtlCol="0" anchor="t"/>
          <a:lstStyle/>
          <a:p>
            <a:pPr indent="0" marL="0">
              <a:buNone/>
            </a:pPr>
            <a:r>
              <a:rPr lang="en-US" sz="1800" b="1" dirty="0">
                <a:solidFill>
                  <a:schemeClr val="tx1"/>
                </a:solidFill>
              </a:rPr>
              <a:t>Value to them</a:t>
            </a:r>
            <a:endParaRPr lang="en-US" sz="1800" dirty="0"/>
          </a:p>
        </p:txBody>
      </p:sp>
      <p:sp>
        <p:nvSpPr>
          <p:cNvPr id="25" name="val0-circle"/>
          <p:cNvSpPr/>
          <p:nvPr/>
        </p:nvSpPr>
        <p:spPr>
          <a:xfrm>
            <a:off x="548640" y="4617720"/>
            <a:ext cx="548640" cy="548640"/>
          </a:xfrm>
          <a:prstGeom prst="ellipse">
            <a:avLst/>
          </a:prstGeom>
          <a:solidFill>
            <a:schemeClr val="accent1"/>
          </a:solidFill>
          <a:ln w="12700">
            <a:solidFill>
              <a:schemeClr val="accent1"/>
            </a:solidFill>
            <a:prstDash val="solid"/>
          </a:ln>
        </p:spPr>
      </p:sp>
      <p:pic>
        <p:nvPicPr>
          <p:cNvPr id="26" name="val0-icon" descr="preencoded.png">    </p:cNvPr>
          <p:cNvPicPr>
            <a:picLocks noChangeAspect="1"/>
          </p:cNvPicPr>
          <p:nvPr/>
        </p:nvPicPr>
        <p:blipFill>
          <a:blip r:embed="rId4"/>
          <a:stretch>
            <a:fillRect/>
          </a:stretch>
        </p:blipFill>
        <p:spPr>
          <a:xfrm>
            <a:off x="691286" y="4760366"/>
            <a:ext cx="263347" cy="263347"/>
          </a:xfrm>
          <a:prstGeom prst="rect">
            <a:avLst/>
          </a:prstGeom>
        </p:spPr>
      </p:pic>
      <p:sp>
        <p:nvSpPr>
          <p:cNvPr id="27" name="Text 21"/>
          <p:cNvSpPr txBox="1"/>
          <p:nvPr/>
        </p:nvSpPr>
        <p:spPr>
          <a:xfrm>
            <a:off x="1234440" y="4599432"/>
            <a:ext cx="2783738" cy="320040"/>
          </a:xfrm>
          <a:prstGeom prst="rect">
            <a:avLst/>
          </a:prstGeom>
          <a:noFill/>
          <a:ln/>
        </p:spPr>
        <p:txBody>
          <a:bodyPr wrap="square" lIns="0" tIns="0" rIns="0" bIns="0" rtlCol="0" anchor="t"/>
          <a:lstStyle/>
          <a:p>
            <a:pPr indent="0" marL="0">
              <a:buNone/>
            </a:pPr>
            <a:r>
              <a:rPr lang="en-US" sz="1500" b="1" dirty="0">
                <a:solidFill>
                  <a:schemeClr val="tx1"/>
                </a:solidFill>
              </a:rPr>
              <a:t>Faster freezing</a:t>
            </a:r>
            <a:endParaRPr lang="en-US" sz="1500" dirty="0"/>
          </a:p>
        </p:txBody>
      </p:sp>
      <p:sp>
        <p:nvSpPr>
          <p:cNvPr id="28" name="Text 22"/>
          <p:cNvSpPr txBox="1"/>
          <p:nvPr/>
        </p:nvSpPr>
        <p:spPr>
          <a:xfrm>
            <a:off x="1234440" y="4965192"/>
            <a:ext cx="2783738" cy="822960"/>
          </a:xfrm>
          <a:prstGeom prst="rect">
            <a:avLst/>
          </a:prstGeom>
          <a:noFill/>
          <a:ln/>
        </p:spPr>
        <p:txBody>
          <a:bodyPr wrap="square" lIns="0" tIns="0" rIns="0" bIns="0" rtlCol="0" anchor="t"/>
          <a:lstStyle/>
          <a:p>
            <a:pPr indent="0" marL="0">
              <a:buNone/>
            </a:pPr>
            <a:r>
              <a:rPr lang="en-US" sz="1200" dirty="0">
                <a:solidFill>
                  <a:schemeClr val="tx2"/>
                </a:solidFill>
              </a:rPr>
              <a:t>Exchange and contact identified in one run instead of days of manual work</a:t>
            </a:r>
            <a:endParaRPr lang="en-US" sz="1200" dirty="0"/>
          </a:p>
        </p:txBody>
      </p:sp>
      <p:sp>
        <p:nvSpPr>
          <p:cNvPr id="29" name="val1-circle"/>
          <p:cNvSpPr/>
          <p:nvPr/>
        </p:nvSpPr>
        <p:spPr>
          <a:xfrm>
            <a:off x="4338218" y="4617720"/>
            <a:ext cx="548640" cy="548640"/>
          </a:xfrm>
          <a:prstGeom prst="ellipse">
            <a:avLst/>
          </a:prstGeom>
          <a:solidFill>
            <a:schemeClr val="accent1"/>
          </a:solidFill>
          <a:ln w="12700">
            <a:solidFill>
              <a:schemeClr val="accent1"/>
            </a:solidFill>
            <a:prstDash val="solid"/>
          </a:ln>
        </p:spPr>
      </p:sp>
      <p:pic>
        <p:nvPicPr>
          <p:cNvPr id="30" name="val1-icon" descr="preencoded.png">    </p:cNvPr>
          <p:cNvPicPr>
            <a:picLocks noChangeAspect="1"/>
          </p:cNvPicPr>
          <p:nvPr/>
        </p:nvPicPr>
        <p:blipFill>
          <a:blip r:embed="rId5"/>
          <a:stretch>
            <a:fillRect/>
          </a:stretch>
        </p:blipFill>
        <p:spPr>
          <a:xfrm>
            <a:off x="4480865" y="4760366"/>
            <a:ext cx="263347" cy="263347"/>
          </a:xfrm>
          <a:prstGeom prst="rect">
            <a:avLst/>
          </a:prstGeom>
        </p:spPr>
      </p:pic>
      <p:sp>
        <p:nvSpPr>
          <p:cNvPr id="31" name="Text 24"/>
          <p:cNvSpPr txBox="1"/>
          <p:nvPr/>
        </p:nvSpPr>
        <p:spPr>
          <a:xfrm>
            <a:off x="5024018" y="4599432"/>
            <a:ext cx="2783738" cy="320040"/>
          </a:xfrm>
          <a:prstGeom prst="rect">
            <a:avLst/>
          </a:prstGeom>
          <a:noFill/>
          <a:ln/>
        </p:spPr>
        <p:txBody>
          <a:bodyPr wrap="square" lIns="0" tIns="0" rIns="0" bIns="0" rtlCol="0" anchor="t"/>
          <a:lstStyle/>
          <a:p>
            <a:pPr indent="0" marL="0">
              <a:buNone/>
            </a:pPr>
            <a:r>
              <a:rPr lang="en-US" sz="1500" b="1" dirty="0">
                <a:solidFill>
                  <a:schemeClr val="tx1"/>
                </a:solidFill>
              </a:rPr>
              <a:t>Less dependence on rare experts</a:t>
            </a:r>
            <a:endParaRPr lang="en-US" sz="1500" dirty="0"/>
          </a:p>
        </p:txBody>
      </p:sp>
      <p:sp>
        <p:nvSpPr>
          <p:cNvPr id="32" name="Text 25"/>
          <p:cNvSpPr txBox="1"/>
          <p:nvPr/>
        </p:nvSpPr>
        <p:spPr>
          <a:xfrm>
            <a:off x="5024018" y="4965192"/>
            <a:ext cx="2783738" cy="822960"/>
          </a:xfrm>
          <a:prstGeom prst="rect">
            <a:avLst/>
          </a:prstGeom>
          <a:noFill/>
          <a:ln/>
        </p:spPr>
        <p:txBody>
          <a:bodyPr wrap="square" lIns="0" tIns="0" rIns="0" bIns="0" rtlCol="0" anchor="t"/>
          <a:lstStyle/>
          <a:p>
            <a:pPr indent="0" marL="0">
              <a:buNone/>
            </a:pPr>
            <a:r>
              <a:rPr lang="en-US" sz="1200" dirty="0">
                <a:solidFill>
                  <a:schemeClr val="tx2"/>
                </a:solidFill>
              </a:rPr>
              <a:t>Any trained investigator can act on the guided report</a:t>
            </a:r>
            <a:endParaRPr lang="en-US" sz="1200" dirty="0"/>
          </a:p>
        </p:txBody>
      </p:sp>
      <p:sp>
        <p:nvSpPr>
          <p:cNvPr id="33" name="val2-circle"/>
          <p:cNvSpPr/>
          <p:nvPr/>
        </p:nvSpPr>
        <p:spPr>
          <a:xfrm>
            <a:off x="8127797" y="4617720"/>
            <a:ext cx="548640" cy="548640"/>
          </a:xfrm>
          <a:prstGeom prst="ellipse">
            <a:avLst/>
          </a:prstGeom>
          <a:solidFill>
            <a:schemeClr val="accent1"/>
          </a:solidFill>
          <a:ln w="12700">
            <a:solidFill>
              <a:schemeClr val="accent1"/>
            </a:solidFill>
            <a:prstDash val="solid"/>
          </a:ln>
        </p:spPr>
      </p:sp>
      <p:pic>
        <p:nvPicPr>
          <p:cNvPr id="34" name="val2-icon" descr="preencoded.png">    </p:cNvPr>
          <p:cNvPicPr>
            <a:picLocks noChangeAspect="1"/>
          </p:cNvPicPr>
          <p:nvPr/>
        </p:nvPicPr>
        <p:blipFill>
          <a:blip r:embed="rId6"/>
          <a:stretch>
            <a:fillRect/>
          </a:stretch>
        </p:blipFill>
        <p:spPr>
          <a:xfrm>
            <a:off x="8270443" y="4760366"/>
            <a:ext cx="263347" cy="263347"/>
          </a:xfrm>
          <a:prstGeom prst="rect">
            <a:avLst/>
          </a:prstGeom>
        </p:spPr>
      </p:pic>
      <p:sp>
        <p:nvSpPr>
          <p:cNvPr id="35" name="Text 27"/>
          <p:cNvSpPr txBox="1"/>
          <p:nvPr/>
        </p:nvSpPr>
        <p:spPr>
          <a:xfrm>
            <a:off x="8813597" y="4599432"/>
            <a:ext cx="2783738" cy="320040"/>
          </a:xfrm>
          <a:prstGeom prst="rect">
            <a:avLst/>
          </a:prstGeom>
          <a:noFill/>
          <a:ln/>
        </p:spPr>
        <p:txBody>
          <a:bodyPr wrap="square" lIns="0" tIns="0" rIns="0" bIns="0" rtlCol="0" anchor="t"/>
          <a:lstStyle/>
          <a:p>
            <a:pPr indent="0" marL="0">
              <a:buNone/>
            </a:pPr>
            <a:r>
              <a:rPr lang="en-US" sz="1500" b="1" dirty="0">
                <a:solidFill>
                  <a:schemeClr val="tx1"/>
                </a:solidFill>
              </a:rPr>
              <a:t>Standardised evidence</a:t>
            </a:r>
            <a:endParaRPr lang="en-US" sz="1500" dirty="0"/>
          </a:p>
        </p:txBody>
      </p:sp>
      <p:sp>
        <p:nvSpPr>
          <p:cNvPr id="36" name="Text 28"/>
          <p:cNvSpPr txBox="1"/>
          <p:nvPr/>
        </p:nvSpPr>
        <p:spPr>
          <a:xfrm>
            <a:off x="8813597" y="4965192"/>
            <a:ext cx="2783738" cy="822960"/>
          </a:xfrm>
          <a:prstGeom prst="rect">
            <a:avLst/>
          </a:prstGeom>
          <a:noFill/>
          <a:ln/>
        </p:spPr>
        <p:txBody>
          <a:bodyPr wrap="square" lIns="0" tIns="0" rIns="0" bIns="0" rtlCol="0" anchor="t"/>
          <a:lstStyle/>
          <a:p>
            <a:pPr indent="0" marL="0">
              <a:buNone/>
            </a:pPr>
            <a:r>
              <a:rPr lang="en-US" sz="1200" dirty="0">
                <a:solidFill>
                  <a:schemeClr val="tx2"/>
                </a:solidFill>
              </a:rPr>
              <a:t>Same report format, hashed snapshots, audit log for every case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Technical architecture</a:t>
            </a:r>
            <a:endParaRPr lang="en-US" sz="3200" dirty="0"/>
          </a:p>
        </p:txBody>
      </p:sp>
      <p:sp>
        <p:nvSpPr>
          <p:cNvPr id="3" name="arch-input"/>
          <p:cNvSpPr/>
          <p:nvPr/>
        </p:nvSpPr>
        <p:spPr>
          <a:xfrm>
            <a:off x="548640" y="1325880"/>
            <a:ext cx="2377440" cy="1463040"/>
          </a:xfrm>
          <a:prstGeom prst="roundRect">
            <a:avLst>
              <a:gd name="adj" fmla="val 5000"/>
            </a:avLst>
          </a:prstGeom>
          <a:solidFill>
            <a:schemeClr val="tx2"/>
          </a:solidFill>
          <a:ln w="12700">
            <a:solidFill>
              <a:schemeClr val="tx2"/>
            </a:solidFill>
            <a:prstDash val="solid"/>
          </a:ln>
        </p:spPr>
      </p:sp>
      <p:sp>
        <p:nvSpPr>
          <p:cNvPr id="4" name="Text 2"/>
          <p:cNvSpPr txBox="1"/>
          <p:nvPr/>
        </p:nvSpPr>
        <p:spPr>
          <a:xfrm>
            <a:off x="685800" y="1399032"/>
            <a:ext cx="2103120" cy="1316736"/>
          </a:xfrm>
          <a:prstGeom prst="rect">
            <a:avLst/>
          </a:prstGeom>
          <a:noFill/>
          <a:ln/>
        </p:spPr>
        <p:txBody>
          <a:bodyPr wrap="square" lIns="0" tIns="0" rIns="0" bIns="0" rtlCol="0" anchor="ctr"/>
          <a:lstStyle/>
          <a:p>
            <a:pPr algn="ctr" indent="0" marL="0">
              <a:buNone/>
            </a:pPr>
            <a:r>
              <a:rPr lang="en-US" sz="1400" b="1" dirty="0">
                <a:solidFill>
                  <a:schemeClr val="bg1"/>
                </a:solidFill>
              </a:rPr>
              <a:t>Input layer</a:t>
            </a:r>
            <a:endParaRPr lang="en-US" sz="1400" dirty="0"/>
          </a:p>
          <a:p>
            <a:pPr algn="ctr" indent="0" marL="0">
              <a:buNone/>
            </a:pPr>
            <a:r>
              <a:rPr lang="en-US" sz="1100" dirty="0">
                <a:solidFill>
                  <a:schemeClr val="bg1"/>
                </a:solidFill>
              </a:rPr>
              <a:t>Dashboard form  |  REST API  |  later: complaint systems (NCRP)</a:t>
            </a:r>
            <a:endParaRPr lang="en-US" sz="1400" dirty="0"/>
          </a:p>
        </p:txBody>
      </p:sp>
      <p:sp>
        <p:nvSpPr>
          <p:cNvPr id="5" name="arch-a1"/>
          <p:cNvSpPr/>
          <p:nvPr/>
        </p:nvSpPr>
        <p:spPr>
          <a:xfrm>
            <a:off x="2926080" y="2057400"/>
            <a:ext cx="365760" cy="0"/>
          </a:xfrm>
          <a:prstGeom prst="line">
            <a:avLst/>
          </a:prstGeom>
          <a:noFill/>
          <a:ln w="25400">
            <a:solidFill>
              <a:schemeClr val="accent5"/>
            </a:solidFill>
            <a:prstDash val="solid"/>
            <a:tailEnd type="triangle"/>
          </a:ln>
        </p:spPr>
      </p:sp>
      <p:sp>
        <p:nvSpPr>
          <p:cNvPr id="6" name="arch-orch"/>
          <p:cNvSpPr/>
          <p:nvPr/>
        </p:nvSpPr>
        <p:spPr>
          <a:xfrm>
            <a:off x="3291840" y="1325880"/>
            <a:ext cx="2377440" cy="1463040"/>
          </a:xfrm>
          <a:prstGeom prst="roundRect">
            <a:avLst>
              <a:gd name="adj" fmla="val 5000"/>
            </a:avLst>
          </a:prstGeom>
          <a:solidFill>
            <a:schemeClr val="tx1"/>
          </a:solidFill>
          <a:ln w="12700">
            <a:solidFill>
              <a:schemeClr val="tx1"/>
            </a:solidFill>
            <a:prstDash val="solid"/>
          </a:ln>
        </p:spPr>
      </p:sp>
      <p:sp>
        <p:nvSpPr>
          <p:cNvPr id="7" name="Text 5"/>
          <p:cNvSpPr txBox="1"/>
          <p:nvPr/>
        </p:nvSpPr>
        <p:spPr>
          <a:xfrm>
            <a:off x="3429000" y="1399032"/>
            <a:ext cx="2103120" cy="1316736"/>
          </a:xfrm>
          <a:prstGeom prst="rect">
            <a:avLst/>
          </a:prstGeom>
          <a:noFill/>
          <a:ln/>
        </p:spPr>
        <p:txBody>
          <a:bodyPr wrap="square" lIns="0" tIns="0" rIns="0" bIns="0" rtlCol="0" anchor="ctr"/>
          <a:lstStyle/>
          <a:p>
            <a:pPr algn="ctr" indent="0" marL="0">
              <a:buNone/>
            </a:pPr>
            <a:r>
              <a:rPr lang="en-US" sz="1400" b="1" dirty="0">
                <a:solidFill>
                  <a:schemeClr val="bg1"/>
                </a:solidFill>
              </a:rPr>
              <a:t>Orchestrator</a:t>
            </a:r>
            <a:endParaRPr lang="en-US" sz="1400" dirty="0"/>
          </a:p>
          <a:p>
            <a:pPr algn="ctr" indent="0" marL="0">
              <a:buNone/>
            </a:pPr>
            <a:r>
              <a:rPr lang="en-US" sz="1100" dirty="0">
                <a:solidFill>
                  <a:schemeClr val="bg1"/>
                </a:solidFill>
              </a:rPr>
              <a:t>Job queue (Redis + worker). Runs tracing and agents in parallel, then merges results</a:t>
            </a:r>
            <a:endParaRPr lang="en-US" sz="1400" dirty="0"/>
          </a:p>
        </p:txBody>
      </p:sp>
      <p:sp>
        <p:nvSpPr>
          <p:cNvPr id="8" name="arch-a2"/>
          <p:cNvSpPr/>
          <p:nvPr/>
        </p:nvSpPr>
        <p:spPr>
          <a:xfrm>
            <a:off x="5669280" y="1691640"/>
            <a:ext cx="411480" cy="0"/>
          </a:xfrm>
          <a:prstGeom prst="line">
            <a:avLst/>
          </a:prstGeom>
          <a:noFill/>
          <a:ln w="25400">
            <a:solidFill>
              <a:schemeClr val="accent5"/>
            </a:solidFill>
            <a:prstDash val="solid"/>
            <a:tailEnd type="triangle"/>
          </a:ln>
        </p:spPr>
      </p:sp>
      <p:sp>
        <p:nvSpPr>
          <p:cNvPr id="9" name="arch-a3"/>
          <p:cNvSpPr/>
          <p:nvPr/>
        </p:nvSpPr>
        <p:spPr>
          <a:xfrm>
            <a:off x="5669280" y="2423160"/>
            <a:ext cx="411480" cy="1097280"/>
          </a:xfrm>
          <a:prstGeom prst="line">
            <a:avLst/>
          </a:prstGeom>
          <a:noFill/>
          <a:ln w="25400">
            <a:solidFill>
              <a:schemeClr val="accent5"/>
            </a:solidFill>
            <a:prstDash val="solid"/>
            <a:tailEnd type="triangle"/>
          </a:ln>
        </p:spPr>
      </p:sp>
      <p:sp>
        <p:nvSpPr>
          <p:cNvPr id="10" name="arch-offchain"/>
          <p:cNvSpPr/>
          <p:nvPr/>
        </p:nvSpPr>
        <p:spPr>
          <a:xfrm>
            <a:off x="6080760" y="1325880"/>
            <a:ext cx="2834640" cy="1051560"/>
          </a:xfrm>
          <a:prstGeom prst="roundRect">
            <a:avLst>
              <a:gd name="adj" fmla="val 6957"/>
            </a:avLst>
          </a:prstGeom>
          <a:solidFill>
            <a:schemeClr val="accent2"/>
          </a:solidFill>
          <a:ln w="12700">
            <a:solidFill>
              <a:schemeClr val="accent2"/>
            </a:solidFill>
            <a:prstDash val="solid"/>
          </a:ln>
        </p:spPr>
      </p:sp>
      <p:sp>
        <p:nvSpPr>
          <p:cNvPr id="11" name="Text 9"/>
          <p:cNvSpPr txBox="1"/>
          <p:nvPr/>
        </p:nvSpPr>
        <p:spPr>
          <a:xfrm>
            <a:off x="6217920" y="1399032"/>
            <a:ext cx="2560320" cy="905256"/>
          </a:xfrm>
          <a:prstGeom prst="rect">
            <a:avLst/>
          </a:prstGeom>
          <a:noFill/>
          <a:ln/>
        </p:spPr>
        <p:txBody>
          <a:bodyPr wrap="square" lIns="0" tIns="0" rIns="0" bIns="0" rtlCol="0" anchor="ctr"/>
          <a:lstStyle/>
          <a:p>
            <a:pPr algn="ctr" indent="0" marL="0">
              <a:buNone/>
            </a:pPr>
            <a:r>
              <a:rPr lang="en-US" sz="1400" b="1" dirty="0">
                <a:solidFill>
                  <a:schemeClr val="bg1"/>
                </a:solidFill>
              </a:rPr>
              <a:t>Off-chain intelligence engine</a:t>
            </a:r>
            <a:endParaRPr lang="en-US" sz="1400" dirty="0"/>
          </a:p>
          <a:p>
            <a:pPr algn="ctr" indent="0" marL="0">
              <a:buNone/>
            </a:pPr>
            <a:r>
              <a:rPr lang="en-US" sz="1100" dirty="0">
                <a:solidFill>
                  <a:schemeClr val="bg1"/>
                </a:solidFill>
              </a:rPr>
              <a:t>TinyFish Search, Fetch, Web Agent, Browser</a:t>
            </a:r>
            <a:endParaRPr lang="en-US" sz="1400" dirty="0"/>
          </a:p>
        </p:txBody>
      </p:sp>
      <p:sp>
        <p:nvSpPr>
          <p:cNvPr id="12" name="arch-onchain"/>
          <p:cNvSpPr/>
          <p:nvPr/>
        </p:nvSpPr>
        <p:spPr>
          <a:xfrm>
            <a:off x="6080760" y="2971800"/>
            <a:ext cx="2834640" cy="1051560"/>
          </a:xfrm>
          <a:prstGeom prst="roundRect">
            <a:avLst>
              <a:gd name="adj" fmla="val 6957"/>
            </a:avLst>
          </a:prstGeom>
          <a:solidFill>
            <a:schemeClr val="accent1"/>
          </a:solidFill>
          <a:ln w="12700">
            <a:solidFill>
              <a:schemeClr val="accent1"/>
            </a:solidFill>
            <a:prstDash val="solid"/>
          </a:ln>
        </p:spPr>
      </p:sp>
      <p:sp>
        <p:nvSpPr>
          <p:cNvPr id="13" name="Text 11"/>
          <p:cNvSpPr txBox="1"/>
          <p:nvPr/>
        </p:nvSpPr>
        <p:spPr>
          <a:xfrm>
            <a:off x="6217920" y="3044952"/>
            <a:ext cx="2560320" cy="905256"/>
          </a:xfrm>
          <a:prstGeom prst="rect">
            <a:avLst/>
          </a:prstGeom>
          <a:noFill/>
          <a:ln/>
        </p:spPr>
        <p:txBody>
          <a:bodyPr wrap="square" lIns="0" tIns="0" rIns="0" bIns="0" rtlCol="0" anchor="ctr"/>
          <a:lstStyle/>
          <a:p>
            <a:pPr algn="ctr" indent="0" marL="0">
              <a:buNone/>
            </a:pPr>
            <a:r>
              <a:rPr lang="en-US" sz="1400" b="1" dirty="0">
                <a:solidFill>
                  <a:schemeClr val="bg1"/>
                </a:solidFill>
              </a:rPr>
              <a:t>On-chain engine</a:t>
            </a:r>
            <a:endParaRPr lang="en-US" sz="1400" dirty="0"/>
          </a:p>
          <a:p>
            <a:pPr algn="ctr" indent="0" marL="0">
              <a:buNone/>
            </a:pPr>
            <a:r>
              <a:rPr lang="en-US" sz="1100" dirty="0">
                <a:solidFill>
                  <a:schemeClr val="bg1"/>
                </a:solidFill>
              </a:rPr>
              <a:t>Explorer / node APIs  &gt;  transaction graph (NetworkX), exchange-cluster matching, pattern detection</a:t>
            </a:r>
            <a:endParaRPr lang="en-US" sz="1400" dirty="0"/>
          </a:p>
        </p:txBody>
      </p:sp>
      <p:sp>
        <p:nvSpPr>
          <p:cNvPr id="14" name="arch-a4"/>
          <p:cNvSpPr/>
          <p:nvPr/>
        </p:nvSpPr>
        <p:spPr>
          <a:xfrm>
            <a:off x="8915400" y="1828800"/>
            <a:ext cx="411480" cy="822960"/>
          </a:xfrm>
          <a:prstGeom prst="line">
            <a:avLst/>
          </a:prstGeom>
          <a:noFill/>
          <a:ln w="25400">
            <a:solidFill>
              <a:schemeClr val="accent5"/>
            </a:solidFill>
            <a:prstDash val="solid"/>
            <a:tailEnd type="triangle"/>
          </a:ln>
        </p:spPr>
      </p:sp>
      <p:sp>
        <p:nvSpPr>
          <p:cNvPr id="15" name="arch-a5"/>
          <p:cNvSpPr/>
          <p:nvPr/>
        </p:nvSpPr>
        <p:spPr>
          <a:xfrm>
            <a:off x="8915400" y="3474720"/>
            <a:ext cx="411480" cy="-685800"/>
          </a:xfrm>
          <a:prstGeom prst="line">
            <a:avLst/>
          </a:prstGeom>
          <a:noFill/>
          <a:ln w="25400">
            <a:solidFill>
              <a:schemeClr val="accent5"/>
            </a:solidFill>
            <a:prstDash val="solid"/>
            <a:tailEnd type="triangle"/>
          </a:ln>
        </p:spPr>
      </p:sp>
      <p:sp>
        <p:nvSpPr>
          <p:cNvPr id="16" name="arch-risk"/>
          <p:cNvSpPr/>
          <p:nvPr/>
        </p:nvSpPr>
        <p:spPr>
          <a:xfrm>
            <a:off x="9326880" y="2148840"/>
            <a:ext cx="2313432" cy="1097280"/>
          </a:xfrm>
          <a:prstGeom prst="roundRect">
            <a:avLst>
              <a:gd name="adj" fmla="val 6667"/>
            </a:avLst>
          </a:prstGeom>
          <a:solidFill>
            <a:schemeClr val="accent4"/>
          </a:solidFill>
          <a:ln w="12700">
            <a:solidFill>
              <a:schemeClr val="accent4"/>
            </a:solidFill>
            <a:prstDash val="solid"/>
          </a:ln>
        </p:spPr>
      </p:sp>
      <p:sp>
        <p:nvSpPr>
          <p:cNvPr id="17" name="Text 15"/>
          <p:cNvSpPr txBox="1"/>
          <p:nvPr/>
        </p:nvSpPr>
        <p:spPr>
          <a:xfrm>
            <a:off x="9464040" y="2221992"/>
            <a:ext cx="2039112" cy="950976"/>
          </a:xfrm>
          <a:prstGeom prst="rect">
            <a:avLst/>
          </a:prstGeom>
          <a:noFill/>
          <a:ln/>
        </p:spPr>
        <p:txBody>
          <a:bodyPr wrap="square" lIns="0" tIns="0" rIns="0" bIns="0" rtlCol="0" anchor="ctr"/>
          <a:lstStyle/>
          <a:p>
            <a:pPr algn="ctr" indent="0" marL="0">
              <a:buNone/>
            </a:pPr>
            <a:r>
              <a:rPr lang="en-US" sz="1400" b="1" dirty="0">
                <a:solidFill>
                  <a:schemeClr val="bg1"/>
                </a:solidFill>
              </a:rPr>
              <a:t>Risk engine</a:t>
            </a:r>
            <a:endParaRPr lang="en-US" sz="1400" dirty="0"/>
          </a:p>
          <a:p>
            <a:pPr algn="ctr" indent="0" marL="0">
              <a:buNone/>
            </a:pPr>
            <a:r>
              <a:rPr lang="en-US" sz="1100" dirty="0">
                <a:solidFill>
                  <a:schemeClr val="bg1"/>
                </a:solidFill>
              </a:rPr>
              <a:t>Rule-based scoring now, ML later</a:t>
            </a:r>
            <a:endParaRPr lang="en-US" sz="1400" dirty="0"/>
          </a:p>
        </p:txBody>
      </p:sp>
      <p:sp>
        <p:nvSpPr>
          <p:cNvPr id="18" name="arch-a6"/>
          <p:cNvSpPr/>
          <p:nvPr/>
        </p:nvSpPr>
        <p:spPr>
          <a:xfrm>
            <a:off x="10479024" y="3246120"/>
            <a:ext cx="0" cy="685800"/>
          </a:xfrm>
          <a:prstGeom prst="line">
            <a:avLst/>
          </a:prstGeom>
          <a:noFill/>
          <a:ln w="25400">
            <a:solidFill>
              <a:schemeClr val="accent5"/>
            </a:solidFill>
            <a:prstDash val="solid"/>
            <a:tailEnd type="triangle"/>
          </a:ln>
        </p:spPr>
      </p:sp>
      <p:sp>
        <p:nvSpPr>
          <p:cNvPr id="19" name="arch-output"/>
          <p:cNvSpPr/>
          <p:nvPr/>
        </p:nvSpPr>
        <p:spPr>
          <a:xfrm>
            <a:off x="9326880" y="3931920"/>
            <a:ext cx="2313432" cy="1417320"/>
          </a:xfrm>
          <a:prstGeom prst="roundRect">
            <a:avLst>
              <a:gd name="adj" fmla="val 5161"/>
            </a:avLst>
          </a:prstGeom>
          <a:solidFill>
            <a:schemeClr val="accent3"/>
          </a:solidFill>
          <a:ln w="12700">
            <a:solidFill>
              <a:schemeClr val="accent3"/>
            </a:solidFill>
            <a:prstDash val="solid"/>
          </a:ln>
        </p:spPr>
      </p:sp>
      <p:sp>
        <p:nvSpPr>
          <p:cNvPr id="20" name="Text 18"/>
          <p:cNvSpPr txBox="1"/>
          <p:nvPr/>
        </p:nvSpPr>
        <p:spPr>
          <a:xfrm>
            <a:off x="9464040" y="4005072"/>
            <a:ext cx="2039112" cy="1271016"/>
          </a:xfrm>
          <a:prstGeom prst="rect">
            <a:avLst/>
          </a:prstGeom>
          <a:noFill/>
          <a:ln/>
        </p:spPr>
        <p:txBody>
          <a:bodyPr wrap="square" lIns="0" tIns="0" rIns="0" bIns="0" rtlCol="0" anchor="ctr"/>
          <a:lstStyle/>
          <a:p>
            <a:pPr algn="ctr" indent="0" marL="0">
              <a:buNone/>
            </a:pPr>
            <a:r>
              <a:rPr lang="en-US" sz="1400" b="1" dirty="0">
                <a:solidFill>
                  <a:schemeClr val="bg1"/>
                </a:solidFill>
              </a:rPr>
              <a:t>Output layer</a:t>
            </a:r>
            <a:endParaRPr lang="en-US" sz="1400" dirty="0"/>
          </a:p>
          <a:p>
            <a:pPr algn="ctr" indent="0" marL="0">
              <a:buNone/>
            </a:pPr>
            <a:r>
              <a:rPr lang="en-US" sz="1100" dirty="0">
                <a:solidFill>
                  <a:schemeClr val="bg1"/>
                </a:solidFill>
              </a:rPr>
              <a:t>Dashboard  |  fund-flow graph  |  PDF / JSON report  |  freeze-request draft</a:t>
            </a:r>
            <a:endParaRPr lang="en-US" sz="1400" dirty="0"/>
          </a:p>
        </p:txBody>
      </p:sp>
      <p:sp>
        <p:nvSpPr>
          <p:cNvPr id="21" name="arch-db"/>
          <p:cNvSpPr/>
          <p:nvPr/>
        </p:nvSpPr>
        <p:spPr>
          <a:xfrm>
            <a:off x="3291840" y="3246120"/>
            <a:ext cx="2377440" cy="1051560"/>
          </a:xfrm>
          <a:prstGeom prst="roundRect">
            <a:avLst>
              <a:gd name="adj" fmla="val 6957"/>
            </a:avLst>
          </a:prstGeom>
          <a:solidFill>
            <a:schemeClr val="bg2"/>
          </a:solidFill>
          <a:ln w="12700">
            <a:solidFill>
              <a:schemeClr val="bg2"/>
            </a:solidFill>
            <a:prstDash val="solid"/>
          </a:ln>
        </p:spPr>
      </p:sp>
      <p:sp>
        <p:nvSpPr>
          <p:cNvPr id="22" name="Text 20"/>
          <p:cNvSpPr txBox="1"/>
          <p:nvPr/>
        </p:nvSpPr>
        <p:spPr>
          <a:xfrm>
            <a:off x="3429000" y="3319272"/>
            <a:ext cx="2103120" cy="905256"/>
          </a:xfrm>
          <a:prstGeom prst="rect">
            <a:avLst/>
          </a:prstGeom>
          <a:noFill/>
          <a:ln/>
        </p:spPr>
        <p:txBody>
          <a:bodyPr wrap="square" lIns="0" tIns="0" rIns="0" bIns="0" rtlCol="0" anchor="ctr"/>
          <a:lstStyle/>
          <a:p>
            <a:pPr algn="ctr" indent="0" marL="0">
              <a:buNone/>
            </a:pPr>
            <a:r>
              <a:rPr lang="en-US" sz="1400" b="1" dirty="0">
                <a:solidFill>
                  <a:schemeClr val="tx1"/>
                </a:solidFill>
              </a:rPr>
              <a:t>PostgreSQL</a:t>
            </a:r>
            <a:endParaRPr lang="en-US" sz="1400" dirty="0"/>
          </a:p>
          <a:p>
            <a:pPr algn="ctr" indent="0" marL="0">
              <a:buNone/>
            </a:pPr>
            <a:r>
              <a:rPr lang="en-US" sz="1100" dirty="0">
                <a:solidFill>
                  <a:schemeClr val="tx1"/>
                </a:solidFill>
              </a:rPr>
              <a:t>Cases, results, audit log, VASP contact cache</a:t>
            </a:r>
            <a:endParaRPr lang="en-US" sz="1400" dirty="0"/>
          </a:p>
        </p:txBody>
      </p:sp>
      <p:sp>
        <p:nvSpPr>
          <p:cNvPr id="23" name="arch-a7"/>
          <p:cNvSpPr/>
          <p:nvPr/>
        </p:nvSpPr>
        <p:spPr>
          <a:xfrm>
            <a:off x="4480560" y="2788920"/>
            <a:ext cx="0" cy="457200"/>
          </a:xfrm>
          <a:prstGeom prst="line">
            <a:avLst/>
          </a:prstGeom>
          <a:noFill/>
          <a:ln w="25400">
            <a:solidFill>
              <a:schemeClr val="accent5"/>
            </a:solidFill>
            <a:prstDash val="solid"/>
            <a:tailEnd type="triangle"/>
          </a:ln>
        </p:spPr>
      </p:sp>
      <p:sp>
        <p:nvSpPr>
          <p:cNvPr id="24" name="arch-data"/>
          <p:cNvSpPr/>
          <p:nvPr/>
        </p:nvSpPr>
        <p:spPr>
          <a:xfrm>
            <a:off x="6080760" y="4572000"/>
            <a:ext cx="2834640" cy="1234440"/>
          </a:xfrm>
          <a:prstGeom prst="roundRect">
            <a:avLst>
              <a:gd name="adj" fmla="val 5926"/>
            </a:avLst>
          </a:prstGeom>
          <a:solidFill>
            <a:schemeClr val="bg2"/>
          </a:solidFill>
          <a:ln w="12700">
            <a:solidFill>
              <a:schemeClr val="bg2"/>
            </a:solidFill>
            <a:prstDash val="solid"/>
          </a:ln>
        </p:spPr>
      </p:sp>
      <p:sp>
        <p:nvSpPr>
          <p:cNvPr id="25" name="Text 23"/>
          <p:cNvSpPr txBox="1"/>
          <p:nvPr/>
        </p:nvSpPr>
        <p:spPr>
          <a:xfrm>
            <a:off x="6217920" y="4645152"/>
            <a:ext cx="2560320" cy="1088136"/>
          </a:xfrm>
          <a:prstGeom prst="rect">
            <a:avLst/>
          </a:prstGeom>
          <a:noFill/>
          <a:ln/>
        </p:spPr>
        <p:txBody>
          <a:bodyPr wrap="square" lIns="0" tIns="0" rIns="0" bIns="0" rtlCol="0" anchor="ctr"/>
          <a:lstStyle/>
          <a:p>
            <a:pPr algn="ctr" indent="0" marL="0">
              <a:buNone/>
            </a:pPr>
            <a:r>
              <a:rPr lang="en-US" sz="1400" b="1" dirty="0">
                <a:solidFill>
                  <a:schemeClr val="tx1"/>
                </a:solidFill>
              </a:rPr>
              <a:t>Blockchain data sources</a:t>
            </a:r>
            <a:endParaRPr lang="en-US" sz="1400" dirty="0"/>
          </a:p>
          <a:p>
            <a:pPr algn="ctr" indent="0" marL="0">
              <a:buNone/>
            </a:pPr>
            <a:r>
              <a:rPr lang="en-US" sz="1100" dirty="0">
                <a:solidFill>
                  <a:schemeClr val="tx1"/>
                </a:solidFill>
              </a:rPr>
              <a:t>Etherscan / Alchemy / Infura (Ethereum)  |  TronGrid / Tronscan (Tron)  |  public exchange-label datasets</a:t>
            </a:r>
            <a:endParaRPr lang="en-US" sz="1400" dirty="0"/>
          </a:p>
        </p:txBody>
      </p:sp>
      <p:sp>
        <p:nvSpPr>
          <p:cNvPr id="26" name="arch-a8"/>
          <p:cNvSpPr/>
          <p:nvPr/>
        </p:nvSpPr>
        <p:spPr>
          <a:xfrm>
            <a:off x="7498080" y="4572000"/>
            <a:ext cx="0" cy="-548640"/>
          </a:xfrm>
          <a:prstGeom prst="line">
            <a:avLst/>
          </a:prstGeom>
          <a:noFill/>
          <a:ln w="25400">
            <a:solidFill>
              <a:schemeClr val="accent5"/>
            </a:solidFill>
            <a:prstDash val="solid"/>
            <a:tailEnd type="triangle"/>
          </a:ln>
        </p:spPr>
      </p:sp>
      <p:sp>
        <p:nvSpPr>
          <p:cNvPr id="27" name="Text 25"/>
          <p:cNvSpPr txBox="1"/>
          <p:nvPr/>
        </p:nvSpPr>
        <p:spPr>
          <a:xfrm>
            <a:off x="548640" y="3291840"/>
            <a:ext cx="2377440" cy="914400"/>
          </a:xfrm>
          <a:prstGeom prst="rect">
            <a:avLst/>
          </a:prstGeom>
          <a:noFill/>
          <a:ln/>
        </p:spPr>
        <p:txBody>
          <a:bodyPr wrap="square" lIns="0" tIns="0" rIns="0" bIns="0" rtlCol="0" anchor="t"/>
          <a:lstStyle/>
          <a:p>
            <a:pPr indent="0" marL="0">
              <a:buNone/>
            </a:pPr>
            <a:r>
              <a:rPr lang="en-US" sz="1200" i="1" dirty="0">
                <a:solidFill>
                  <a:schemeClr val="accent5"/>
                </a:solidFill>
              </a:rPr>
              <a:t>Tracing and web agents run concurrently, so a slow agent never blocks the on-chain result.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Technology stack and MVP scope</a:t>
            </a:r>
            <a:endParaRPr lang="en-US" sz="3200" dirty="0"/>
          </a:p>
        </p:txBody>
      </p:sp>
      <p:sp>
        <p:nvSpPr>
          <p:cNvPr id="3" name="stack-card0"/>
          <p:cNvSpPr/>
          <p:nvPr/>
        </p:nvSpPr>
        <p:spPr>
          <a:xfrm>
            <a:off x="548640" y="1325880"/>
            <a:ext cx="2331720" cy="1691640"/>
          </a:xfrm>
          <a:prstGeom prst="roundRect">
            <a:avLst>
              <a:gd name="adj" fmla="val 4324"/>
            </a:avLst>
          </a:prstGeom>
          <a:solidFill>
            <a:schemeClr val="bg2"/>
          </a:solidFill>
          <a:ln w="12700">
            <a:solidFill>
              <a:schemeClr val="bg2"/>
            </a:solidFill>
            <a:prstDash val="solid"/>
          </a:ln>
        </p:spPr>
      </p:sp>
      <p:sp>
        <p:nvSpPr>
          <p:cNvPr id="4" name="stack0-circle"/>
          <p:cNvSpPr/>
          <p:nvPr/>
        </p:nvSpPr>
        <p:spPr>
          <a:xfrm>
            <a:off x="777240" y="1554480"/>
            <a:ext cx="548640" cy="548640"/>
          </a:xfrm>
          <a:prstGeom prst="ellipse">
            <a:avLst/>
          </a:prstGeom>
          <a:solidFill>
            <a:schemeClr val="accent2"/>
          </a:solidFill>
          <a:ln w="12700">
            <a:solidFill>
              <a:schemeClr val="accent2"/>
            </a:solidFill>
            <a:prstDash val="solid"/>
          </a:ln>
        </p:spPr>
      </p:sp>
      <p:pic>
        <p:nvPicPr>
          <p:cNvPr id="5" name="stack0-icon" descr="preencoded.png">    </p:cNvPr>
          <p:cNvPicPr>
            <a:picLocks noChangeAspect="1"/>
          </p:cNvPicPr>
          <p:nvPr/>
        </p:nvPicPr>
        <p:blipFill>
          <a:blip r:embed="rId1"/>
          <a:stretch>
            <a:fillRect/>
          </a:stretch>
        </p:blipFill>
        <p:spPr>
          <a:xfrm>
            <a:off x="919886" y="1697126"/>
            <a:ext cx="263347" cy="263347"/>
          </a:xfrm>
          <a:prstGeom prst="rect">
            <a:avLst/>
          </a:prstGeom>
        </p:spPr>
      </p:pic>
      <p:sp>
        <p:nvSpPr>
          <p:cNvPr id="6" name="Text 3"/>
          <p:cNvSpPr txBox="1"/>
          <p:nvPr/>
        </p:nvSpPr>
        <p:spPr>
          <a:xfrm>
            <a:off x="1463040" y="1600200"/>
            <a:ext cx="1325880" cy="457200"/>
          </a:xfrm>
          <a:prstGeom prst="rect">
            <a:avLst/>
          </a:prstGeom>
          <a:noFill/>
          <a:ln/>
        </p:spPr>
        <p:txBody>
          <a:bodyPr wrap="square" lIns="0" tIns="0" rIns="0" bIns="0" rtlCol="0" anchor="ctr"/>
          <a:lstStyle/>
          <a:p>
            <a:pPr indent="0" marL="0">
              <a:buNone/>
            </a:pPr>
            <a:r>
              <a:rPr lang="en-US" sz="1500" b="1" dirty="0">
                <a:solidFill>
                  <a:schemeClr val="tx1"/>
                </a:solidFill>
              </a:rPr>
              <a:t>Backend</a:t>
            </a:r>
            <a:endParaRPr lang="en-US" sz="1500" dirty="0"/>
          </a:p>
        </p:txBody>
      </p:sp>
      <p:sp>
        <p:nvSpPr>
          <p:cNvPr id="7" name="Text 4"/>
          <p:cNvSpPr txBox="1"/>
          <p:nvPr/>
        </p:nvSpPr>
        <p:spPr>
          <a:xfrm>
            <a:off x="777240" y="2240280"/>
            <a:ext cx="1874520" cy="731520"/>
          </a:xfrm>
          <a:prstGeom prst="rect">
            <a:avLst/>
          </a:prstGeom>
          <a:noFill/>
          <a:ln/>
        </p:spPr>
        <p:txBody>
          <a:bodyPr wrap="square" lIns="0" tIns="0" rIns="0" bIns="0" rtlCol="0" anchor="t"/>
          <a:lstStyle/>
          <a:p>
            <a:pPr indent="0" marL="0">
              <a:buNone/>
            </a:pPr>
            <a:r>
              <a:rPr lang="en-US" sz="1200" dirty="0">
                <a:solidFill>
                  <a:schemeClr val="tx2"/>
                </a:solidFill>
              </a:rPr>
              <a:t>Python + FastAPI</a:t>
            </a:r>
            <a:endParaRPr lang="en-US" sz="1200" dirty="0"/>
          </a:p>
        </p:txBody>
      </p:sp>
      <p:sp>
        <p:nvSpPr>
          <p:cNvPr id="8" name="stack-card1"/>
          <p:cNvSpPr/>
          <p:nvPr/>
        </p:nvSpPr>
        <p:spPr>
          <a:xfrm>
            <a:off x="3108960" y="1325880"/>
            <a:ext cx="2331720" cy="1691640"/>
          </a:xfrm>
          <a:prstGeom prst="roundRect">
            <a:avLst>
              <a:gd name="adj" fmla="val 4324"/>
            </a:avLst>
          </a:prstGeom>
          <a:solidFill>
            <a:schemeClr val="bg2"/>
          </a:solidFill>
          <a:ln w="12700">
            <a:solidFill>
              <a:schemeClr val="bg2"/>
            </a:solidFill>
            <a:prstDash val="solid"/>
          </a:ln>
        </p:spPr>
      </p:sp>
      <p:sp>
        <p:nvSpPr>
          <p:cNvPr id="9" name="stack1-circle"/>
          <p:cNvSpPr/>
          <p:nvPr/>
        </p:nvSpPr>
        <p:spPr>
          <a:xfrm>
            <a:off x="3337560" y="1554480"/>
            <a:ext cx="548640" cy="548640"/>
          </a:xfrm>
          <a:prstGeom prst="ellipse">
            <a:avLst/>
          </a:prstGeom>
          <a:solidFill>
            <a:schemeClr val="accent2"/>
          </a:solidFill>
          <a:ln w="12700">
            <a:solidFill>
              <a:schemeClr val="accent2"/>
            </a:solidFill>
            <a:prstDash val="solid"/>
          </a:ln>
        </p:spPr>
      </p:sp>
      <p:pic>
        <p:nvPicPr>
          <p:cNvPr id="10" name="stack1-icon" descr="preencoded.png">    </p:cNvPr>
          <p:cNvPicPr>
            <a:picLocks noChangeAspect="1"/>
          </p:cNvPicPr>
          <p:nvPr/>
        </p:nvPicPr>
        <p:blipFill>
          <a:blip r:embed="rId2"/>
          <a:stretch>
            <a:fillRect/>
          </a:stretch>
        </p:blipFill>
        <p:spPr>
          <a:xfrm>
            <a:off x="3480206" y="1697126"/>
            <a:ext cx="263347" cy="263347"/>
          </a:xfrm>
          <a:prstGeom prst="rect">
            <a:avLst/>
          </a:prstGeom>
        </p:spPr>
      </p:pic>
      <p:sp>
        <p:nvSpPr>
          <p:cNvPr id="11" name="Text 7"/>
          <p:cNvSpPr txBox="1"/>
          <p:nvPr/>
        </p:nvSpPr>
        <p:spPr>
          <a:xfrm>
            <a:off x="4023360" y="1600200"/>
            <a:ext cx="1325880" cy="457200"/>
          </a:xfrm>
          <a:prstGeom prst="rect">
            <a:avLst/>
          </a:prstGeom>
          <a:noFill/>
          <a:ln/>
        </p:spPr>
        <p:txBody>
          <a:bodyPr wrap="square" lIns="0" tIns="0" rIns="0" bIns="0" rtlCol="0" anchor="ctr"/>
          <a:lstStyle/>
          <a:p>
            <a:pPr indent="0" marL="0">
              <a:buNone/>
            </a:pPr>
            <a:r>
              <a:rPr lang="en-US" sz="1500" b="1" dirty="0">
                <a:solidFill>
                  <a:schemeClr val="tx1"/>
                </a:solidFill>
              </a:rPr>
              <a:t>Async jobs</a:t>
            </a:r>
            <a:endParaRPr lang="en-US" sz="1500" dirty="0"/>
          </a:p>
        </p:txBody>
      </p:sp>
      <p:sp>
        <p:nvSpPr>
          <p:cNvPr id="12" name="Text 8"/>
          <p:cNvSpPr txBox="1"/>
          <p:nvPr/>
        </p:nvSpPr>
        <p:spPr>
          <a:xfrm>
            <a:off x="3337560" y="2240280"/>
            <a:ext cx="1874520" cy="731520"/>
          </a:xfrm>
          <a:prstGeom prst="rect">
            <a:avLst/>
          </a:prstGeom>
          <a:noFill/>
          <a:ln/>
        </p:spPr>
        <p:txBody>
          <a:bodyPr wrap="square" lIns="0" tIns="0" rIns="0" bIns="0" rtlCol="0" anchor="t"/>
          <a:lstStyle/>
          <a:p>
            <a:pPr indent="0" marL="0">
              <a:buNone/>
            </a:pPr>
            <a:r>
              <a:rPr lang="en-US" sz="1200" dirty="0">
                <a:solidFill>
                  <a:schemeClr val="tx2"/>
                </a:solidFill>
              </a:rPr>
              <a:t>Redis + worker (Celery or similar)</a:t>
            </a:r>
            <a:endParaRPr lang="en-US" sz="1200" dirty="0"/>
          </a:p>
        </p:txBody>
      </p:sp>
      <p:sp>
        <p:nvSpPr>
          <p:cNvPr id="13" name="stack-card2"/>
          <p:cNvSpPr/>
          <p:nvPr/>
        </p:nvSpPr>
        <p:spPr>
          <a:xfrm>
            <a:off x="5669280" y="1325880"/>
            <a:ext cx="2331720" cy="1691640"/>
          </a:xfrm>
          <a:prstGeom prst="roundRect">
            <a:avLst>
              <a:gd name="adj" fmla="val 4324"/>
            </a:avLst>
          </a:prstGeom>
          <a:solidFill>
            <a:schemeClr val="bg2"/>
          </a:solidFill>
          <a:ln w="12700">
            <a:solidFill>
              <a:schemeClr val="bg2"/>
            </a:solidFill>
            <a:prstDash val="solid"/>
          </a:ln>
        </p:spPr>
      </p:sp>
      <p:sp>
        <p:nvSpPr>
          <p:cNvPr id="14" name="stack2-circle"/>
          <p:cNvSpPr/>
          <p:nvPr/>
        </p:nvSpPr>
        <p:spPr>
          <a:xfrm>
            <a:off x="5897880" y="1554480"/>
            <a:ext cx="548640" cy="548640"/>
          </a:xfrm>
          <a:prstGeom prst="ellipse">
            <a:avLst/>
          </a:prstGeom>
          <a:solidFill>
            <a:schemeClr val="accent2"/>
          </a:solidFill>
          <a:ln w="12700">
            <a:solidFill>
              <a:schemeClr val="accent2"/>
            </a:solidFill>
            <a:prstDash val="solid"/>
          </a:ln>
        </p:spPr>
      </p:sp>
      <p:pic>
        <p:nvPicPr>
          <p:cNvPr id="15" name="stack2-icon" descr="preencoded.png">    </p:cNvPr>
          <p:cNvPicPr>
            <a:picLocks noChangeAspect="1"/>
          </p:cNvPicPr>
          <p:nvPr/>
        </p:nvPicPr>
        <p:blipFill>
          <a:blip r:embed="rId3"/>
          <a:stretch>
            <a:fillRect/>
          </a:stretch>
        </p:blipFill>
        <p:spPr>
          <a:xfrm>
            <a:off x="6040526" y="1697126"/>
            <a:ext cx="263347" cy="263347"/>
          </a:xfrm>
          <a:prstGeom prst="rect">
            <a:avLst/>
          </a:prstGeom>
        </p:spPr>
      </p:pic>
      <p:sp>
        <p:nvSpPr>
          <p:cNvPr id="16" name="Text 11"/>
          <p:cNvSpPr txBox="1"/>
          <p:nvPr/>
        </p:nvSpPr>
        <p:spPr>
          <a:xfrm>
            <a:off x="6583680" y="1600200"/>
            <a:ext cx="1325880" cy="457200"/>
          </a:xfrm>
          <a:prstGeom prst="rect">
            <a:avLst/>
          </a:prstGeom>
          <a:noFill/>
          <a:ln/>
        </p:spPr>
        <p:txBody>
          <a:bodyPr wrap="square" lIns="0" tIns="0" rIns="0" bIns="0" rtlCol="0" anchor="ctr"/>
          <a:lstStyle/>
          <a:p>
            <a:pPr indent="0" marL="0">
              <a:buNone/>
            </a:pPr>
            <a:r>
              <a:rPr lang="en-US" sz="1500" b="1" dirty="0">
                <a:solidFill>
                  <a:schemeClr val="tx1"/>
                </a:solidFill>
              </a:rPr>
              <a:t>Data</a:t>
            </a:r>
            <a:endParaRPr lang="en-US" sz="1500" dirty="0"/>
          </a:p>
        </p:txBody>
      </p:sp>
      <p:sp>
        <p:nvSpPr>
          <p:cNvPr id="17" name="Text 12"/>
          <p:cNvSpPr txBox="1"/>
          <p:nvPr/>
        </p:nvSpPr>
        <p:spPr>
          <a:xfrm>
            <a:off x="5897880" y="2240280"/>
            <a:ext cx="1874520" cy="731520"/>
          </a:xfrm>
          <a:prstGeom prst="rect">
            <a:avLst/>
          </a:prstGeom>
          <a:noFill/>
          <a:ln/>
        </p:spPr>
        <p:txBody>
          <a:bodyPr wrap="square" lIns="0" tIns="0" rIns="0" bIns="0" rtlCol="0" anchor="t"/>
          <a:lstStyle/>
          <a:p>
            <a:pPr indent="0" marL="0">
              <a:buNone/>
            </a:pPr>
            <a:r>
              <a:rPr lang="en-US" sz="1200" dirty="0">
                <a:solidFill>
                  <a:schemeClr val="tx2"/>
                </a:solidFill>
              </a:rPr>
              <a:t>PostgreSQL for cases and results; NetworkX for the transaction graph</a:t>
            </a:r>
            <a:endParaRPr lang="en-US" sz="1200" dirty="0"/>
          </a:p>
        </p:txBody>
      </p:sp>
      <p:sp>
        <p:nvSpPr>
          <p:cNvPr id="18" name="stack-card3"/>
          <p:cNvSpPr/>
          <p:nvPr/>
        </p:nvSpPr>
        <p:spPr>
          <a:xfrm>
            <a:off x="548640" y="3200400"/>
            <a:ext cx="2331720" cy="1691640"/>
          </a:xfrm>
          <a:prstGeom prst="roundRect">
            <a:avLst>
              <a:gd name="adj" fmla="val 4324"/>
            </a:avLst>
          </a:prstGeom>
          <a:solidFill>
            <a:schemeClr val="bg2"/>
          </a:solidFill>
          <a:ln w="12700">
            <a:solidFill>
              <a:schemeClr val="bg2"/>
            </a:solidFill>
            <a:prstDash val="solid"/>
          </a:ln>
        </p:spPr>
      </p:sp>
      <p:sp>
        <p:nvSpPr>
          <p:cNvPr id="19" name="stack3-circle"/>
          <p:cNvSpPr/>
          <p:nvPr/>
        </p:nvSpPr>
        <p:spPr>
          <a:xfrm>
            <a:off x="777240" y="3429000"/>
            <a:ext cx="548640" cy="548640"/>
          </a:xfrm>
          <a:prstGeom prst="ellipse">
            <a:avLst/>
          </a:prstGeom>
          <a:solidFill>
            <a:schemeClr val="accent2"/>
          </a:solidFill>
          <a:ln w="12700">
            <a:solidFill>
              <a:schemeClr val="accent2"/>
            </a:solidFill>
            <a:prstDash val="solid"/>
          </a:ln>
        </p:spPr>
      </p:sp>
      <p:pic>
        <p:nvPicPr>
          <p:cNvPr id="20" name="stack3-icon" descr="preencoded.png">    </p:cNvPr>
          <p:cNvPicPr>
            <a:picLocks noChangeAspect="1"/>
          </p:cNvPicPr>
          <p:nvPr/>
        </p:nvPicPr>
        <p:blipFill>
          <a:blip r:embed="rId4"/>
          <a:stretch>
            <a:fillRect/>
          </a:stretch>
        </p:blipFill>
        <p:spPr>
          <a:xfrm>
            <a:off x="919886" y="3571646"/>
            <a:ext cx="263347" cy="263347"/>
          </a:xfrm>
          <a:prstGeom prst="rect">
            <a:avLst/>
          </a:prstGeom>
        </p:spPr>
      </p:pic>
      <p:sp>
        <p:nvSpPr>
          <p:cNvPr id="21" name="Text 15"/>
          <p:cNvSpPr txBox="1"/>
          <p:nvPr/>
        </p:nvSpPr>
        <p:spPr>
          <a:xfrm>
            <a:off x="1463040" y="3474720"/>
            <a:ext cx="1325880" cy="457200"/>
          </a:xfrm>
          <a:prstGeom prst="rect">
            <a:avLst/>
          </a:prstGeom>
          <a:noFill/>
          <a:ln/>
        </p:spPr>
        <p:txBody>
          <a:bodyPr wrap="square" lIns="0" tIns="0" rIns="0" bIns="0" rtlCol="0" anchor="ctr"/>
          <a:lstStyle/>
          <a:p>
            <a:pPr indent="0" marL="0">
              <a:buNone/>
            </a:pPr>
            <a:r>
              <a:rPr lang="en-US" sz="1500" b="1" dirty="0">
                <a:solidFill>
                  <a:schemeClr val="tx1"/>
                </a:solidFill>
              </a:rPr>
              <a:t>Frontend</a:t>
            </a:r>
            <a:endParaRPr lang="en-US" sz="1500" dirty="0"/>
          </a:p>
        </p:txBody>
      </p:sp>
      <p:sp>
        <p:nvSpPr>
          <p:cNvPr id="22" name="Text 16"/>
          <p:cNvSpPr txBox="1"/>
          <p:nvPr/>
        </p:nvSpPr>
        <p:spPr>
          <a:xfrm>
            <a:off x="777240" y="4114800"/>
            <a:ext cx="1874520" cy="731520"/>
          </a:xfrm>
          <a:prstGeom prst="rect">
            <a:avLst/>
          </a:prstGeom>
          <a:noFill/>
          <a:ln/>
        </p:spPr>
        <p:txBody>
          <a:bodyPr wrap="square" lIns="0" tIns="0" rIns="0" bIns="0" rtlCol="0" anchor="t"/>
          <a:lstStyle/>
          <a:p>
            <a:pPr indent="0" marL="0">
              <a:buNone/>
            </a:pPr>
            <a:r>
              <a:rPr lang="en-US" sz="1200" dirty="0">
                <a:solidFill>
                  <a:schemeClr val="tx2"/>
                </a:solidFill>
              </a:rPr>
              <a:t>React with a graph visualisation library for fund flow</a:t>
            </a:r>
            <a:endParaRPr lang="en-US" sz="1200" dirty="0"/>
          </a:p>
        </p:txBody>
      </p:sp>
      <p:sp>
        <p:nvSpPr>
          <p:cNvPr id="23" name="stack-card4"/>
          <p:cNvSpPr/>
          <p:nvPr/>
        </p:nvSpPr>
        <p:spPr>
          <a:xfrm>
            <a:off x="3108960" y="3200400"/>
            <a:ext cx="2331720" cy="1691640"/>
          </a:xfrm>
          <a:prstGeom prst="roundRect">
            <a:avLst>
              <a:gd name="adj" fmla="val 4324"/>
            </a:avLst>
          </a:prstGeom>
          <a:solidFill>
            <a:schemeClr val="bg2"/>
          </a:solidFill>
          <a:ln w="12700">
            <a:solidFill>
              <a:schemeClr val="bg2"/>
            </a:solidFill>
            <a:prstDash val="solid"/>
          </a:ln>
        </p:spPr>
      </p:sp>
      <p:sp>
        <p:nvSpPr>
          <p:cNvPr id="24" name="stack4-circle"/>
          <p:cNvSpPr/>
          <p:nvPr/>
        </p:nvSpPr>
        <p:spPr>
          <a:xfrm>
            <a:off x="3337560" y="3429000"/>
            <a:ext cx="548640" cy="548640"/>
          </a:xfrm>
          <a:prstGeom prst="ellipse">
            <a:avLst/>
          </a:prstGeom>
          <a:solidFill>
            <a:schemeClr val="accent2"/>
          </a:solidFill>
          <a:ln w="12700">
            <a:solidFill>
              <a:schemeClr val="accent2"/>
            </a:solidFill>
            <a:prstDash val="solid"/>
          </a:ln>
        </p:spPr>
      </p:sp>
      <p:pic>
        <p:nvPicPr>
          <p:cNvPr id="25" name="stack4-icon" descr="preencoded.png">    </p:cNvPr>
          <p:cNvPicPr>
            <a:picLocks noChangeAspect="1"/>
          </p:cNvPicPr>
          <p:nvPr/>
        </p:nvPicPr>
        <p:blipFill>
          <a:blip r:embed="rId5"/>
          <a:stretch>
            <a:fillRect/>
          </a:stretch>
        </p:blipFill>
        <p:spPr>
          <a:xfrm>
            <a:off x="3480206" y="3571646"/>
            <a:ext cx="263347" cy="263347"/>
          </a:xfrm>
          <a:prstGeom prst="rect">
            <a:avLst/>
          </a:prstGeom>
        </p:spPr>
      </p:pic>
      <p:sp>
        <p:nvSpPr>
          <p:cNvPr id="26" name="Text 19"/>
          <p:cNvSpPr txBox="1"/>
          <p:nvPr/>
        </p:nvSpPr>
        <p:spPr>
          <a:xfrm>
            <a:off x="4023360" y="3474720"/>
            <a:ext cx="1325880" cy="457200"/>
          </a:xfrm>
          <a:prstGeom prst="rect">
            <a:avLst/>
          </a:prstGeom>
          <a:noFill/>
          <a:ln/>
        </p:spPr>
        <p:txBody>
          <a:bodyPr wrap="square" lIns="0" tIns="0" rIns="0" bIns="0" rtlCol="0" anchor="ctr"/>
          <a:lstStyle/>
          <a:p>
            <a:pPr indent="0" marL="0">
              <a:buNone/>
            </a:pPr>
            <a:r>
              <a:rPr lang="en-US" sz="1500" b="1" dirty="0">
                <a:solidFill>
                  <a:schemeClr val="tx1"/>
                </a:solidFill>
              </a:rPr>
              <a:t>Reports</a:t>
            </a:r>
            <a:endParaRPr lang="en-US" sz="1500" dirty="0"/>
          </a:p>
        </p:txBody>
      </p:sp>
      <p:sp>
        <p:nvSpPr>
          <p:cNvPr id="27" name="Text 20"/>
          <p:cNvSpPr txBox="1"/>
          <p:nvPr/>
        </p:nvSpPr>
        <p:spPr>
          <a:xfrm>
            <a:off x="3337560" y="4114800"/>
            <a:ext cx="1874520" cy="731520"/>
          </a:xfrm>
          <a:prstGeom prst="rect">
            <a:avLst/>
          </a:prstGeom>
          <a:noFill/>
          <a:ln/>
        </p:spPr>
        <p:txBody>
          <a:bodyPr wrap="square" lIns="0" tIns="0" rIns="0" bIns="0" rtlCol="0" anchor="t"/>
          <a:lstStyle/>
          <a:p>
            <a:pPr indent="0" marL="0">
              <a:buNone/>
            </a:pPr>
            <a:r>
              <a:rPr lang="en-US" sz="1200" dirty="0">
                <a:solidFill>
                  <a:schemeClr val="tx2"/>
                </a:solidFill>
              </a:rPr>
              <a:t>PDF generation from case data, plus JSON</a:t>
            </a:r>
            <a:endParaRPr lang="en-US" sz="1200" dirty="0"/>
          </a:p>
        </p:txBody>
      </p:sp>
      <p:sp>
        <p:nvSpPr>
          <p:cNvPr id="28" name="stack-card5"/>
          <p:cNvSpPr/>
          <p:nvPr/>
        </p:nvSpPr>
        <p:spPr>
          <a:xfrm>
            <a:off x="5669280" y="3200400"/>
            <a:ext cx="2331720" cy="1691640"/>
          </a:xfrm>
          <a:prstGeom prst="roundRect">
            <a:avLst>
              <a:gd name="adj" fmla="val 4324"/>
            </a:avLst>
          </a:prstGeom>
          <a:solidFill>
            <a:schemeClr val="bg2"/>
          </a:solidFill>
          <a:ln w="12700">
            <a:solidFill>
              <a:schemeClr val="bg2"/>
            </a:solidFill>
            <a:prstDash val="solid"/>
          </a:ln>
        </p:spPr>
      </p:sp>
      <p:sp>
        <p:nvSpPr>
          <p:cNvPr id="29" name="stack5-circle"/>
          <p:cNvSpPr/>
          <p:nvPr/>
        </p:nvSpPr>
        <p:spPr>
          <a:xfrm>
            <a:off x="5897880" y="3429000"/>
            <a:ext cx="548640" cy="548640"/>
          </a:xfrm>
          <a:prstGeom prst="ellipse">
            <a:avLst/>
          </a:prstGeom>
          <a:solidFill>
            <a:schemeClr val="accent2"/>
          </a:solidFill>
          <a:ln w="12700">
            <a:solidFill>
              <a:schemeClr val="accent2"/>
            </a:solidFill>
            <a:prstDash val="solid"/>
          </a:ln>
        </p:spPr>
      </p:sp>
      <p:pic>
        <p:nvPicPr>
          <p:cNvPr id="30" name="stack5-icon" descr="preencoded.png">    </p:cNvPr>
          <p:cNvPicPr>
            <a:picLocks noChangeAspect="1"/>
          </p:cNvPicPr>
          <p:nvPr/>
        </p:nvPicPr>
        <p:blipFill>
          <a:blip r:embed="rId6"/>
          <a:stretch>
            <a:fillRect/>
          </a:stretch>
        </p:blipFill>
        <p:spPr>
          <a:xfrm>
            <a:off x="6040526" y="3571646"/>
            <a:ext cx="263347" cy="263347"/>
          </a:xfrm>
          <a:prstGeom prst="rect">
            <a:avLst/>
          </a:prstGeom>
        </p:spPr>
      </p:pic>
      <p:sp>
        <p:nvSpPr>
          <p:cNvPr id="31" name="Text 23"/>
          <p:cNvSpPr txBox="1"/>
          <p:nvPr/>
        </p:nvSpPr>
        <p:spPr>
          <a:xfrm>
            <a:off x="6583680" y="3474720"/>
            <a:ext cx="1325880" cy="457200"/>
          </a:xfrm>
          <a:prstGeom prst="rect">
            <a:avLst/>
          </a:prstGeom>
          <a:noFill/>
          <a:ln/>
        </p:spPr>
        <p:txBody>
          <a:bodyPr wrap="square" lIns="0" tIns="0" rIns="0" bIns="0" rtlCol="0" anchor="ctr"/>
          <a:lstStyle/>
          <a:p>
            <a:pPr indent="0" marL="0">
              <a:buNone/>
            </a:pPr>
            <a:r>
              <a:rPr lang="en-US" sz="1500" b="1" dirty="0">
                <a:solidFill>
                  <a:schemeClr val="tx1"/>
                </a:solidFill>
              </a:rPr>
              <a:t>Web intelligence</a:t>
            </a:r>
            <a:endParaRPr lang="en-US" sz="1500" dirty="0"/>
          </a:p>
        </p:txBody>
      </p:sp>
      <p:sp>
        <p:nvSpPr>
          <p:cNvPr id="32" name="Text 24"/>
          <p:cNvSpPr txBox="1"/>
          <p:nvPr/>
        </p:nvSpPr>
        <p:spPr>
          <a:xfrm>
            <a:off x="5897880" y="4114800"/>
            <a:ext cx="1874520" cy="731520"/>
          </a:xfrm>
          <a:prstGeom prst="rect">
            <a:avLst/>
          </a:prstGeom>
          <a:noFill/>
          <a:ln/>
        </p:spPr>
        <p:txBody>
          <a:bodyPr wrap="square" lIns="0" tIns="0" rIns="0" bIns="0" rtlCol="0" anchor="t"/>
          <a:lstStyle/>
          <a:p>
            <a:pPr indent="0" marL="0">
              <a:buNone/>
            </a:pPr>
            <a:r>
              <a:rPr lang="en-US" sz="1200" dirty="0">
                <a:solidFill>
                  <a:schemeClr val="tx2"/>
                </a:solidFill>
              </a:rPr>
              <a:t>TinyFish Search, Fetch, Web Agent, Browser (one API key)</a:t>
            </a:r>
            <a:endParaRPr lang="en-US" sz="1200" dirty="0"/>
          </a:p>
        </p:txBody>
      </p:sp>
      <p:sp>
        <p:nvSpPr>
          <p:cNvPr id="33" name="scope-card"/>
          <p:cNvSpPr/>
          <p:nvPr/>
        </p:nvSpPr>
        <p:spPr>
          <a:xfrm>
            <a:off x="8229600" y="1325880"/>
            <a:ext cx="3413455" cy="3611880"/>
          </a:xfrm>
          <a:prstGeom prst="roundRect">
            <a:avLst>
              <a:gd name="adj" fmla="val 2143"/>
            </a:avLst>
          </a:prstGeom>
          <a:solidFill>
            <a:schemeClr val="tx1"/>
          </a:solidFill>
          <a:ln w="12700">
            <a:solidFill>
              <a:schemeClr val="tx1"/>
            </a:solidFill>
            <a:prstDash val="solid"/>
          </a:ln>
        </p:spPr>
      </p:sp>
      <p:sp>
        <p:nvSpPr>
          <p:cNvPr id="34" name="Text 26"/>
          <p:cNvSpPr txBox="1"/>
          <p:nvPr/>
        </p:nvSpPr>
        <p:spPr>
          <a:xfrm>
            <a:off x="8503920" y="1508760"/>
            <a:ext cx="2743200" cy="365760"/>
          </a:xfrm>
          <a:prstGeom prst="rect">
            <a:avLst/>
          </a:prstGeom>
          <a:noFill/>
          <a:ln/>
        </p:spPr>
        <p:txBody>
          <a:bodyPr wrap="square" lIns="0" tIns="0" rIns="0" bIns="0" rtlCol="0" anchor="t"/>
          <a:lstStyle/>
          <a:p>
            <a:pPr indent="0" marL="0">
              <a:buNone/>
            </a:pPr>
            <a:r>
              <a:rPr lang="en-US" sz="1800" b="1" dirty="0">
                <a:solidFill>
                  <a:schemeClr val="accent1"/>
                </a:solidFill>
              </a:rPr>
              <a:t>MVP scope</a:t>
            </a:r>
            <a:endParaRPr lang="en-US" sz="1800" dirty="0"/>
          </a:p>
        </p:txBody>
      </p:sp>
      <p:sp>
        <p:nvSpPr>
          <p:cNvPr id="35" name="Text 27"/>
          <p:cNvSpPr txBox="1"/>
          <p:nvPr/>
        </p:nvSpPr>
        <p:spPr>
          <a:xfrm>
            <a:off x="8503920" y="1965960"/>
            <a:ext cx="2864815"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Ethereum and Tron only</a:t>
            </a:r>
            <a:endParaRPr lang="en-US" sz="1400" dirty="0"/>
          </a:p>
          <a:p>
            <a:pPr marL="177800" indent="-177800">
              <a:spcAft>
                <a:spcPts val="600"/>
              </a:spcAft>
              <a:buSzPct val="100000"/>
              <a:buChar char="•"/>
            </a:pPr>
            <a:r>
              <a:rPr lang="en-US" sz="1400" dirty="0">
                <a:solidFill>
                  <a:schemeClr val="bg1"/>
                </a:solidFill>
              </a:rPr>
              <a:t>Single-wallet tracing</a:t>
            </a:r>
            <a:endParaRPr lang="en-US" sz="1400" dirty="0"/>
          </a:p>
          <a:p>
            <a:pPr marL="177800" indent="-177800">
              <a:spcAft>
                <a:spcPts val="600"/>
              </a:spcAft>
              <a:buSzPct val="100000"/>
              <a:buChar char="•"/>
            </a:pPr>
            <a:r>
              <a:rPr lang="en-US" sz="1400" dirty="0">
                <a:solidFill>
                  <a:schemeClr val="bg1"/>
                </a:solidFill>
              </a:rPr>
              <a:t>Direct exchange identification</a:t>
            </a:r>
            <a:endParaRPr lang="en-US" sz="1400" dirty="0"/>
          </a:p>
          <a:p>
            <a:pPr marL="177800" indent="-177800">
              <a:spcAft>
                <a:spcPts val="600"/>
              </a:spcAft>
              <a:buSzPct val="100000"/>
              <a:buChar char="•"/>
            </a:pPr>
            <a:r>
              <a:rPr lang="en-US" sz="1400" dirty="0">
                <a:solidFill>
                  <a:schemeClr val="bg1"/>
                </a:solidFill>
              </a:rPr>
              <a:t>Exchange contact discovery</a:t>
            </a:r>
            <a:endParaRPr lang="en-US" sz="1400" dirty="0"/>
          </a:p>
          <a:p>
            <a:pPr marL="177800" indent="-177800">
              <a:spcAft>
                <a:spcPts val="600"/>
              </a:spcAft>
              <a:buSzPct val="100000"/>
              <a:buChar char="•"/>
            </a:pPr>
            <a:r>
              <a:rPr lang="en-US" sz="1400" dirty="0">
                <a:solidFill>
                  <a:schemeClr val="bg1"/>
                </a:solidFill>
              </a:rPr>
              <a:t>Everything else is roadmap</a:t>
            </a:r>
            <a:endParaRPr lang="en-US" sz="1400" dirty="0"/>
          </a:p>
        </p:txBody>
      </p:sp>
      <p:sp>
        <p:nvSpPr>
          <p:cNvPr id="36" name="Text 28"/>
          <p:cNvSpPr txBox="1"/>
          <p:nvPr/>
        </p:nvSpPr>
        <p:spPr>
          <a:xfrm>
            <a:off x="8503920" y="4023360"/>
            <a:ext cx="2864815" cy="731520"/>
          </a:xfrm>
          <a:prstGeom prst="rect">
            <a:avLst/>
          </a:prstGeom>
          <a:noFill/>
          <a:ln/>
        </p:spPr>
        <p:txBody>
          <a:bodyPr wrap="square" lIns="0" tIns="0" rIns="0" bIns="0" rtlCol="0" anchor="t"/>
          <a:lstStyle/>
          <a:p>
            <a:pPr indent="0" marL="0">
              <a:buNone/>
            </a:pPr>
            <a:r>
              <a:rPr lang="en-US" sz="1200" i="1" dirty="0">
                <a:solidFill>
                  <a:schemeClr val="bg2"/>
                </a:solidFill>
              </a:rPr>
              <a:t>Why Tron: USDT on Tron is heavily used in Indian scam flows.</a:t>
            </a:r>
            <a:endParaRPr lang="en-US" sz="1200" dirty="0"/>
          </a:p>
        </p:txBody>
      </p:sp>
      <p:sp>
        <p:nvSpPr>
          <p:cNvPr id="37" name="Text 29"/>
          <p:cNvSpPr txBox="1"/>
          <p:nvPr/>
        </p:nvSpPr>
        <p:spPr>
          <a:xfrm>
            <a:off x="548640" y="5166360"/>
            <a:ext cx="11094415" cy="731520"/>
          </a:xfrm>
          <a:prstGeom prst="rect">
            <a:avLst/>
          </a:prstGeom>
          <a:noFill/>
          <a:ln/>
        </p:spPr>
        <p:txBody>
          <a:bodyPr wrap="square" lIns="0" tIns="0" rIns="0" bIns="0" rtlCol="0" anchor="t"/>
          <a:lstStyle/>
          <a:p>
            <a:pPr indent="0" marL="0">
              <a:buNone/>
            </a:pPr>
            <a:r>
              <a:rPr lang="en-US" sz="1200" dirty="0">
                <a:solidFill>
                  <a:schemeClr val="tx2"/>
                </a:solidFill>
              </a:rPr>
              <a:t>Blockchain data: Etherscan-style explorer APIs or Alchemy / Infura (Ethereum), TronGrid / Tronscan (Tron), Bitcoin explorers later. Free-tier limits and terms to be verified. Public exchange-label datasets are limited, and we say so.</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How we integrate the TinyFish API</a:t>
            </a:r>
            <a:endParaRPr lang="en-US" sz="3200" dirty="0"/>
          </a:p>
        </p:txBody>
      </p:sp>
      <p:sp>
        <p:nvSpPr>
          <p:cNvPr id="3" name="Text 1"/>
          <p:cNvSpPr txBox="1"/>
          <p:nvPr/>
        </p:nvSpPr>
        <p:spPr>
          <a:xfrm>
            <a:off x="1371600" y="1280160"/>
            <a:ext cx="1828800" cy="274320"/>
          </a:xfrm>
          <a:prstGeom prst="rect">
            <a:avLst/>
          </a:prstGeom>
          <a:noFill/>
          <a:ln/>
        </p:spPr>
        <p:txBody>
          <a:bodyPr wrap="square" lIns="0" tIns="0" rIns="0" bIns="0" rtlCol="0" anchor="t"/>
          <a:lstStyle/>
          <a:p>
            <a:pPr indent="0" marL="0">
              <a:buNone/>
            </a:pPr>
            <a:r>
              <a:rPr lang="en-US" sz="1100" b="1" dirty="0">
                <a:solidFill>
                  <a:schemeClr val="accent5"/>
                </a:solidFill>
              </a:rPr>
              <a:t>TINYFISH PIECE</a:t>
            </a:r>
            <a:endParaRPr lang="en-US" sz="1100" dirty="0"/>
          </a:p>
        </p:txBody>
      </p:sp>
      <p:sp>
        <p:nvSpPr>
          <p:cNvPr id="4" name="Text 2"/>
          <p:cNvSpPr txBox="1"/>
          <p:nvPr/>
        </p:nvSpPr>
        <p:spPr>
          <a:xfrm>
            <a:off x="3337560" y="1280160"/>
            <a:ext cx="2743200" cy="274320"/>
          </a:xfrm>
          <a:prstGeom prst="rect">
            <a:avLst/>
          </a:prstGeom>
          <a:noFill/>
          <a:ln/>
        </p:spPr>
        <p:txBody>
          <a:bodyPr wrap="square" lIns="0" tIns="0" rIns="0" bIns="0" rtlCol="0" anchor="t"/>
          <a:lstStyle/>
          <a:p>
            <a:pPr indent="0" marL="0">
              <a:buNone/>
            </a:pPr>
            <a:r>
              <a:rPr lang="en-US" sz="1100" b="1" dirty="0">
                <a:solidFill>
                  <a:schemeClr val="accent5"/>
                </a:solidFill>
              </a:rPr>
              <a:t>WHAT IT DOES</a:t>
            </a:r>
            <a:endParaRPr lang="en-US" sz="1100" dirty="0"/>
          </a:p>
        </p:txBody>
      </p:sp>
      <p:sp>
        <p:nvSpPr>
          <p:cNvPr id="5" name="Text 3"/>
          <p:cNvSpPr txBox="1"/>
          <p:nvPr/>
        </p:nvSpPr>
        <p:spPr>
          <a:xfrm>
            <a:off x="6263640" y="1280160"/>
            <a:ext cx="3657600" cy="274320"/>
          </a:xfrm>
          <a:prstGeom prst="rect">
            <a:avLst/>
          </a:prstGeom>
          <a:noFill/>
          <a:ln/>
        </p:spPr>
        <p:txBody>
          <a:bodyPr wrap="square" lIns="0" tIns="0" rIns="0" bIns="0" rtlCol="0" anchor="t"/>
          <a:lstStyle/>
          <a:p>
            <a:pPr indent="0" marL="0">
              <a:buNone/>
            </a:pPr>
            <a:r>
              <a:rPr lang="en-US" sz="1100" b="1" dirty="0">
                <a:solidFill>
                  <a:schemeClr val="accent5"/>
                </a:solidFill>
              </a:rPr>
              <a:t>WHERE CHAINSIGHT USES IT</a:t>
            </a:r>
            <a:endParaRPr lang="en-US" sz="1100" dirty="0"/>
          </a:p>
        </p:txBody>
      </p:sp>
      <p:sp>
        <p:nvSpPr>
          <p:cNvPr id="6" name="tf-row0"/>
          <p:cNvSpPr/>
          <p:nvPr/>
        </p:nvSpPr>
        <p:spPr>
          <a:xfrm>
            <a:off x="548640" y="1645920"/>
            <a:ext cx="11094415" cy="804672"/>
          </a:xfrm>
          <a:prstGeom prst="roundRect">
            <a:avLst>
              <a:gd name="adj" fmla="val 9091"/>
            </a:avLst>
          </a:prstGeom>
          <a:solidFill>
            <a:schemeClr val="bg2"/>
          </a:solidFill>
          <a:ln w="12700">
            <a:solidFill>
              <a:schemeClr val="bg2"/>
            </a:solidFill>
            <a:prstDash val="solid"/>
          </a:ln>
        </p:spPr>
      </p:sp>
      <p:sp>
        <p:nvSpPr>
          <p:cNvPr id="7" name="tf0-circle"/>
          <p:cNvSpPr/>
          <p:nvPr/>
        </p:nvSpPr>
        <p:spPr>
          <a:xfrm>
            <a:off x="685800" y="1773936"/>
            <a:ext cx="548640" cy="548640"/>
          </a:xfrm>
          <a:prstGeom prst="ellipse">
            <a:avLst/>
          </a:prstGeom>
          <a:solidFill>
            <a:schemeClr val="accent2"/>
          </a:solidFill>
          <a:ln w="12700">
            <a:solidFill>
              <a:schemeClr val="accent2"/>
            </a:solidFill>
            <a:prstDash val="solid"/>
          </a:ln>
        </p:spPr>
      </p:sp>
      <p:pic>
        <p:nvPicPr>
          <p:cNvPr id="8" name="tf0-icon" descr="preencoded.png">    </p:cNvPr>
          <p:cNvPicPr>
            <a:picLocks noChangeAspect="1"/>
          </p:cNvPicPr>
          <p:nvPr/>
        </p:nvPicPr>
        <p:blipFill>
          <a:blip r:embed="rId1"/>
          <a:stretch>
            <a:fillRect/>
          </a:stretch>
        </p:blipFill>
        <p:spPr>
          <a:xfrm>
            <a:off x="828446" y="1916582"/>
            <a:ext cx="263347" cy="263347"/>
          </a:xfrm>
          <a:prstGeom prst="rect">
            <a:avLst/>
          </a:prstGeom>
        </p:spPr>
      </p:pic>
      <p:sp>
        <p:nvSpPr>
          <p:cNvPr id="9" name="Text 6"/>
          <p:cNvSpPr txBox="1"/>
          <p:nvPr/>
        </p:nvSpPr>
        <p:spPr>
          <a:xfrm>
            <a:off x="1371600" y="1645920"/>
            <a:ext cx="1737360" cy="804672"/>
          </a:xfrm>
          <a:prstGeom prst="rect">
            <a:avLst/>
          </a:prstGeom>
          <a:noFill/>
          <a:ln/>
        </p:spPr>
        <p:txBody>
          <a:bodyPr wrap="square" lIns="0" tIns="0" rIns="0" bIns="0" rtlCol="0" anchor="ctr"/>
          <a:lstStyle/>
          <a:p>
            <a:pPr indent="0" marL="0">
              <a:buNone/>
            </a:pPr>
            <a:r>
              <a:rPr lang="en-US" sz="1700" b="1" dirty="0">
                <a:solidFill>
                  <a:schemeClr val="tx1"/>
                </a:solidFill>
              </a:rPr>
              <a:t>Search</a:t>
            </a:r>
            <a:endParaRPr lang="en-US" sz="1700" dirty="0"/>
          </a:p>
        </p:txBody>
      </p:sp>
      <p:sp>
        <p:nvSpPr>
          <p:cNvPr id="10" name="Text 7"/>
          <p:cNvSpPr txBox="1"/>
          <p:nvPr/>
        </p:nvSpPr>
        <p:spPr>
          <a:xfrm>
            <a:off x="3337560" y="1645920"/>
            <a:ext cx="2743200" cy="804672"/>
          </a:xfrm>
          <a:prstGeom prst="rect">
            <a:avLst/>
          </a:prstGeom>
          <a:noFill/>
          <a:ln/>
        </p:spPr>
        <p:txBody>
          <a:bodyPr wrap="square" lIns="0" tIns="0" rIns="0" bIns="0" rtlCol="0" anchor="ctr"/>
          <a:lstStyle/>
          <a:p>
            <a:pPr indent="0" marL="0">
              <a:buNone/>
            </a:pPr>
            <a:r>
              <a:rPr lang="en-US" sz="1300" dirty="0">
                <a:solidFill>
                  <a:schemeClr val="tx2"/>
                </a:solidFill>
              </a:rPr>
              <a:t>Structured live web results</a:t>
            </a:r>
            <a:endParaRPr lang="en-US" sz="1300" dirty="0"/>
          </a:p>
        </p:txBody>
      </p:sp>
      <p:sp>
        <p:nvSpPr>
          <p:cNvPr id="11" name="Text 8"/>
          <p:cNvSpPr txBox="1"/>
          <p:nvPr/>
        </p:nvSpPr>
        <p:spPr>
          <a:xfrm>
            <a:off x="6263640" y="1645920"/>
            <a:ext cx="5212080" cy="804672"/>
          </a:xfrm>
          <a:prstGeom prst="rect">
            <a:avLst/>
          </a:prstGeom>
          <a:noFill/>
          <a:ln/>
        </p:spPr>
        <p:txBody>
          <a:bodyPr wrap="square" lIns="0" tIns="0" rIns="0" bIns="0" rtlCol="0" anchor="ctr"/>
          <a:lstStyle/>
          <a:p>
            <a:pPr indent="0" marL="0">
              <a:buNone/>
            </a:pPr>
            <a:r>
              <a:rPr lang="en-US" sz="1300" dirty="0">
                <a:solidFill>
                  <a:schemeClr val="tx1"/>
                </a:solidFill>
              </a:rPr>
              <a:t>Find mentions of the wallet on scam-report sites, forums and social pages</a:t>
            </a:r>
            <a:endParaRPr lang="en-US" sz="1300" dirty="0"/>
          </a:p>
        </p:txBody>
      </p:sp>
      <p:sp>
        <p:nvSpPr>
          <p:cNvPr id="12" name="tf-row1"/>
          <p:cNvSpPr/>
          <p:nvPr/>
        </p:nvSpPr>
        <p:spPr>
          <a:xfrm>
            <a:off x="548640" y="2578608"/>
            <a:ext cx="11094415" cy="804672"/>
          </a:xfrm>
          <a:prstGeom prst="roundRect">
            <a:avLst>
              <a:gd name="adj" fmla="val 9091"/>
            </a:avLst>
          </a:prstGeom>
          <a:solidFill>
            <a:schemeClr val="bg2"/>
          </a:solidFill>
          <a:ln w="12700">
            <a:solidFill>
              <a:schemeClr val="bg2"/>
            </a:solidFill>
            <a:prstDash val="solid"/>
          </a:ln>
        </p:spPr>
      </p:sp>
      <p:sp>
        <p:nvSpPr>
          <p:cNvPr id="13" name="tf1-circle"/>
          <p:cNvSpPr/>
          <p:nvPr/>
        </p:nvSpPr>
        <p:spPr>
          <a:xfrm>
            <a:off x="685800" y="2706624"/>
            <a:ext cx="548640" cy="548640"/>
          </a:xfrm>
          <a:prstGeom prst="ellipse">
            <a:avLst/>
          </a:prstGeom>
          <a:solidFill>
            <a:schemeClr val="accent2"/>
          </a:solidFill>
          <a:ln w="12700">
            <a:solidFill>
              <a:schemeClr val="accent2"/>
            </a:solidFill>
            <a:prstDash val="solid"/>
          </a:ln>
        </p:spPr>
      </p:sp>
      <p:pic>
        <p:nvPicPr>
          <p:cNvPr id="14" name="tf1-icon" descr="preencoded.png">    </p:cNvPr>
          <p:cNvPicPr>
            <a:picLocks noChangeAspect="1"/>
          </p:cNvPicPr>
          <p:nvPr/>
        </p:nvPicPr>
        <p:blipFill>
          <a:blip r:embed="rId2"/>
          <a:stretch>
            <a:fillRect/>
          </a:stretch>
        </p:blipFill>
        <p:spPr>
          <a:xfrm>
            <a:off x="828446" y="2849270"/>
            <a:ext cx="263347" cy="263347"/>
          </a:xfrm>
          <a:prstGeom prst="rect">
            <a:avLst/>
          </a:prstGeom>
        </p:spPr>
      </p:pic>
      <p:sp>
        <p:nvSpPr>
          <p:cNvPr id="15" name="Text 11"/>
          <p:cNvSpPr txBox="1"/>
          <p:nvPr/>
        </p:nvSpPr>
        <p:spPr>
          <a:xfrm>
            <a:off x="1371600" y="2578608"/>
            <a:ext cx="1737360" cy="804672"/>
          </a:xfrm>
          <a:prstGeom prst="rect">
            <a:avLst/>
          </a:prstGeom>
          <a:noFill/>
          <a:ln/>
        </p:spPr>
        <p:txBody>
          <a:bodyPr wrap="square" lIns="0" tIns="0" rIns="0" bIns="0" rtlCol="0" anchor="ctr"/>
          <a:lstStyle/>
          <a:p>
            <a:pPr indent="0" marL="0">
              <a:buNone/>
            </a:pPr>
            <a:r>
              <a:rPr lang="en-US" sz="1700" b="1" dirty="0">
                <a:solidFill>
                  <a:schemeClr val="tx1"/>
                </a:solidFill>
              </a:rPr>
              <a:t>Fetch</a:t>
            </a:r>
            <a:endParaRPr lang="en-US" sz="1700" dirty="0"/>
          </a:p>
        </p:txBody>
      </p:sp>
      <p:sp>
        <p:nvSpPr>
          <p:cNvPr id="16" name="Text 12"/>
          <p:cNvSpPr txBox="1"/>
          <p:nvPr/>
        </p:nvSpPr>
        <p:spPr>
          <a:xfrm>
            <a:off x="3337560" y="2578608"/>
            <a:ext cx="2743200" cy="804672"/>
          </a:xfrm>
          <a:prstGeom prst="rect">
            <a:avLst/>
          </a:prstGeom>
          <a:noFill/>
          <a:ln/>
        </p:spPr>
        <p:txBody>
          <a:bodyPr wrap="square" lIns="0" tIns="0" rIns="0" bIns="0" rtlCol="0" anchor="ctr"/>
          <a:lstStyle/>
          <a:p>
            <a:pPr indent="0" marL="0">
              <a:buNone/>
            </a:pPr>
            <a:r>
              <a:rPr lang="en-US" sz="1300" dirty="0">
                <a:solidFill>
                  <a:schemeClr val="tx2"/>
                </a:solidFill>
              </a:rPr>
              <a:t>Renders pages into clean text, JSON or HTML</a:t>
            </a:r>
            <a:endParaRPr lang="en-US" sz="1300" dirty="0"/>
          </a:p>
        </p:txBody>
      </p:sp>
      <p:sp>
        <p:nvSpPr>
          <p:cNvPr id="17" name="Text 13"/>
          <p:cNvSpPr txBox="1"/>
          <p:nvPr/>
        </p:nvSpPr>
        <p:spPr>
          <a:xfrm>
            <a:off x="6263640" y="2578608"/>
            <a:ext cx="5212080" cy="804672"/>
          </a:xfrm>
          <a:prstGeom prst="rect">
            <a:avLst/>
          </a:prstGeom>
          <a:noFill/>
          <a:ln/>
        </p:spPr>
        <p:txBody>
          <a:bodyPr wrap="square" lIns="0" tIns="0" rIns="0" bIns="0" rtlCol="0" anchor="ctr"/>
          <a:lstStyle/>
          <a:p>
            <a:pPr indent="0" marL="0">
              <a:buNone/>
            </a:pPr>
            <a:r>
              <a:rPr lang="en-US" sz="1300" dirty="0">
                <a:solidFill>
                  <a:schemeClr val="tx1"/>
                </a:solidFill>
              </a:rPr>
              <a:t>Read those pages and confirm the address is really there; read exchange policy and contact pages</a:t>
            </a:r>
            <a:endParaRPr lang="en-US" sz="1300" dirty="0"/>
          </a:p>
        </p:txBody>
      </p:sp>
      <p:sp>
        <p:nvSpPr>
          <p:cNvPr id="18" name="tf-row2"/>
          <p:cNvSpPr/>
          <p:nvPr/>
        </p:nvSpPr>
        <p:spPr>
          <a:xfrm>
            <a:off x="548640" y="3511296"/>
            <a:ext cx="11094415" cy="804672"/>
          </a:xfrm>
          <a:prstGeom prst="roundRect">
            <a:avLst>
              <a:gd name="adj" fmla="val 9091"/>
            </a:avLst>
          </a:prstGeom>
          <a:solidFill>
            <a:schemeClr val="bg2"/>
          </a:solidFill>
          <a:ln w="12700">
            <a:solidFill>
              <a:schemeClr val="bg2"/>
            </a:solidFill>
            <a:prstDash val="solid"/>
          </a:ln>
        </p:spPr>
      </p:sp>
      <p:sp>
        <p:nvSpPr>
          <p:cNvPr id="19" name="tf2-circle"/>
          <p:cNvSpPr/>
          <p:nvPr/>
        </p:nvSpPr>
        <p:spPr>
          <a:xfrm>
            <a:off x="685800" y="3639312"/>
            <a:ext cx="548640" cy="548640"/>
          </a:xfrm>
          <a:prstGeom prst="ellipse">
            <a:avLst/>
          </a:prstGeom>
          <a:solidFill>
            <a:schemeClr val="accent2"/>
          </a:solidFill>
          <a:ln w="12700">
            <a:solidFill>
              <a:schemeClr val="accent2"/>
            </a:solidFill>
            <a:prstDash val="solid"/>
          </a:ln>
        </p:spPr>
      </p:sp>
      <p:pic>
        <p:nvPicPr>
          <p:cNvPr id="20" name="tf2-icon" descr="preencoded.png">    </p:cNvPr>
          <p:cNvPicPr>
            <a:picLocks noChangeAspect="1"/>
          </p:cNvPicPr>
          <p:nvPr/>
        </p:nvPicPr>
        <p:blipFill>
          <a:blip r:embed="rId3"/>
          <a:stretch>
            <a:fillRect/>
          </a:stretch>
        </p:blipFill>
        <p:spPr>
          <a:xfrm>
            <a:off x="828446" y="3781958"/>
            <a:ext cx="263347" cy="263347"/>
          </a:xfrm>
          <a:prstGeom prst="rect">
            <a:avLst/>
          </a:prstGeom>
        </p:spPr>
      </p:pic>
      <p:sp>
        <p:nvSpPr>
          <p:cNvPr id="21" name="Text 16"/>
          <p:cNvSpPr txBox="1"/>
          <p:nvPr/>
        </p:nvSpPr>
        <p:spPr>
          <a:xfrm>
            <a:off x="1371600" y="3511296"/>
            <a:ext cx="1737360" cy="804672"/>
          </a:xfrm>
          <a:prstGeom prst="rect">
            <a:avLst/>
          </a:prstGeom>
          <a:noFill/>
          <a:ln/>
        </p:spPr>
        <p:txBody>
          <a:bodyPr wrap="square" lIns="0" tIns="0" rIns="0" bIns="0" rtlCol="0" anchor="ctr"/>
          <a:lstStyle/>
          <a:p>
            <a:pPr indent="0" marL="0">
              <a:buNone/>
            </a:pPr>
            <a:r>
              <a:rPr lang="en-US" sz="1700" b="1" dirty="0">
                <a:solidFill>
                  <a:schemeClr val="tx1"/>
                </a:solidFill>
              </a:rPr>
              <a:t>Web Agent</a:t>
            </a:r>
            <a:endParaRPr lang="en-US" sz="1700" dirty="0"/>
          </a:p>
        </p:txBody>
      </p:sp>
      <p:sp>
        <p:nvSpPr>
          <p:cNvPr id="22" name="Text 17"/>
          <p:cNvSpPr txBox="1"/>
          <p:nvPr/>
        </p:nvSpPr>
        <p:spPr>
          <a:xfrm>
            <a:off x="3337560" y="3511296"/>
            <a:ext cx="2743200" cy="804672"/>
          </a:xfrm>
          <a:prstGeom prst="rect">
            <a:avLst/>
          </a:prstGeom>
          <a:noFill/>
          <a:ln/>
        </p:spPr>
        <p:txBody>
          <a:bodyPr wrap="square" lIns="0" tIns="0" rIns="0" bIns="0" rtlCol="0" anchor="ctr"/>
          <a:lstStyle/>
          <a:p>
            <a:pPr indent="0" marL="0">
              <a:buNone/>
            </a:pPr>
            <a:r>
              <a:rPr lang="en-US" sz="1300" dirty="0">
                <a:solidFill>
                  <a:schemeClr val="tx2"/>
                </a:solidFill>
              </a:rPr>
              <a:t>Natural-language goal in, multi-step task done, structured JSON out</a:t>
            </a:r>
            <a:endParaRPr lang="en-US" sz="1300" dirty="0"/>
          </a:p>
        </p:txBody>
      </p:sp>
      <p:sp>
        <p:nvSpPr>
          <p:cNvPr id="23" name="Text 18"/>
          <p:cNvSpPr txBox="1"/>
          <p:nvPr/>
        </p:nvSpPr>
        <p:spPr>
          <a:xfrm>
            <a:off x="6263640" y="3511296"/>
            <a:ext cx="5212080" cy="804672"/>
          </a:xfrm>
          <a:prstGeom prst="rect">
            <a:avLst/>
          </a:prstGeom>
          <a:noFill/>
          <a:ln/>
        </p:spPr>
        <p:txBody>
          <a:bodyPr wrap="square" lIns="0" tIns="0" rIns="0" bIns="0" rtlCol="0" anchor="ctr"/>
          <a:lstStyle/>
          <a:p>
            <a:pPr indent="0" marL="0">
              <a:buNone/>
            </a:pPr>
            <a:r>
              <a:rPr lang="en-US" sz="1300" dirty="0">
                <a:solidFill>
                  <a:schemeClr val="tx1"/>
                </a:solidFill>
              </a:rPr>
              <a:t>Navigate exchange sites to the law-enforcement process and contact; pull P2P seller profiles</a:t>
            </a:r>
            <a:endParaRPr lang="en-US" sz="1300" dirty="0"/>
          </a:p>
        </p:txBody>
      </p:sp>
      <p:sp>
        <p:nvSpPr>
          <p:cNvPr id="24" name="tf-row3"/>
          <p:cNvSpPr/>
          <p:nvPr/>
        </p:nvSpPr>
        <p:spPr>
          <a:xfrm>
            <a:off x="548640" y="4443984"/>
            <a:ext cx="11094415" cy="804672"/>
          </a:xfrm>
          <a:prstGeom prst="roundRect">
            <a:avLst>
              <a:gd name="adj" fmla="val 9091"/>
            </a:avLst>
          </a:prstGeom>
          <a:solidFill>
            <a:schemeClr val="bg2"/>
          </a:solidFill>
          <a:ln w="12700">
            <a:solidFill>
              <a:schemeClr val="bg2"/>
            </a:solidFill>
            <a:prstDash val="solid"/>
          </a:ln>
        </p:spPr>
      </p:sp>
      <p:sp>
        <p:nvSpPr>
          <p:cNvPr id="25" name="tf3-circle"/>
          <p:cNvSpPr/>
          <p:nvPr/>
        </p:nvSpPr>
        <p:spPr>
          <a:xfrm>
            <a:off x="685800" y="4572000"/>
            <a:ext cx="548640" cy="548640"/>
          </a:xfrm>
          <a:prstGeom prst="ellipse">
            <a:avLst/>
          </a:prstGeom>
          <a:solidFill>
            <a:schemeClr val="accent2"/>
          </a:solidFill>
          <a:ln w="12700">
            <a:solidFill>
              <a:schemeClr val="accent2"/>
            </a:solidFill>
            <a:prstDash val="solid"/>
          </a:ln>
        </p:spPr>
      </p:sp>
      <p:pic>
        <p:nvPicPr>
          <p:cNvPr id="26" name="tf3-icon" descr="preencoded.png">    </p:cNvPr>
          <p:cNvPicPr>
            <a:picLocks noChangeAspect="1"/>
          </p:cNvPicPr>
          <p:nvPr/>
        </p:nvPicPr>
        <p:blipFill>
          <a:blip r:embed="rId4"/>
          <a:stretch>
            <a:fillRect/>
          </a:stretch>
        </p:blipFill>
        <p:spPr>
          <a:xfrm>
            <a:off x="828446" y="4714646"/>
            <a:ext cx="263347" cy="263347"/>
          </a:xfrm>
          <a:prstGeom prst="rect">
            <a:avLst/>
          </a:prstGeom>
        </p:spPr>
      </p:pic>
      <p:sp>
        <p:nvSpPr>
          <p:cNvPr id="27" name="Text 21"/>
          <p:cNvSpPr txBox="1"/>
          <p:nvPr/>
        </p:nvSpPr>
        <p:spPr>
          <a:xfrm>
            <a:off x="1371600" y="4443984"/>
            <a:ext cx="1737360" cy="804672"/>
          </a:xfrm>
          <a:prstGeom prst="rect">
            <a:avLst/>
          </a:prstGeom>
          <a:noFill/>
          <a:ln/>
        </p:spPr>
        <p:txBody>
          <a:bodyPr wrap="square" lIns="0" tIns="0" rIns="0" bIns="0" rtlCol="0" anchor="ctr"/>
          <a:lstStyle/>
          <a:p>
            <a:pPr indent="0" marL="0">
              <a:buNone/>
            </a:pPr>
            <a:r>
              <a:rPr lang="en-US" sz="1700" b="1" dirty="0">
                <a:solidFill>
                  <a:schemeClr val="tx1"/>
                </a:solidFill>
              </a:rPr>
              <a:t>Browser</a:t>
            </a:r>
            <a:endParaRPr lang="en-US" sz="1700" dirty="0"/>
          </a:p>
        </p:txBody>
      </p:sp>
      <p:sp>
        <p:nvSpPr>
          <p:cNvPr id="28" name="Text 22"/>
          <p:cNvSpPr txBox="1"/>
          <p:nvPr/>
        </p:nvSpPr>
        <p:spPr>
          <a:xfrm>
            <a:off x="3337560" y="4443984"/>
            <a:ext cx="2743200" cy="804672"/>
          </a:xfrm>
          <a:prstGeom prst="rect">
            <a:avLst/>
          </a:prstGeom>
          <a:noFill/>
          <a:ln/>
        </p:spPr>
        <p:txBody>
          <a:bodyPr wrap="square" lIns="0" tIns="0" rIns="0" bIns="0" rtlCol="0" anchor="ctr"/>
          <a:lstStyle/>
          <a:p>
            <a:pPr indent="0" marL="0">
              <a:buNone/>
            </a:pPr>
            <a:r>
              <a:rPr lang="en-US" sz="1300" dirty="0">
                <a:solidFill>
                  <a:schemeClr val="tx2"/>
                </a:solidFill>
              </a:rPr>
              <a:t>Cloud browser session we control</a:t>
            </a:r>
            <a:endParaRPr lang="en-US" sz="1300" dirty="0"/>
          </a:p>
        </p:txBody>
      </p:sp>
      <p:sp>
        <p:nvSpPr>
          <p:cNvPr id="29" name="Text 23"/>
          <p:cNvSpPr txBox="1"/>
          <p:nvPr/>
        </p:nvSpPr>
        <p:spPr>
          <a:xfrm>
            <a:off x="6263640" y="4443984"/>
            <a:ext cx="5212080" cy="804672"/>
          </a:xfrm>
          <a:prstGeom prst="rect">
            <a:avLst/>
          </a:prstGeom>
          <a:noFill/>
          <a:ln/>
        </p:spPr>
        <p:txBody>
          <a:bodyPr wrap="square" lIns="0" tIns="0" rIns="0" bIns="0" rtlCol="0" anchor="ctr"/>
          <a:lstStyle/>
          <a:p>
            <a:pPr indent="0" marL="0">
              <a:buNone/>
            </a:pPr>
            <a:r>
              <a:rPr lang="en-US" sz="1300" dirty="0">
                <a:solidFill>
                  <a:schemeClr val="tx1"/>
                </a:solidFill>
              </a:rPr>
              <a:t>Timestamped evidence snapshots (stretch goal)</a:t>
            </a:r>
            <a:endParaRPr lang="en-US" sz="1300" dirty="0"/>
          </a:p>
        </p:txBody>
      </p:sp>
      <p:sp>
        <p:nvSpPr>
          <p:cNvPr id="30" name="tf-why"/>
          <p:cNvSpPr/>
          <p:nvPr/>
        </p:nvSpPr>
        <p:spPr>
          <a:xfrm>
            <a:off x="548640" y="5440680"/>
            <a:ext cx="5486400" cy="777240"/>
          </a:xfrm>
          <a:prstGeom prst="roundRect">
            <a:avLst>
              <a:gd name="adj" fmla="val 9412"/>
            </a:avLst>
          </a:prstGeom>
          <a:solidFill>
            <a:schemeClr val="tx1"/>
          </a:solidFill>
          <a:ln w="12700">
            <a:solidFill>
              <a:schemeClr val="tx1"/>
            </a:solidFill>
            <a:prstDash val="solid"/>
          </a:ln>
        </p:spPr>
      </p:sp>
      <p:sp>
        <p:nvSpPr>
          <p:cNvPr id="31" name="Text 25"/>
          <p:cNvSpPr txBox="1"/>
          <p:nvPr/>
        </p:nvSpPr>
        <p:spPr>
          <a:xfrm>
            <a:off x="731520" y="5468112"/>
            <a:ext cx="5120640" cy="731520"/>
          </a:xfrm>
          <a:prstGeom prst="rect">
            <a:avLst/>
          </a:prstGeom>
          <a:noFill/>
          <a:ln/>
        </p:spPr>
        <p:txBody>
          <a:bodyPr wrap="square" lIns="0" tIns="0" rIns="0" bIns="0" rtlCol="0" anchor="ctr"/>
          <a:lstStyle/>
          <a:p>
            <a:pPr indent="0" marL="0">
              <a:buNone/>
            </a:pPr>
            <a:r>
              <a:rPr lang="en-US" sz="1200" b="1" dirty="0">
                <a:solidFill>
                  <a:schemeClr val="accent1"/>
                </a:solidFill>
              </a:rPr>
              <a:t>Why agents, not scrapers: </a:t>
            </a:r>
            <a:pPr indent="0" marL="0">
              <a:buNone/>
            </a:pPr>
            <a:r>
              <a:rPr lang="en-US" sz="1200" dirty="0">
                <a:solidFill>
                  <a:schemeClr val="bg1"/>
                </a:solidFill>
              </a:rPr>
              <a:t>these sites are all different, change often, have no APIs, and the tasks take several steps. One agent adapts to many exchanges without a script per site.</a:t>
            </a:r>
            <a:endParaRPr lang="en-US" sz="1200" dirty="0"/>
          </a:p>
        </p:txBody>
      </p:sp>
      <p:sp>
        <p:nvSpPr>
          <p:cNvPr id="32" name="tf-limit"/>
          <p:cNvSpPr/>
          <p:nvPr/>
        </p:nvSpPr>
        <p:spPr>
          <a:xfrm>
            <a:off x="6263640" y="5440680"/>
            <a:ext cx="5379415" cy="777240"/>
          </a:xfrm>
          <a:prstGeom prst="roundRect">
            <a:avLst>
              <a:gd name="adj" fmla="val 9412"/>
            </a:avLst>
          </a:prstGeom>
          <a:solidFill>
            <a:schemeClr val="bg2"/>
          </a:solidFill>
          <a:ln w="12700">
            <a:solidFill>
              <a:schemeClr val="bg2"/>
            </a:solidFill>
            <a:prstDash val="solid"/>
          </a:ln>
        </p:spPr>
      </p:sp>
      <p:sp>
        <p:nvSpPr>
          <p:cNvPr id="33" name="Text 27"/>
          <p:cNvSpPr txBox="1"/>
          <p:nvPr/>
        </p:nvSpPr>
        <p:spPr>
          <a:xfrm>
            <a:off x="6446520" y="5468112"/>
            <a:ext cx="5013655" cy="731520"/>
          </a:xfrm>
          <a:prstGeom prst="rect">
            <a:avLst/>
          </a:prstGeom>
          <a:noFill/>
          <a:ln/>
        </p:spPr>
        <p:txBody>
          <a:bodyPr wrap="square" lIns="0" tIns="0" rIns="0" bIns="0" rtlCol="0" anchor="ctr"/>
          <a:lstStyle/>
          <a:p>
            <a:pPr indent="0" marL="0">
              <a:buNone/>
            </a:pPr>
            <a:r>
              <a:rPr lang="en-US" sz="1200" b="1" dirty="0">
                <a:solidFill>
                  <a:schemeClr val="accent4"/>
                </a:solidFill>
              </a:rPr>
              <a:t>Honest limits: </a:t>
            </a:r>
            <a:pPr indent="0" marL="0">
              <a:buNone/>
            </a:pPr>
            <a:r>
              <a:rPr lang="en-US" sz="1200" dirty="0">
                <a:solidFill>
                  <a:schemeClr val="tx1"/>
                </a:solidFill>
              </a:rPr>
              <a:t>agents are slower than APIs and can fail on odd sites, so we use them only where no API exists, with retries and a manual fallback.</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TinyFish in action: exchange contact discovery</a:t>
            </a:r>
            <a:endParaRPr lang="en-US" sz="3200" dirty="0"/>
          </a:p>
        </p:txBody>
      </p:sp>
      <p:sp>
        <p:nvSpPr>
          <p:cNvPr id="3" name="goal-card"/>
          <p:cNvSpPr/>
          <p:nvPr/>
        </p:nvSpPr>
        <p:spPr>
          <a:xfrm>
            <a:off x="548640" y="1325880"/>
            <a:ext cx="4206240" cy="3749040"/>
          </a:xfrm>
          <a:prstGeom prst="roundRect">
            <a:avLst>
              <a:gd name="adj" fmla="val 1951"/>
            </a:avLst>
          </a:prstGeom>
          <a:solidFill>
            <a:schemeClr val="tx1"/>
          </a:solidFill>
          <a:ln w="12700">
            <a:solidFill>
              <a:schemeClr val="tx1"/>
            </a:solidFill>
            <a:prstDash val="solid"/>
          </a:ln>
        </p:spPr>
      </p:sp>
      <p:sp>
        <p:nvSpPr>
          <p:cNvPr id="4" name="Text 2"/>
          <p:cNvSpPr txBox="1"/>
          <p:nvPr/>
        </p:nvSpPr>
        <p:spPr>
          <a:xfrm>
            <a:off x="822960" y="1508760"/>
            <a:ext cx="3749040" cy="365760"/>
          </a:xfrm>
          <a:prstGeom prst="rect">
            <a:avLst/>
          </a:prstGeom>
          <a:noFill/>
          <a:ln/>
        </p:spPr>
        <p:txBody>
          <a:bodyPr wrap="square" lIns="0" tIns="0" rIns="0" bIns="0" rtlCol="0" anchor="t"/>
          <a:lstStyle/>
          <a:p>
            <a:pPr indent="0" marL="0">
              <a:buNone/>
            </a:pPr>
            <a:r>
              <a:rPr lang="en-US" sz="1400" b="1" dirty="0">
                <a:solidFill>
                  <a:schemeClr val="accent1"/>
                </a:solidFill>
              </a:rPr>
              <a:t>1. We send the Web Agent a URL and a goal</a:t>
            </a:r>
            <a:endParaRPr lang="en-US" sz="1400" dirty="0"/>
          </a:p>
        </p:txBody>
      </p:sp>
      <p:sp>
        <p:nvSpPr>
          <p:cNvPr id="5" name="Text 3"/>
          <p:cNvSpPr txBox="1"/>
          <p:nvPr/>
        </p:nvSpPr>
        <p:spPr>
          <a:xfrm>
            <a:off x="822960" y="1965960"/>
            <a:ext cx="3703320" cy="2926080"/>
          </a:xfrm>
          <a:prstGeom prst="rect">
            <a:avLst/>
          </a:prstGeom>
          <a:noFill/>
          <a:ln/>
        </p:spPr>
        <p:txBody>
          <a:bodyPr wrap="square" lIns="0" tIns="0" rIns="0" bIns="0" rtlCol="0" anchor="t"/>
          <a:lstStyle/>
          <a:p>
            <a:pPr indent="0" marL="0">
              <a:buNone/>
            </a:pPr>
            <a:r>
              <a:rPr lang="en-US" sz="1400" i="1" dirty="0">
                <a:solidFill>
                  <a:schemeClr val="bg1"/>
                </a:solidFill>
              </a:rPr>
              <a:t>"On this exchange's website, find the official process for law-enforcement agencies to request user information or freeze funds. Navigate legal, help-centre or compliance pages as needed. Do not log in or submit any form. Return the portal URL, process steps, contact email, required documents, response time and the pages you used."</a:t>
            </a:r>
            <a:endParaRPr lang="en-US" sz="1400" dirty="0"/>
          </a:p>
        </p:txBody>
      </p:sp>
      <p:sp>
        <p:nvSpPr>
          <p:cNvPr id="6" name="goal-arrow"/>
          <p:cNvSpPr/>
          <p:nvPr/>
        </p:nvSpPr>
        <p:spPr>
          <a:xfrm>
            <a:off x="4892040" y="2926080"/>
            <a:ext cx="548640" cy="502920"/>
          </a:xfrm>
          <a:prstGeom prst="rightArrow">
            <a:avLst/>
          </a:prstGeom>
          <a:solidFill>
            <a:schemeClr val="accent1"/>
          </a:solidFill>
          <a:ln w="12700">
            <a:solidFill>
              <a:schemeClr val="accent1"/>
            </a:solidFill>
            <a:prstDash val="solid"/>
          </a:ln>
        </p:spPr>
      </p:sp>
      <p:sp>
        <p:nvSpPr>
          <p:cNvPr id="7" name="result-card"/>
          <p:cNvSpPr/>
          <p:nvPr/>
        </p:nvSpPr>
        <p:spPr>
          <a:xfrm>
            <a:off x="5577840" y="1325880"/>
            <a:ext cx="6065215" cy="3749040"/>
          </a:xfrm>
          <a:prstGeom prst="roundRect">
            <a:avLst>
              <a:gd name="adj" fmla="val 1951"/>
            </a:avLst>
          </a:prstGeom>
          <a:solidFill>
            <a:schemeClr val="bg2"/>
          </a:solidFill>
          <a:ln w="12700">
            <a:solidFill>
              <a:schemeClr val="bg2"/>
            </a:solidFill>
            <a:prstDash val="solid"/>
          </a:ln>
        </p:spPr>
      </p:sp>
      <p:sp>
        <p:nvSpPr>
          <p:cNvPr id="8" name="Text 6"/>
          <p:cNvSpPr txBox="1"/>
          <p:nvPr/>
        </p:nvSpPr>
        <p:spPr>
          <a:xfrm>
            <a:off x="5852160" y="1508760"/>
            <a:ext cx="5486400" cy="365760"/>
          </a:xfrm>
          <a:prstGeom prst="rect">
            <a:avLst/>
          </a:prstGeom>
          <a:noFill/>
          <a:ln/>
        </p:spPr>
        <p:txBody>
          <a:bodyPr wrap="square" lIns="0" tIns="0" rIns="0" bIns="0" rtlCol="0" anchor="t"/>
          <a:lstStyle/>
          <a:p>
            <a:pPr indent="0" marL="0">
              <a:buNone/>
            </a:pPr>
            <a:r>
              <a:rPr lang="en-US" sz="1400" b="1" dirty="0">
                <a:solidFill>
                  <a:schemeClr val="accent2"/>
                </a:solidFill>
              </a:rPr>
              <a:t>2. It navigates the site and returns structured fields</a:t>
            </a:r>
            <a:endParaRPr lang="en-US" sz="1400" dirty="0"/>
          </a:p>
        </p:txBody>
      </p:sp>
      <p:sp>
        <p:nvSpPr>
          <p:cNvPr id="9" name="Text 7"/>
          <p:cNvSpPr txBox="1"/>
          <p:nvPr/>
        </p:nvSpPr>
        <p:spPr>
          <a:xfrm>
            <a:off x="5852160" y="2011680"/>
            <a:ext cx="1737360" cy="457200"/>
          </a:xfrm>
          <a:prstGeom prst="rect">
            <a:avLst/>
          </a:prstGeom>
          <a:noFill/>
          <a:ln/>
        </p:spPr>
        <p:txBody>
          <a:bodyPr wrap="square" lIns="0" tIns="0" rIns="0" bIns="0" rtlCol="0" anchor="ctr"/>
          <a:lstStyle/>
          <a:p>
            <a:pPr indent="0" marL="0">
              <a:buNone/>
            </a:pPr>
            <a:r>
              <a:rPr lang="en-US" sz="1300" b="1" dirty="0">
                <a:solidFill>
                  <a:schemeClr val="tx1"/>
                </a:solidFill>
              </a:rPr>
              <a:t>Portal</a:t>
            </a:r>
            <a:endParaRPr lang="en-US" sz="1300" dirty="0"/>
          </a:p>
        </p:txBody>
      </p:sp>
      <p:sp>
        <p:nvSpPr>
          <p:cNvPr id="10" name="Text 8"/>
          <p:cNvSpPr txBox="1"/>
          <p:nvPr/>
        </p:nvSpPr>
        <p:spPr>
          <a:xfrm>
            <a:off x="7589520" y="2011680"/>
            <a:ext cx="3870655" cy="457200"/>
          </a:xfrm>
          <a:prstGeom prst="rect">
            <a:avLst/>
          </a:prstGeom>
          <a:noFill/>
          <a:ln/>
        </p:spPr>
        <p:txBody>
          <a:bodyPr wrap="square" lIns="0" tIns="0" rIns="0" bIns="0" rtlCol="0" anchor="ctr"/>
          <a:lstStyle/>
          <a:p>
            <a:pPr indent="0" marL="0">
              <a:buNone/>
            </a:pPr>
            <a:r>
              <a:rPr lang="en-US" sz="1300" dirty="0">
                <a:solidFill>
                  <a:schemeClr val="tx2"/>
                </a:solidFill>
              </a:rPr>
              <a:t>Law-enforcement request page / form</a:t>
            </a:r>
            <a:endParaRPr lang="en-US" sz="1300" dirty="0"/>
          </a:p>
        </p:txBody>
      </p:sp>
      <p:sp>
        <p:nvSpPr>
          <p:cNvPr id="11" name="Text 9"/>
          <p:cNvSpPr txBox="1"/>
          <p:nvPr/>
        </p:nvSpPr>
        <p:spPr>
          <a:xfrm>
            <a:off x="5852160" y="2578608"/>
            <a:ext cx="1737360" cy="457200"/>
          </a:xfrm>
          <a:prstGeom prst="rect">
            <a:avLst/>
          </a:prstGeom>
          <a:noFill/>
          <a:ln/>
        </p:spPr>
        <p:txBody>
          <a:bodyPr wrap="square" lIns="0" tIns="0" rIns="0" bIns="0" rtlCol="0" anchor="ctr"/>
          <a:lstStyle/>
          <a:p>
            <a:pPr indent="0" marL="0">
              <a:buNone/>
            </a:pPr>
            <a:r>
              <a:rPr lang="en-US" sz="1300" b="1" dirty="0">
                <a:solidFill>
                  <a:schemeClr val="tx1"/>
                </a:solidFill>
              </a:rPr>
              <a:t>Process</a:t>
            </a:r>
            <a:endParaRPr lang="en-US" sz="1300" dirty="0"/>
          </a:p>
        </p:txBody>
      </p:sp>
      <p:sp>
        <p:nvSpPr>
          <p:cNvPr id="12" name="Text 10"/>
          <p:cNvSpPr txBox="1"/>
          <p:nvPr/>
        </p:nvSpPr>
        <p:spPr>
          <a:xfrm>
            <a:off x="7589520" y="2578608"/>
            <a:ext cx="3870655" cy="457200"/>
          </a:xfrm>
          <a:prstGeom prst="rect">
            <a:avLst/>
          </a:prstGeom>
          <a:noFill/>
          <a:ln/>
        </p:spPr>
        <p:txBody>
          <a:bodyPr wrap="square" lIns="0" tIns="0" rIns="0" bIns="0" rtlCol="0" anchor="ctr"/>
          <a:lstStyle/>
          <a:p>
            <a:pPr indent="0" marL="0">
              <a:buNone/>
            </a:pPr>
            <a:r>
              <a:rPr lang="en-US" sz="1300" dirty="0">
                <a:solidFill>
                  <a:schemeClr val="tx2"/>
                </a:solidFill>
              </a:rPr>
              <a:t>Official email domain &gt; submit via portal &gt; attach legal notice</a:t>
            </a:r>
            <a:endParaRPr lang="en-US" sz="1300" dirty="0"/>
          </a:p>
        </p:txBody>
      </p:sp>
      <p:sp>
        <p:nvSpPr>
          <p:cNvPr id="13" name="Text 11"/>
          <p:cNvSpPr txBox="1"/>
          <p:nvPr/>
        </p:nvSpPr>
        <p:spPr>
          <a:xfrm>
            <a:off x="5852160" y="3145536"/>
            <a:ext cx="1737360" cy="457200"/>
          </a:xfrm>
          <a:prstGeom prst="rect">
            <a:avLst/>
          </a:prstGeom>
          <a:noFill/>
          <a:ln/>
        </p:spPr>
        <p:txBody>
          <a:bodyPr wrap="square" lIns="0" tIns="0" rIns="0" bIns="0" rtlCol="0" anchor="ctr"/>
          <a:lstStyle/>
          <a:p>
            <a:pPr indent="0" marL="0">
              <a:buNone/>
            </a:pPr>
            <a:r>
              <a:rPr lang="en-US" sz="1300" b="1" dirty="0">
                <a:solidFill>
                  <a:schemeClr val="tx1"/>
                </a:solidFill>
              </a:rPr>
              <a:t>Required documents</a:t>
            </a:r>
            <a:endParaRPr lang="en-US" sz="1300" dirty="0"/>
          </a:p>
        </p:txBody>
      </p:sp>
      <p:sp>
        <p:nvSpPr>
          <p:cNvPr id="14" name="Text 12"/>
          <p:cNvSpPr txBox="1"/>
          <p:nvPr/>
        </p:nvSpPr>
        <p:spPr>
          <a:xfrm>
            <a:off x="7589520" y="3145536"/>
            <a:ext cx="3870655" cy="457200"/>
          </a:xfrm>
          <a:prstGeom prst="rect">
            <a:avLst/>
          </a:prstGeom>
          <a:noFill/>
          <a:ln/>
        </p:spPr>
        <p:txBody>
          <a:bodyPr wrap="square" lIns="0" tIns="0" rIns="0" bIns="0" rtlCol="0" anchor="ctr"/>
          <a:lstStyle/>
          <a:p>
            <a:pPr indent="0" marL="0">
              <a:buNone/>
            </a:pPr>
            <a:r>
              <a:rPr lang="en-US" sz="1300" dirty="0">
                <a:solidFill>
                  <a:schemeClr val="tx2"/>
                </a:solidFill>
              </a:rPr>
              <a:t>Signed notice on letterhead, officer ID, FIR / complaint ref.</a:t>
            </a:r>
            <a:endParaRPr lang="en-US" sz="1300" dirty="0"/>
          </a:p>
        </p:txBody>
      </p:sp>
      <p:sp>
        <p:nvSpPr>
          <p:cNvPr id="15" name="Text 13"/>
          <p:cNvSpPr txBox="1"/>
          <p:nvPr/>
        </p:nvSpPr>
        <p:spPr>
          <a:xfrm>
            <a:off x="5852160" y="3712464"/>
            <a:ext cx="1737360" cy="457200"/>
          </a:xfrm>
          <a:prstGeom prst="rect">
            <a:avLst/>
          </a:prstGeom>
          <a:noFill/>
          <a:ln/>
        </p:spPr>
        <p:txBody>
          <a:bodyPr wrap="square" lIns="0" tIns="0" rIns="0" bIns="0" rtlCol="0" anchor="ctr"/>
          <a:lstStyle/>
          <a:p>
            <a:pPr indent="0" marL="0">
              <a:buNone/>
            </a:pPr>
            <a:r>
              <a:rPr lang="en-US" sz="1300" b="1" dirty="0">
                <a:solidFill>
                  <a:schemeClr val="tx1"/>
                </a:solidFill>
              </a:rPr>
              <a:t>Contact</a:t>
            </a:r>
            <a:endParaRPr lang="en-US" sz="1300" dirty="0"/>
          </a:p>
        </p:txBody>
      </p:sp>
      <p:sp>
        <p:nvSpPr>
          <p:cNvPr id="16" name="Text 14"/>
          <p:cNvSpPr txBox="1"/>
          <p:nvPr/>
        </p:nvSpPr>
        <p:spPr>
          <a:xfrm>
            <a:off x="7589520" y="3712464"/>
            <a:ext cx="3870655" cy="457200"/>
          </a:xfrm>
          <a:prstGeom prst="rect">
            <a:avLst/>
          </a:prstGeom>
          <a:noFill/>
          <a:ln/>
        </p:spPr>
        <p:txBody>
          <a:bodyPr wrap="square" lIns="0" tIns="0" rIns="0" bIns="0" rtlCol="0" anchor="ctr"/>
          <a:lstStyle/>
          <a:p>
            <a:pPr indent="0" marL="0">
              <a:buNone/>
            </a:pPr>
            <a:r>
              <a:rPr lang="en-US" sz="1300" dirty="0">
                <a:solidFill>
                  <a:schemeClr val="tx2"/>
                </a:solidFill>
              </a:rPr>
              <a:t>Email if published, else portal only</a:t>
            </a:r>
            <a:endParaRPr lang="en-US" sz="1300" dirty="0"/>
          </a:p>
        </p:txBody>
      </p:sp>
      <p:sp>
        <p:nvSpPr>
          <p:cNvPr id="17" name="Text 15"/>
          <p:cNvSpPr txBox="1"/>
          <p:nvPr/>
        </p:nvSpPr>
        <p:spPr>
          <a:xfrm>
            <a:off x="5852160" y="4279392"/>
            <a:ext cx="1737360" cy="457200"/>
          </a:xfrm>
          <a:prstGeom prst="rect">
            <a:avLst/>
          </a:prstGeom>
          <a:noFill/>
          <a:ln/>
        </p:spPr>
        <p:txBody>
          <a:bodyPr wrap="square" lIns="0" tIns="0" rIns="0" bIns="0" rtlCol="0" anchor="ctr"/>
          <a:lstStyle/>
          <a:p>
            <a:pPr indent="0" marL="0">
              <a:buNone/>
            </a:pPr>
            <a:r>
              <a:rPr lang="en-US" sz="1300" b="1" dirty="0">
                <a:solidFill>
                  <a:schemeClr val="tx1"/>
                </a:solidFill>
              </a:rPr>
              <a:t>Sources</a:t>
            </a:r>
            <a:endParaRPr lang="en-US" sz="1300" dirty="0"/>
          </a:p>
        </p:txBody>
      </p:sp>
      <p:sp>
        <p:nvSpPr>
          <p:cNvPr id="18" name="Text 16"/>
          <p:cNvSpPr txBox="1"/>
          <p:nvPr/>
        </p:nvSpPr>
        <p:spPr>
          <a:xfrm>
            <a:off x="7589520" y="4279392"/>
            <a:ext cx="3870655" cy="457200"/>
          </a:xfrm>
          <a:prstGeom prst="rect">
            <a:avLst/>
          </a:prstGeom>
          <a:noFill/>
          <a:ln/>
        </p:spPr>
        <p:txBody>
          <a:bodyPr wrap="square" lIns="0" tIns="0" rIns="0" bIns="0" rtlCol="0" anchor="ctr"/>
          <a:lstStyle/>
          <a:p>
            <a:pPr indent="0" marL="0">
              <a:buNone/>
            </a:pPr>
            <a:r>
              <a:rPr lang="en-US" sz="1300" dirty="0">
                <a:solidFill>
                  <a:schemeClr val="tx2"/>
                </a:solidFill>
              </a:rPr>
              <a:t>Pages visited, each captured as hashed evidence</a:t>
            </a:r>
            <a:endParaRPr lang="en-US" sz="1300" dirty="0"/>
          </a:p>
        </p:txBody>
      </p:sp>
      <p:sp>
        <p:nvSpPr>
          <p:cNvPr id="19" name="rel0-circle"/>
          <p:cNvSpPr/>
          <p:nvPr/>
        </p:nvSpPr>
        <p:spPr>
          <a:xfrm>
            <a:off x="548640" y="5349240"/>
            <a:ext cx="502920" cy="502920"/>
          </a:xfrm>
          <a:prstGeom prst="ellipse">
            <a:avLst/>
          </a:prstGeom>
          <a:solidFill>
            <a:schemeClr val="accent5"/>
          </a:solidFill>
          <a:ln w="12700">
            <a:solidFill>
              <a:schemeClr val="accent5"/>
            </a:solidFill>
            <a:prstDash val="solid"/>
          </a:ln>
        </p:spPr>
      </p:sp>
      <p:pic>
        <p:nvPicPr>
          <p:cNvPr id="20" name="rel0-icon" descr="preencoded.png">    </p:cNvPr>
          <p:cNvPicPr>
            <a:picLocks noChangeAspect="1"/>
          </p:cNvPicPr>
          <p:nvPr/>
        </p:nvPicPr>
        <p:blipFill>
          <a:blip r:embed="rId1"/>
          <a:stretch>
            <a:fillRect/>
          </a:stretch>
        </p:blipFill>
        <p:spPr>
          <a:xfrm>
            <a:off x="679399" y="5479999"/>
            <a:ext cx="241402" cy="241402"/>
          </a:xfrm>
          <a:prstGeom prst="rect">
            <a:avLst/>
          </a:prstGeom>
        </p:spPr>
      </p:pic>
      <p:sp>
        <p:nvSpPr>
          <p:cNvPr id="21" name="Text 18"/>
          <p:cNvSpPr txBox="1"/>
          <p:nvPr/>
        </p:nvSpPr>
        <p:spPr>
          <a:xfrm>
            <a:off x="1188720" y="5303520"/>
            <a:ext cx="1916354" cy="594360"/>
          </a:xfrm>
          <a:prstGeom prst="rect">
            <a:avLst/>
          </a:prstGeom>
          <a:noFill/>
          <a:ln/>
        </p:spPr>
        <p:txBody>
          <a:bodyPr wrap="square" lIns="0" tIns="0" rIns="0" bIns="0" rtlCol="0" anchor="ctr"/>
          <a:lstStyle/>
          <a:p>
            <a:pPr indent="0" marL="0">
              <a:buNone/>
            </a:pPr>
            <a:r>
              <a:rPr lang="en-US" sz="1200" dirty="0">
                <a:solidFill>
                  <a:schemeClr val="tx1"/>
                </a:solidFill>
              </a:rPr>
              <a:t>Retries with backoff</a:t>
            </a:r>
            <a:endParaRPr lang="en-US" sz="1200" dirty="0"/>
          </a:p>
        </p:txBody>
      </p:sp>
      <p:sp>
        <p:nvSpPr>
          <p:cNvPr id="22" name="rel1-circle"/>
          <p:cNvSpPr/>
          <p:nvPr/>
        </p:nvSpPr>
        <p:spPr>
          <a:xfrm>
            <a:off x="3379394" y="5349240"/>
            <a:ext cx="502920" cy="502920"/>
          </a:xfrm>
          <a:prstGeom prst="ellipse">
            <a:avLst/>
          </a:prstGeom>
          <a:solidFill>
            <a:schemeClr val="accent5"/>
          </a:solidFill>
          <a:ln w="12700">
            <a:solidFill>
              <a:schemeClr val="accent5"/>
            </a:solidFill>
            <a:prstDash val="solid"/>
          </a:ln>
        </p:spPr>
      </p:sp>
      <p:pic>
        <p:nvPicPr>
          <p:cNvPr id="23" name="rel1-icon" descr="preencoded.png">    </p:cNvPr>
          <p:cNvPicPr>
            <a:picLocks noChangeAspect="1"/>
          </p:cNvPicPr>
          <p:nvPr/>
        </p:nvPicPr>
        <p:blipFill>
          <a:blip r:embed="rId2"/>
          <a:stretch>
            <a:fillRect/>
          </a:stretch>
        </p:blipFill>
        <p:spPr>
          <a:xfrm>
            <a:off x="3510153" y="5479999"/>
            <a:ext cx="241402" cy="241402"/>
          </a:xfrm>
          <a:prstGeom prst="rect">
            <a:avLst/>
          </a:prstGeom>
        </p:spPr>
      </p:pic>
      <p:sp>
        <p:nvSpPr>
          <p:cNvPr id="24" name="Text 20"/>
          <p:cNvSpPr txBox="1"/>
          <p:nvPr/>
        </p:nvSpPr>
        <p:spPr>
          <a:xfrm>
            <a:off x="4019474" y="5303520"/>
            <a:ext cx="1916354" cy="594360"/>
          </a:xfrm>
          <a:prstGeom prst="rect">
            <a:avLst/>
          </a:prstGeom>
          <a:noFill/>
          <a:ln/>
        </p:spPr>
        <p:txBody>
          <a:bodyPr wrap="square" lIns="0" tIns="0" rIns="0" bIns="0" rtlCol="0" anchor="ctr"/>
          <a:lstStyle/>
          <a:p>
            <a:pPr indent="0" marL="0">
              <a:buNone/>
            </a:pPr>
            <a:r>
              <a:rPr lang="en-US" sz="1200" dirty="0">
                <a:solidFill>
                  <a:schemeClr val="tx1"/>
                </a:solidFill>
              </a:rPr>
              <a:t>Contacts cached per exchange</a:t>
            </a:r>
            <a:endParaRPr lang="en-US" sz="1200" dirty="0"/>
          </a:p>
        </p:txBody>
      </p:sp>
      <p:sp>
        <p:nvSpPr>
          <p:cNvPr id="25" name="rel2-circle"/>
          <p:cNvSpPr/>
          <p:nvPr/>
        </p:nvSpPr>
        <p:spPr>
          <a:xfrm>
            <a:off x="6210148" y="5349240"/>
            <a:ext cx="502920" cy="502920"/>
          </a:xfrm>
          <a:prstGeom prst="ellipse">
            <a:avLst/>
          </a:prstGeom>
          <a:solidFill>
            <a:schemeClr val="accent5"/>
          </a:solidFill>
          <a:ln w="12700">
            <a:solidFill>
              <a:schemeClr val="accent5"/>
            </a:solidFill>
            <a:prstDash val="solid"/>
          </a:ln>
        </p:spPr>
      </p:sp>
      <p:pic>
        <p:nvPicPr>
          <p:cNvPr id="26" name="rel2-icon" descr="preencoded.png">    </p:cNvPr>
          <p:cNvPicPr>
            <a:picLocks noChangeAspect="1"/>
          </p:cNvPicPr>
          <p:nvPr/>
        </p:nvPicPr>
        <p:blipFill>
          <a:blip r:embed="rId3"/>
          <a:stretch>
            <a:fillRect/>
          </a:stretch>
        </p:blipFill>
        <p:spPr>
          <a:xfrm>
            <a:off x="6340907" y="5479999"/>
            <a:ext cx="241402" cy="241402"/>
          </a:xfrm>
          <a:prstGeom prst="rect">
            <a:avLst/>
          </a:prstGeom>
        </p:spPr>
      </p:pic>
      <p:sp>
        <p:nvSpPr>
          <p:cNvPr id="27" name="Text 22"/>
          <p:cNvSpPr txBox="1"/>
          <p:nvPr/>
        </p:nvSpPr>
        <p:spPr>
          <a:xfrm>
            <a:off x="6850228" y="5303520"/>
            <a:ext cx="1916354" cy="594360"/>
          </a:xfrm>
          <a:prstGeom prst="rect">
            <a:avLst/>
          </a:prstGeom>
          <a:noFill/>
          <a:ln/>
        </p:spPr>
        <p:txBody>
          <a:bodyPr wrap="square" lIns="0" tIns="0" rIns="0" bIns="0" rtlCol="0" anchor="ctr"/>
          <a:lstStyle/>
          <a:p>
            <a:pPr indent="0" marL="0">
              <a:buNone/>
            </a:pPr>
            <a:r>
              <a:rPr lang="en-US" sz="1200" dirty="0">
                <a:solidFill>
                  <a:schemeClr val="tx1"/>
                </a:solidFill>
              </a:rPr>
              <a:t>Failures flagged for manual review</a:t>
            </a:r>
            <a:endParaRPr lang="en-US" sz="1200" dirty="0"/>
          </a:p>
        </p:txBody>
      </p:sp>
      <p:sp>
        <p:nvSpPr>
          <p:cNvPr id="28" name="rel3-circle"/>
          <p:cNvSpPr/>
          <p:nvPr/>
        </p:nvSpPr>
        <p:spPr>
          <a:xfrm>
            <a:off x="9040901" y="5349240"/>
            <a:ext cx="502920" cy="502920"/>
          </a:xfrm>
          <a:prstGeom prst="ellipse">
            <a:avLst/>
          </a:prstGeom>
          <a:solidFill>
            <a:schemeClr val="accent5"/>
          </a:solidFill>
          <a:ln w="12700">
            <a:solidFill>
              <a:schemeClr val="accent5"/>
            </a:solidFill>
            <a:prstDash val="solid"/>
          </a:ln>
        </p:spPr>
      </p:sp>
      <p:pic>
        <p:nvPicPr>
          <p:cNvPr id="29" name="rel3-icon" descr="preencoded.png">    </p:cNvPr>
          <p:cNvPicPr>
            <a:picLocks noChangeAspect="1"/>
          </p:cNvPicPr>
          <p:nvPr/>
        </p:nvPicPr>
        <p:blipFill>
          <a:blip r:embed="rId4"/>
          <a:stretch>
            <a:fillRect/>
          </a:stretch>
        </p:blipFill>
        <p:spPr>
          <a:xfrm>
            <a:off x="9171661" y="5479999"/>
            <a:ext cx="241402" cy="241402"/>
          </a:xfrm>
          <a:prstGeom prst="rect">
            <a:avLst/>
          </a:prstGeom>
        </p:spPr>
      </p:pic>
      <p:sp>
        <p:nvSpPr>
          <p:cNvPr id="30" name="Text 24"/>
          <p:cNvSpPr txBox="1"/>
          <p:nvPr/>
        </p:nvSpPr>
        <p:spPr>
          <a:xfrm>
            <a:off x="9680981" y="5303520"/>
            <a:ext cx="1916354" cy="594360"/>
          </a:xfrm>
          <a:prstGeom prst="rect">
            <a:avLst/>
          </a:prstGeom>
          <a:noFill/>
          <a:ln/>
        </p:spPr>
        <p:txBody>
          <a:bodyPr wrap="square" lIns="0" tIns="0" rIns="0" bIns="0" rtlCol="0" anchor="ctr"/>
          <a:lstStyle/>
          <a:p>
            <a:pPr indent="0" marL="0">
              <a:buNone/>
            </a:pPr>
            <a:r>
              <a:rPr lang="en-US" sz="1200" dirty="0">
                <a:solidFill>
                  <a:schemeClr val="tx1"/>
                </a:solidFill>
              </a:rPr>
              <a:t>Simple HTTP API, one key (MCP also available)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Scalability and feasibility</a:t>
            </a:r>
            <a:endParaRPr lang="en-US" sz="3200" dirty="0"/>
          </a:p>
        </p:txBody>
      </p:sp>
      <p:sp>
        <p:nvSpPr>
          <p:cNvPr id="3" name="pillar0"/>
          <p:cNvSpPr/>
          <p:nvPr/>
        </p:nvSpPr>
        <p:spPr>
          <a:xfrm>
            <a:off x="548640" y="1325880"/>
            <a:ext cx="3515258" cy="2103120"/>
          </a:xfrm>
          <a:prstGeom prst="roundRect">
            <a:avLst>
              <a:gd name="adj" fmla="val 3478"/>
            </a:avLst>
          </a:prstGeom>
          <a:solidFill>
            <a:schemeClr val="bg2"/>
          </a:solidFill>
          <a:ln w="12700">
            <a:solidFill>
              <a:schemeClr val="bg2"/>
            </a:solidFill>
            <a:prstDash val="solid"/>
          </a:ln>
        </p:spPr>
      </p:sp>
      <p:sp>
        <p:nvSpPr>
          <p:cNvPr id="4" name="pil0-circle"/>
          <p:cNvSpPr/>
          <p:nvPr/>
        </p:nvSpPr>
        <p:spPr>
          <a:xfrm>
            <a:off x="822960" y="1600200"/>
            <a:ext cx="640080" cy="640080"/>
          </a:xfrm>
          <a:prstGeom prst="ellipse">
            <a:avLst/>
          </a:prstGeom>
          <a:solidFill>
            <a:schemeClr val="accent3"/>
          </a:solidFill>
          <a:ln w="12700">
            <a:solidFill>
              <a:schemeClr val="accent3"/>
            </a:solidFill>
            <a:prstDash val="solid"/>
          </a:ln>
        </p:spPr>
      </p:sp>
      <p:pic>
        <p:nvPicPr>
          <p:cNvPr id="5" name="pil0-icon" descr="preencoded.png">    </p:cNvPr>
          <p:cNvPicPr>
            <a:picLocks noChangeAspect="1"/>
          </p:cNvPicPr>
          <p:nvPr/>
        </p:nvPicPr>
        <p:blipFill>
          <a:blip r:embed="rId1"/>
          <a:stretch>
            <a:fillRect/>
          </a:stretch>
        </p:blipFill>
        <p:spPr>
          <a:xfrm>
            <a:off x="989381" y="1766621"/>
            <a:ext cx="307238" cy="307238"/>
          </a:xfrm>
          <a:prstGeom prst="rect">
            <a:avLst/>
          </a:prstGeom>
        </p:spPr>
      </p:pic>
      <p:sp>
        <p:nvSpPr>
          <p:cNvPr id="6" name="Text 3"/>
          <p:cNvSpPr txBox="1"/>
          <p:nvPr/>
        </p:nvSpPr>
        <p:spPr>
          <a:xfrm>
            <a:off x="1645920" y="1645920"/>
            <a:ext cx="2235098" cy="548640"/>
          </a:xfrm>
          <a:prstGeom prst="rect">
            <a:avLst/>
          </a:prstGeom>
          <a:noFill/>
          <a:ln/>
        </p:spPr>
        <p:txBody>
          <a:bodyPr wrap="square" lIns="0" tIns="0" rIns="0" bIns="0" rtlCol="0" anchor="ctr"/>
          <a:lstStyle/>
          <a:p>
            <a:pPr indent="0" marL="0">
              <a:buNone/>
            </a:pPr>
            <a:r>
              <a:rPr lang="en-US" sz="1700" b="1" dirty="0">
                <a:solidFill>
                  <a:schemeClr val="tx1"/>
                </a:solidFill>
              </a:rPr>
              <a:t>Feasible now</a:t>
            </a:r>
            <a:endParaRPr lang="en-US" sz="1700" dirty="0"/>
          </a:p>
        </p:txBody>
      </p:sp>
      <p:sp>
        <p:nvSpPr>
          <p:cNvPr id="7" name="Text 4"/>
          <p:cNvSpPr txBox="1"/>
          <p:nvPr/>
        </p:nvSpPr>
        <p:spPr>
          <a:xfrm>
            <a:off x="822960" y="2377440"/>
            <a:ext cx="2966618" cy="960120"/>
          </a:xfrm>
          <a:prstGeom prst="rect">
            <a:avLst/>
          </a:prstGeom>
          <a:noFill/>
          <a:ln/>
        </p:spPr>
        <p:txBody>
          <a:bodyPr wrap="square" lIns="0" tIns="0" rIns="0" bIns="0" rtlCol="0" anchor="t"/>
          <a:lstStyle/>
          <a:p>
            <a:pPr indent="0" marL="0">
              <a:buNone/>
            </a:pPr>
            <a:r>
              <a:rPr lang="en-US" sz="1300" dirty="0">
                <a:solidFill>
                  <a:schemeClr val="tx2"/>
                </a:solidFill>
              </a:rPr>
              <a:t>Built on existing blockchain APIs and TinyFish. No custom blockchain indexer needed for the MVP.</a:t>
            </a:r>
            <a:endParaRPr lang="en-US" sz="1300" dirty="0"/>
          </a:p>
        </p:txBody>
      </p:sp>
      <p:sp>
        <p:nvSpPr>
          <p:cNvPr id="8" name="pillar1"/>
          <p:cNvSpPr/>
          <p:nvPr/>
        </p:nvSpPr>
        <p:spPr>
          <a:xfrm>
            <a:off x="4338218" y="1325880"/>
            <a:ext cx="3515258" cy="2103120"/>
          </a:xfrm>
          <a:prstGeom prst="roundRect">
            <a:avLst>
              <a:gd name="adj" fmla="val 3478"/>
            </a:avLst>
          </a:prstGeom>
          <a:solidFill>
            <a:schemeClr val="bg2"/>
          </a:solidFill>
          <a:ln w="12700">
            <a:solidFill>
              <a:schemeClr val="bg2"/>
            </a:solidFill>
            <a:prstDash val="solid"/>
          </a:ln>
        </p:spPr>
      </p:sp>
      <p:sp>
        <p:nvSpPr>
          <p:cNvPr id="9" name="pil1-circle"/>
          <p:cNvSpPr/>
          <p:nvPr/>
        </p:nvSpPr>
        <p:spPr>
          <a:xfrm>
            <a:off x="4612538" y="1600200"/>
            <a:ext cx="640080" cy="640080"/>
          </a:xfrm>
          <a:prstGeom prst="ellipse">
            <a:avLst/>
          </a:prstGeom>
          <a:solidFill>
            <a:schemeClr val="accent2"/>
          </a:solidFill>
          <a:ln w="12700">
            <a:solidFill>
              <a:schemeClr val="accent2"/>
            </a:solidFill>
            <a:prstDash val="solid"/>
          </a:ln>
        </p:spPr>
      </p:sp>
      <p:pic>
        <p:nvPicPr>
          <p:cNvPr id="10" name="pil1-icon" descr="preencoded.png">    </p:cNvPr>
          <p:cNvPicPr>
            <a:picLocks noChangeAspect="1"/>
          </p:cNvPicPr>
          <p:nvPr/>
        </p:nvPicPr>
        <p:blipFill>
          <a:blip r:embed="rId2"/>
          <a:stretch>
            <a:fillRect/>
          </a:stretch>
        </p:blipFill>
        <p:spPr>
          <a:xfrm>
            <a:off x="4778959" y="1766621"/>
            <a:ext cx="307238" cy="307238"/>
          </a:xfrm>
          <a:prstGeom prst="rect">
            <a:avLst/>
          </a:prstGeom>
        </p:spPr>
      </p:pic>
      <p:sp>
        <p:nvSpPr>
          <p:cNvPr id="11" name="Text 7"/>
          <p:cNvSpPr txBox="1"/>
          <p:nvPr/>
        </p:nvSpPr>
        <p:spPr>
          <a:xfrm>
            <a:off x="5435498" y="1645920"/>
            <a:ext cx="2235098" cy="548640"/>
          </a:xfrm>
          <a:prstGeom prst="rect">
            <a:avLst/>
          </a:prstGeom>
          <a:noFill/>
          <a:ln/>
        </p:spPr>
        <p:txBody>
          <a:bodyPr wrap="square" lIns="0" tIns="0" rIns="0" bIns="0" rtlCol="0" anchor="ctr"/>
          <a:lstStyle/>
          <a:p>
            <a:pPr indent="0" marL="0">
              <a:buNone/>
            </a:pPr>
            <a:r>
              <a:rPr lang="en-US" sz="1700" b="1" dirty="0">
                <a:solidFill>
                  <a:schemeClr val="tx1"/>
                </a:solidFill>
              </a:rPr>
              <a:t>Scales by configuration</a:t>
            </a:r>
            <a:endParaRPr lang="en-US" sz="1700" dirty="0"/>
          </a:p>
        </p:txBody>
      </p:sp>
      <p:sp>
        <p:nvSpPr>
          <p:cNvPr id="12" name="Text 8"/>
          <p:cNvSpPr txBox="1"/>
          <p:nvPr/>
        </p:nvSpPr>
        <p:spPr>
          <a:xfrm>
            <a:off x="4612538" y="2377440"/>
            <a:ext cx="2966618" cy="960120"/>
          </a:xfrm>
          <a:prstGeom prst="rect">
            <a:avLst/>
          </a:prstGeom>
          <a:noFill/>
          <a:ln/>
        </p:spPr>
        <p:txBody>
          <a:bodyPr wrap="square" lIns="0" tIns="0" rIns="0" bIns="0" rtlCol="0" anchor="t"/>
          <a:lstStyle/>
          <a:p>
            <a:pPr indent="0" marL="0">
              <a:buNone/>
            </a:pPr>
            <a:r>
              <a:rPr lang="en-US" sz="1300" dirty="0">
                <a:solidFill>
                  <a:schemeClr val="tx2"/>
                </a:solidFill>
              </a:rPr>
              <a:t>A new chain or exchange is a config entry, not a new scraper. The agent finds each exchange's current page itself.</a:t>
            </a:r>
            <a:endParaRPr lang="en-US" sz="1300" dirty="0"/>
          </a:p>
        </p:txBody>
      </p:sp>
      <p:sp>
        <p:nvSpPr>
          <p:cNvPr id="13" name="pillar2"/>
          <p:cNvSpPr/>
          <p:nvPr/>
        </p:nvSpPr>
        <p:spPr>
          <a:xfrm>
            <a:off x="8127797" y="1325880"/>
            <a:ext cx="3515258" cy="2103120"/>
          </a:xfrm>
          <a:prstGeom prst="roundRect">
            <a:avLst>
              <a:gd name="adj" fmla="val 3478"/>
            </a:avLst>
          </a:prstGeom>
          <a:solidFill>
            <a:schemeClr val="bg2"/>
          </a:solidFill>
          <a:ln w="12700">
            <a:solidFill>
              <a:schemeClr val="bg2"/>
            </a:solidFill>
            <a:prstDash val="solid"/>
          </a:ln>
        </p:spPr>
      </p:sp>
      <p:sp>
        <p:nvSpPr>
          <p:cNvPr id="14" name="pil2-circle"/>
          <p:cNvSpPr/>
          <p:nvPr/>
        </p:nvSpPr>
        <p:spPr>
          <a:xfrm>
            <a:off x="8402117" y="1600200"/>
            <a:ext cx="640080" cy="640080"/>
          </a:xfrm>
          <a:prstGeom prst="ellipse">
            <a:avLst/>
          </a:prstGeom>
          <a:solidFill>
            <a:schemeClr val="accent1"/>
          </a:solidFill>
          <a:ln w="12700">
            <a:solidFill>
              <a:schemeClr val="accent1"/>
            </a:solidFill>
            <a:prstDash val="solid"/>
          </a:ln>
        </p:spPr>
      </p:sp>
      <p:pic>
        <p:nvPicPr>
          <p:cNvPr id="15" name="pil2-icon" descr="preencoded.png">    </p:cNvPr>
          <p:cNvPicPr>
            <a:picLocks noChangeAspect="1"/>
          </p:cNvPicPr>
          <p:nvPr/>
        </p:nvPicPr>
        <p:blipFill>
          <a:blip r:embed="rId3"/>
          <a:stretch>
            <a:fillRect/>
          </a:stretch>
        </p:blipFill>
        <p:spPr>
          <a:xfrm>
            <a:off x="8568538" y="1766621"/>
            <a:ext cx="307238" cy="307238"/>
          </a:xfrm>
          <a:prstGeom prst="rect">
            <a:avLst/>
          </a:prstGeom>
        </p:spPr>
      </p:pic>
      <p:sp>
        <p:nvSpPr>
          <p:cNvPr id="16" name="Text 11"/>
          <p:cNvSpPr txBox="1"/>
          <p:nvPr/>
        </p:nvSpPr>
        <p:spPr>
          <a:xfrm>
            <a:off x="9225077" y="1645920"/>
            <a:ext cx="2235098" cy="548640"/>
          </a:xfrm>
          <a:prstGeom prst="rect">
            <a:avLst/>
          </a:prstGeom>
          <a:noFill/>
          <a:ln/>
        </p:spPr>
        <p:txBody>
          <a:bodyPr wrap="square" lIns="0" tIns="0" rIns="0" bIns="0" rtlCol="0" anchor="ctr"/>
          <a:lstStyle/>
          <a:p>
            <a:pPr indent="0" marL="0">
              <a:buNone/>
            </a:pPr>
            <a:r>
              <a:rPr lang="en-US" sz="1700" b="1" dirty="0">
                <a:solidFill>
                  <a:schemeClr val="tx1"/>
                </a:solidFill>
              </a:rPr>
              <a:t>Parallel by design</a:t>
            </a:r>
            <a:endParaRPr lang="en-US" sz="1700" dirty="0"/>
          </a:p>
        </p:txBody>
      </p:sp>
      <p:sp>
        <p:nvSpPr>
          <p:cNvPr id="17" name="Text 12"/>
          <p:cNvSpPr txBox="1"/>
          <p:nvPr/>
        </p:nvSpPr>
        <p:spPr>
          <a:xfrm>
            <a:off x="8402117" y="2377440"/>
            <a:ext cx="2966618" cy="960120"/>
          </a:xfrm>
          <a:prstGeom prst="rect">
            <a:avLst/>
          </a:prstGeom>
          <a:noFill/>
          <a:ln/>
        </p:spPr>
        <p:txBody>
          <a:bodyPr wrap="square" lIns="0" tIns="0" rIns="0" bIns="0" rtlCol="0" anchor="t"/>
          <a:lstStyle/>
          <a:p>
            <a:pPr indent="0" marL="0">
              <a:buNone/>
            </a:pPr>
            <a:r>
              <a:rPr lang="en-US" sz="1300" dirty="0">
                <a:solidFill>
                  <a:schemeClr val="tx2"/>
                </a:solidFill>
              </a:rPr>
              <a:t>Tracing jobs and agents run concurrently through the queue; contact results are reused across cases.</a:t>
            </a:r>
            <a:endParaRPr lang="en-US" sz="1300" dirty="0"/>
          </a:p>
        </p:txBody>
      </p:sp>
      <p:sp>
        <p:nvSpPr>
          <p:cNvPr id="18" name="Text 13"/>
          <p:cNvSpPr txBox="1"/>
          <p:nvPr/>
        </p:nvSpPr>
        <p:spPr>
          <a:xfrm>
            <a:off x="548640" y="3703320"/>
            <a:ext cx="4572000" cy="365760"/>
          </a:xfrm>
          <a:prstGeom prst="rect">
            <a:avLst/>
          </a:prstGeom>
          <a:noFill/>
          <a:ln/>
        </p:spPr>
        <p:txBody>
          <a:bodyPr wrap="square" lIns="0" tIns="0" rIns="0" bIns="0" rtlCol="0" anchor="t"/>
          <a:lstStyle/>
          <a:p>
            <a:pPr indent="0" marL="0">
              <a:buNone/>
            </a:pPr>
            <a:r>
              <a:rPr lang="en-US" sz="1800" b="1" dirty="0">
                <a:solidFill>
                  <a:schemeClr val="tx1"/>
                </a:solidFill>
              </a:rPr>
              <a:t>Risks and mitigations</a:t>
            </a:r>
            <a:endParaRPr lang="en-US" sz="1800" dirty="0"/>
          </a:p>
        </p:txBody>
      </p:sp>
      <p:graphicFrame>
        <p:nvGraphicFramePr>
          <p:cNvPr id="13" name="risk-table"/>
          <p:cNvGraphicFramePr>
            <a:graphicFrameLocks noGrp="1"/>
          </p:cNvGraphicFramePr>
          <p:nvPr>
            <p:extLst>
              <p:ext uri="{D42A27DB-BD31-4B8C-83A1-F6EECF244321}">
                <p14:modId xmlns:p14="http://schemas.microsoft.com/office/powerpoint/2010/main" val="1579011935"/>
              </p:ext>
            </p:extLst>
          </p:nvPr>
        </p:nvGraphicFramePr>
        <p:xfrm>
          <a:off x="548640" y="4114800"/>
          <a:ext cx="11094415" cy="914400"/>
        </p:xfrm>
        <a:graphic>
          <a:graphicData uri="http://schemas.openxmlformats.org/drawingml/2006/table">
            <a:tbl>
              <a:tblPr/>
              <a:tblGrid>
                <a:gridCol w="3657600"/>
                <a:gridCol w="7436815"/>
              </a:tblGrid>
              <a:tr h="384048">
                <a:tc>
                  <a:txBody>
                    <a:bodyPr/>
                    <a:lstStyle/>
                    <a:p>
                      <a:pPr indent="0" marL="0">
                        <a:buNone/>
                      </a:pPr>
                      <a:r>
                        <a:rPr lang="en-US" sz="1300" b="1" dirty="0">
                          <a:solidFill>
                            <a:schemeClr val="bg1"/>
                          </a:solidFill>
                        </a:rPr>
                        <a:t>Risk</a:t>
                      </a:r>
                      <a:endParaRPr lang="en-US" sz="1300" dirty="0"/>
                    </a:p>
                  </a:txBody>
                  <a:tcPr marL="91440" marR="91440" marT="45720" marB="45720">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Mitigation</a:t>
                      </a:r>
                      <a:endParaRPr lang="en-US" sz="1300" dirty="0"/>
                    </a:p>
                  </a:txBody>
                  <a:tcPr marL="91440" marR="91440" marT="45720" marB="45720">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tx2"/>
                    </a:solidFill>
                  </a:tcPr>
                </a:tc>
              </a:tr>
              <a:tr h="384048">
                <a:tc>
                  <a:txBody>
                    <a:bodyPr/>
                    <a:lstStyle/>
                    <a:p>
                      <a:pPr indent="0" marL="0">
                        <a:buNone/>
                      </a:pPr>
                      <a:r>
                        <a:rPr lang="en-US" sz="1300" b="1" dirty="0">
                          <a:solidFill>
                            <a:schemeClr val="tx1"/>
                          </a:solidFill>
                        </a:rPr>
                        <a:t>Agent failures on unusual sites</a:t>
                      </a:r>
                      <a:endParaRPr lang="en-US" sz="1300" dirty="0"/>
                    </a:p>
                  </a:txBody>
                  <a:tcPr marL="91440" marR="91440" marT="45720" marB="45720">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Retries, cached results, fallback contact, flagged for manual review</a:t>
                      </a:r>
                      <a:endParaRPr lang="en-US" sz="1300" dirty="0"/>
                    </a:p>
                  </a:txBody>
                  <a:tcPr marL="91440" marR="91440" marT="45720" marB="45720">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False positives</a:t>
                      </a:r>
                      <a:endParaRPr lang="en-US" sz="1300" dirty="0"/>
                    </a:p>
                  </a:txBody>
                  <a:tcPr marL="91440" marR="91440" marT="45720" marB="45720">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Human validation; explained score; risk score is a lead, not proof</a:t>
                      </a:r>
                      <a:endParaRPr lang="en-US" sz="1300" dirty="0"/>
                    </a:p>
                  </a:txBody>
                  <a:tcPr marL="91440" marR="91440" marT="45720" marB="45720">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Legal and ethical limits</a:t>
                      </a:r>
                      <a:endParaRPr lang="en-US" sz="1300" dirty="0"/>
                    </a:p>
                  </a:txBody>
                  <a:tcPr marL="91440" marR="91440" marT="45720" marB="45720">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Authorised use only, audit logs, respect site terms; agents never log in or submit forms</a:t>
                      </a:r>
                      <a:endParaRPr lang="en-US" sz="1300" dirty="0"/>
                    </a:p>
                  </a:txBody>
                  <a:tcPr marL="91440" marR="91440" marT="45720" marB="45720">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Limited public exchange labels</a:t>
                      </a:r>
                      <a:endParaRPr lang="en-US" sz="1300" dirty="0"/>
                    </a:p>
                  </a:txBody>
                  <a:tcPr marL="91440" marR="91440" marT="45720" marB="45720">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Deposit-address inference from sweep behaviour; plug in richer label datasets</a:t>
                      </a:r>
                      <a:endParaRPr lang="en-US" sz="1300" dirty="0"/>
                    </a:p>
                  </a:txBody>
                  <a:tcPr marL="91440" marR="91440" marT="45720" marB="45720">
                    <a:lnL w="12700" cap="flat" cmpd="sng" algn="ctr">
                      <a:solidFill>
                        <a:srgbClr val="EEF2F7"/>
                      </a:solidFill>
                      <a:prstDash val="solid"/>
                      <a:round/>
                      <a:headEnd type="none" w="med" len="med"/>
                      <a:tailEnd type="none" w="med" len="med"/>
                    </a:lnL>
                    <a:lnR w="12700" cap="flat" cmpd="sng" algn="ctr">
                      <a:solidFill>
                        <a:srgbClr val="EEF2F7"/>
                      </a:solidFill>
                      <a:prstDash val="solid"/>
                      <a:round/>
                      <a:headEnd type="none" w="med" len="med"/>
                      <a:tailEnd type="none" w="med" len="med"/>
                    </a:lnR>
                    <a:lnT w="12700" cap="flat" cmpd="sng" algn="ctr">
                      <a:solidFill>
                        <a:srgbClr val="EEF2F7"/>
                      </a:solidFill>
                      <a:prstDash val="solid"/>
                      <a:round/>
                      <a:headEnd type="none" w="med" len="med"/>
                      <a:tailEnd type="none" w="med" len="med"/>
                    </a:lnT>
                    <a:lnB w="12700" cap="flat" cmpd="sng" algn="ctr">
                      <a:solidFill>
                        <a:srgbClr val="EEF2F7"/>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Use case: a task-scam victim's report, start to finish</a:t>
            </a:r>
            <a:endParaRPr lang="en-US" sz="3200" dirty="0"/>
          </a:p>
        </p:txBody>
      </p:sp>
      <p:sp>
        <p:nvSpPr>
          <p:cNvPr id="3" name="uc-trail-line"/>
          <p:cNvSpPr/>
          <p:nvPr/>
        </p:nvSpPr>
        <p:spPr>
          <a:xfrm>
            <a:off x="1472184" y="1700784"/>
            <a:ext cx="9247327" cy="0"/>
          </a:xfrm>
          <a:prstGeom prst="line">
            <a:avLst/>
          </a:prstGeom>
          <a:noFill/>
          <a:ln w="31750">
            <a:solidFill>
              <a:schemeClr val="accent1"/>
            </a:solidFill>
            <a:prstDash val="dash"/>
          </a:ln>
        </p:spPr>
      </p:sp>
      <p:sp>
        <p:nvSpPr>
          <p:cNvPr id="4" name="uc-trail-node0"/>
          <p:cNvSpPr/>
          <p:nvPr/>
        </p:nvSpPr>
        <p:spPr>
          <a:xfrm>
            <a:off x="1371600" y="1600200"/>
            <a:ext cx="201168" cy="201168"/>
          </a:xfrm>
          <a:prstGeom prst="ellipse">
            <a:avLst/>
          </a:prstGeom>
          <a:solidFill>
            <a:schemeClr val="accent4"/>
          </a:solidFill>
          <a:ln w="19050">
            <a:solidFill>
              <a:srgbClr val="FFFFFF"/>
            </a:solidFill>
            <a:prstDash val="solid"/>
          </a:ln>
        </p:spPr>
      </p:sp>
      <p:sp>
        <p:nvSpPr>
          <p:cNvPr id="5" name="uc-trail-node1"/>
          <p:cNvSpPr/>
          <p:nvPr/>
        </p:nvSpPr>
        <p:spPr>
          <a:xfrm>
            <a:off x="4454042" y="1600200"/>
            <a:ext cx="201168" cy="201168"/>
          </a:xfrm>
          <a:prstGeom prst="ellipse">
            <a:avLst/>
          </a:prstGeom>
          <a:solidFill>
            <a:schemeClr val="accent1"/>
          </a:solidFill>
          <a:ln w="19050">
            <a:solidFill>
              <a:srgbClr val="FFFFFF"/>
            </a:solidFill>
            <a:prstDash val="solid"/>
          </a:ln>
        </p:spPr>
      </p:sp>
      <p:sp>
        <p:nvSpPr>
          <p:cNvPr id="6" name="uc-trail-node2"/>
          <p:cNvSpPr/>
          <p:nvPr/>
        </p:nvSpPr>
        <p:spPr>
          <a:xfrm>
            <a:off x="7536485" y="1600200"/>
            <a:ext cx="201168" cy="201168"/>
          </a:xfrm>
          <a:prstGeom prst="ellipse">
            <a:avLst/>
          </a:prstGeom>
          <a:solidFill>
            <a:schemeClr val="accent1"/>
          </a:solidFill>
          <a:ln w="19050">
            <a:solidFill>
              <a:srgbClr val="FFFFFF"/>
            </a:solidFill>
            <a:prstDash val="solid"/>
          </a:ln>
        </p:spPr>
      </p:sp>
      <p:sp>
        <p:nvSpPr>
          <p:cNvPr id="7" name="uc-trail-node3"/>
          <p:cNvSpPr/>
          <p:nvPr/>
        </p:nvSpPr>
        <p:spPr>
          <a:xfrm>
            <a:off x="10582351" y="1563624"/>
            <a:ext cx="274320" cy="274320"/>
          </a:xfrm>
          <a:prstGeom prst="roundRect">
            <a:avLst>
              <a:gd name="adj" fmla="val 16667"/>
            </a:avLst>
          </a:prstGeom>
          <a:solidFill>
            <a:schemeClr val="accent3"/>
          </a:solidFill>
          <a:ln w="19050">
            <a:solidFill>
              <a:srgbClr val="FFFFFF"/>
            </a:solidFill>
            <a:prstDash val="solid"/>
          </a:ln>
        </p:spPr>
      </p:sp>
      <p:sp>
        <p:nvSpPr>
          <p:cNvPr id="8" name="uc-card0"/>
          <p:cNvSpPr/>
          <p:nvPr/>
        </p:nvSpPr>
        <p:spPr>
          <a:xfrm>
            <a:off x="548640" y="2057400"/>
            <a:ext cx="2567864" cy="2606040"/>
          </a:xfrm>
          <a:prstGeom prst="roundRect">
            <a:avLst>
              <a:gd name="adj" fmla="val 2849"/>
            </a:avLst>
          </a:prstGeom>
          <a:solidFill>
            <a:schemeClr val="bg2"/>
          </a:solidFill>
          <a:ln w="12700">
            <a:solidFill>
              <a:schemeClr val="bg2"/>
            </a:solidFill>
            <a:prstDash val="solid"/>
          </a:ln>
        </p:spPr>
      </p:sp>
      <p:sp>
        <p:nvSpPr>
          <p:cNvPr id="9" name="uc0-circle"/>
          <p:cNvSpPr/>
          <p:nvPr/>
        </p:nvSpPr>
        <p:spPr>
          <a:xfrm>
            <a:off x="777240" y="2286000"/>
            <a:ext cx="594360" cy="594360"/>
          </a:xfrm>
          <a:prstGeom prst="ellipse">
            <a:avLst/>
          </a:prstGeom>
          <a:solidFill>
            <a:schemeClr val="accent1"/>
          </a:solidFill>
          <a:ln w="12700">
            <a:solidFill>
              <a:schemeClr val="accent1"/>
            </a:solidFill>
            <a:prstDash val="solid"/>
          </a:ln>
        </p:spPr>
      </p:sp>
      <p:pic>
        <p:nvPicPr>
          <p:cNvPr id="10" name="uc0-icon" descr="preencoded.png">    </p:cNvPr>
          <p:cNvPicPr>
            <a:picLocks noChangeAspect="1"/>
          </p:cNvPicPr>
          <p:nvPr/>
        </p:nvPicPr>
        <p:blipFill>
          <a:blip r:embed="rId1"/>
          <a:stretch>
            <a:fillRect/>
          </a:stretch>
        </p:blipFill>
        <p:spPr>
          <a:xfrm>
            <a:off x="931774" y="2440534"/>
            <a:ext cx="285293" cy="285293"/>
          </a:xfrm>
          <a:prstGeom prst="rect">
            <a:avLst/>
          </a:prstGeom>
        </p:spPr>
      </p:pic>
      <p:sp>
        <p:nvSpPr>
          <p:cNvPr id="11" name="Text 8"/>
          <p:cNvSpPr txBox="1"/>
          <p:nvPr/>
        </p:nvSpPr>
        <p:spPr>
          <a:xfrm>
            <a:off x="2522144" y="2240280"/>
            <a:ext cx="411480" cy="548640"/>
          </a:xfrm>
          <a:prstGeom prst="rect">
            <a:avLst/>
          </a:prstGeom>
          <a:noFill/>
          <a:ln/>
        </p:spPr>
        <p:txBody>
          <a:bodyPr wrap="square" lIns="0" tIns="0" rIns="0" bIns="0" rtlCol="0" anchor="t"/>
          <a:lstStyle/>
          <a:p>
            <a:pPr algn="r" indent="0" marL="0">
              <a:buNone/>
            </a:pPr>
            <a:r>
              <a:rPr lang="en-US" sz="2800" b="1" dirty="0">
                <a:solidFill>
                  <a:schemeClr val="accent5"/>
                </a:solidFill>
              </a:rPr>
              <a:t>1</a:t>
            </a:r>
            <a:endParaRPr lang="en-US" sz="2800" dirty="0"/>
          </a:p>
        </p:txBody>
      </p:sp>
      <p:sp>
        <p:nvSpPr>
          <p:cNvPr id="12" name="Text 9"/>
          <p:cNvSpPr txBox="1"/>
          <p:nvPr/>
        </p:nvSpPr>
        <p:spPr>
          <a:xfrm>
            <a:off x="777240" y="3017520"/>
            <a:ext cx="2110664" cy="594360"/>
          </a:xfrm>
          <a:prstGeom prst="rect">
            <a:avLst/>
          </a:prstGeom>
          <a:noFill/>
          <a:ln/>
        </p:spPr>
        <p:txBody>
          <a:bodyPr wrap="square" lIns="0" tIns="0" rIns="0" bIns="0" rtlCol="0" anchor="t"/>
          <a:lstStyle/>
          <a:p>
            <a:pPr indent="0" marL="0">
              <a:buNone/>
            </a:pPr>
            <a:r>
              <a:rPr lang="en-US" sz="1500" b="1" dirty="0">
                <a:solidFill>
                  <a:schemeClr val="tx1"/>
                </a:solidFill>
              </a:rPr>
              <a:t>Victim reports a wallet</a:t>
            </a:r>
            <a:endParaRPr lang="en-US" sz="1500" dirty="0"/>
          </a:p>
        </p:txBody>
      </p:sp>
      <p:sp>
        <p:nvSpPr>
          <p:cNvPr id="13" name="Text 10"/>
          <p:cNvSpPr txBox="1"/>
          <p:nvPr/>
        </p:nvSpPr>
        <p:spPr>
          <a:xfrm>
            <a:off x="777240" y="3611880"/>
            <a:ext cx="2110664" cy="1005840"/>
          </a:xfrm>
          <a:prstGeom prst="rect">
            <a:avLst/>
          </a:prstGeom>
          <a:noFill/>
          <a:ln/>
        </p:spPr>
        <p:txBody>
          <a:bodyPr wrap="square" lIns="0" tIns="0" rIns="0" bIns="0" rtlCol="0" anchor="t"/>
          <a:lstStyle/>
          <a:p>
            <a:pPr indent="0" marL="0">
              <a:buNone/>
            </a:pPr>
            <a:r>
              <a:rPr lang="en-US" sz="1200" dirty="0">
                <a:solidFill>
                  <a:schemeClr val="tx2"/>
                </a:solidFill>
              </a:rPr>
              <a:t>A victim of a task-based job scam reports the USDT (Tron) wallet they paid.</a:t>
            </a:r>
            <a:endParaRPr lang="en-US" sz="1200" dirty="0"/>
          </a:p>
        </p:txBody>
      </p:sp>
      <p:sp>
        <p:nvSpPr>
          <p:cNvPr id="14" name="uc-card1"/>
          <p:cNvSpPr/>
          <p:nvPr/>
        </p:nvSpPr>
        <p:spPr>
          <a:xfrm>
            <a:off x="3390824" y="2057400"/>
            <a:ext cx="2567864" cy="2606040"/>
          </a:xfrm>
          <a:prstGeom prst="roundRect">
            <a:avLst>
              <a:gd name="adj" fmla="val 2849"/>
            </a:avLst>
          </a:prstGeom>
          <a:solidFill>
            <a:schemeClr val="bg2"/>
          </a:solidFill>
          <a:ln w="12700">
            <a:solidFill>
              <a:schemeClr val="bg2"/>
            </a:solidFill>
            <a:prstDash val="solid"/>
          </a:ln>
        </p:spPr>
      </p:sp>
      <p:sp>
        <p:nvSpPr>
          <p:cNvPr id="15" name="uc1-circle"/>
          <p:cNvSpPr/>
          <p:nvPr/>
        </p:nvSpPr>
        <p:spPr>
          <a:xfrm>
            <a:off x="3619424" y="2286000"/>
            <a:ext cx="594360" cy="594360"/>
          </a:xfrm>
          <a:prstGeom prst="ellipse">
            <a:avLst/>
          </a:prstGeom>
          <a:solidFill>
            <a:schemeClr val="accent1"/>
          </a:solidFill>
          <a:ln w="12700">
            <a:solidFill>
              <a:schemeClr val="accent1"/>
            </a:solidFill>
            <a:prstDash val="solid"/>
          </a:ln>
        </p:spPr>
      </p:sp>
      <p:pic>
        <p:nvPicPr>
          <p:cNvPr id="16" name="uc1-icon" descr="preencoded.png">    </p:cNvPr>
          <p:cNvPicPr>
            <a:picLocks noChangeAspect="1"/>
          </p:cNvPicPr>
          <p:nvPr/>
        </p:nvPicPr>
        <p:blipFill>
          <a:blip r:embed="rId2"/>
          <a:stretch>
            <a:fillRect/>
          </a:stretch>
        </p:blipFill>
        <p:spPr>
          <a:xfrm>
            <a:off x="3773957" y="2440534"/>
            <a:ext cx="285293" cy="285293"/>
          </a:xfrm>
          <a:prstGeom prst="rect">
            <a:avLst/>
          </a:prstGeom>
        </p:spPr>
      </p:pic>
      <p:sp>
        <p:nvSpPr>
          <p:cNvPr id="17" name="Text 13"/>
          <p:cNvSpPr txBox="1"/>
          <p:nvPr/>
        </p:nvSpPr>
        <p:spPr>
          <a:xfrm>
            <a:off x="5364328" y="2240280"/>
            <a:ext cx="411480" cy="548640"/>
          </a:xfrm>
          <a:prstGeom prst="rect">
            <a:avLst/>
          </a:prstGeom>
          <a:noFill/>
          <a:ln/>
        </p:spPr>
        <p:txBody>
          <a:bodyPr wrap="square" lIns="0" tIns="0" rIns="0" bIns="0" rtlCol="0" anchor="t"/>
          <a:lstStyle/>
          <a:p>
            <a:pPr algn="r" indent="0" marL="0">
              <a:buNone/>
            </a:pPr>
            <a:r>
              <a:rPr lang="en-US" sz="2800" b="1" dirty="0">
                <a:solidFill>
                  <a:schemeClr val="accent5"/>
                </a:solidFill>
              </a:rPr>
              <a:t>2</a:t>
            </a:r>
            <a:endParaRPr lang="en-US" sz="2800" dirty="0"/>
          </a:p>
        </p:txBody>
      </p:sp>
      <p:sp>
        <p:nvSpPr>
          <p:cNvPr id="18" name="Text 14"/>
          <p:cNvSpPr txBox="1"/>
          <p:nvPr/>
        </p:nvSpPr>
        <p:spPr>
          <a:xfrm>
            <a:off x="3619424" y="3017520"/>
            <a:ext cx="2110664" cy="594360"/>
          </a:xfrm>
          <a:prstGeom prst="rect">
            <a:avLst/>
          </a:prstGeom>
          <a:noFill/>
          <a:ln/>
        </p:spPr>
        <p:txBody>
          <a:bodyPr wrap="square" lIns="0" tIns="0" rIns="0" bIns="0" rtlCol="0" anchor="t"/>
          <a:lstStyle/>
          <a:p>
            <a:pPr indent="0" marL="0">
              <a:buNone/>
            </a:pPr>
            <a:r>
              <a:rPr lang="en-US" sz="1500" b="1" dirty="0">
                <a:solidFill>
                  <a:schemeClr val="tx1"/>
                </a:solidFill>
              </a:rPr>
              <a:t>Funds traced to an exchange</a:t>
            </a:r>
            <a:endParaRPr lang="en-US" sz="1500" dirty="0"/>
          </a:p>
        </p:txBody>
      </p:sp>
      <p:sp>
        <p:nvSpPr>
          <p:cNvPr id="19" name="Text 15"/>
          <p:cNvSpPr txBox="1"/>
          <p:nvPr/>
        </p:nvSpPr>
        <p:spPr>
          <a:xfrm>
            <a:off x="3619424" y="3611880"/>
            <a:ext cx="2110664" cy="1005840"/>
          </a:xfrm>
          <a:prstGeom prst="rect">
            <a:avLst/>
          </a:prstGeom>
          <a:noFill/>
          <a:ln/>
        </p:spPr>
        <p:txBody>
          <a:bodyPr wrap="square" lIns="0" tIns="0" rIns="0" bIns="0" rtlCol="0" anchor="t"/>
          <a:lstStyle/>
          <a:p>
            <a:pPr indent="0" marL="0">
              <a:buNone/>
            </a:pPr>
            <a:r>
              <a:rPr lang="en-US" sz="1200" dirty="0">
                <a:solidFill>
                  <a:schemeClr val="tx2"/>
                </a:solidFill>
              </a:rPr>
              <a:t>Money collected from several victims is split across mules and reaches an exchange deposit address within a few hops.</a:t>
            </a:r>
            <a:endParaRPr lang="en-US" sz="1200" dirty="0"/>
          </a:p>
        </p:txBody>
      </p:sp>
      <p:sp>
        <p:nvSpPr>
          <p:cNvPr id="20" name="uc-card2"/>
          <p:cNvSpPr/>
          <p:nvPr/>
        </p:nvSpPr>
        <p:spPr>
          <a:xfrm>
            <a:off x="6233008" y="2057400"/>
            <a:ext cx="2567864" cy="2606040"/>
          </a:xfrm>
          <a:prstGeom prst="roundRect">
            <a:avLst>
              <a:gd name="adj" fmla="val 2849"/>
            </a:avLst>
          </a:prstGeom>
          <a:solidFill>
            <a:schemeClr val="bg2"/>
          </a:solidFill>
          <a:ln w="12700">
            <a:solidFill>
              <a:schemeClr val="bg2"/>
            </a:solidFill>
            <a:prstDash val="solid"/>
          </a:ln>
        </p:spPr>
      </p:sp>
      <p:sp>
        <p:nvSpPr>
          <p:cNvPr id="21" name="uc2-circle"/>
          <p:cNvSpPr/>
          <p:nvPr/>
        </p:nvSpPr>
        <p:spPr>
          <a:xfrm>
            <a:off x="6461608" y="2286000"/>
            <a:ext cx="594360" cy="594360"/>
          </a:xfrm>
          <a:prstGeom prst="ellipse">
            <a:avLst/>
          </a:prstGeom>
          <a:solidFill>
            <a:schemeClr val="accent1"/>
          </a:solidFill>
          <a:ln w="12700">
            <a:solidFill>
              <a:schemeClr val="accent1"/>
            </a:solidFill>
            <a:prstDash val="solid"/>
          </a:ln>
        </p:spPr>
      </p:sp>
      <p:pic>
        <p:nvPicPr>
          <p:cNvPr id="22" name="uc2-icon" descr="preencoded.png">    </p:cNvPr>
          <p:cNvPicPr>
            <a:picLocks noChangeAspect="1"/>
          </p:cNvPicPr>
          <p:nvPr/>
        </p:nvPicPr>
        <p:blipFill>
          <a:blip r:embed="rId3"/>
          <a:stretch>
            <a:fillRect/>
          </a:stretch>
        </p:blipFill>
        <p:spPr>
          <a:xfrm>
            <a:off x="6616141" y="2440534"/>
            <a:ext cx="285293" cy="285293"/>
          </a:xfrm>
          <a:prstGeom prst="rect">
            <a:avLst/>
          </a:prstGeom>
        </p:spPr>
      </p:pic>
      <p:sp>
        <p:nvSpPr>
          <p:cNvPr id="23" name="Text 18"/>
          <p:cNvSpPr txBox="1"/>
          <p:nvPr/>
        </p:nvSpPr>
        <p:spPr>
          <a:xfrm>
            <a:off x="8206511" y="2240280"/>
            <a:ext cx="411480" cy="548640"/>
          </a:xfrm>
          <a:prstGeom prst="rect">
            <a:avLst/>
          </a:prstGeom>
          <a:noFill/>
          <a:ln/>
        </p:spPr>
        <p:txBody>
          <a:bodyPr wrap="square" lIns="0" tIns="0" rIns="0" bIns="0" rtlCol="0" anchor="t"/>
          <a:lstStyle/>
          <a:p>
            <a:pPr algn="r" indent="0" marL="0">
              <a:buNone/>
            </a:pPr>
            <a:r>
              <a:rPr lang="en-US" sz="2800" b="1" dirty="0">
                <a:solidFill>
                  <a:schemeClr val="accent5"/>
                </a:solidFill>
              </a:rPr>
              <a:t>3</a:t>
            </a:r>
            <a:endParaRPr lang="en-US" sz="2800" dirty="0"/>
          </a:p>
        </p:txBody>
      </p:sp>
      <p:sp>
        <p:nvSpPr>
          <p:cNvPr id="24" name="Text 19"/>
          <p:cNvSpPr txBox="1"/>
          <p:nvPr/>
        </p:nvSpPr>
        <p:spPr>
          <a:xfrm>
            <a:off x="6461608" y="3017520"/>
            <a:ext cx="2110664" cy="594360"/>
          </a:xfrm>
          <a:prstGeom prst="rect">
            <a:avLst/>
          </a:prstGeom>
          <a:noFill/>
          <a:ln/>
        </p:spPr>
        <p:txBody>
          <a:bodyPr wrap="square" lIns="0" tIns="0" rIns="0" bIns="0" rtlCol="0" anchor="t"/>
          <a:lstStyle/>
          <a:p>
            <a:pPr indent="0" marL="0">
              <a:buNone/>
            </a:pPr>
            <a:r>
              <a:rPr lang="en-US" sz="1500" b="1" dirty="0">
                <a:solidFill>
                  <a:schemeClr val="tx1"/>
                </a:solidFill>
              </a:rPr>
              <a:t>TinyFish agents work the web</a:t>
            </a:r>
            <a:endParaRPr lang="en-US" sz="1500" dirty="0"/>
          </a:p>
        </p:txBody>
      </p:sp>
      <p:sp>
        <p:nvSpPr>
          <p:cNvPr id="25" name="Text 20"/>
          <p:cNvSpPr txBox="1"/>
          <p:nvPr/>
        </p:nvSpPr>
        <p:spPr>
          <a:xfrm>
            <a:off x="6461608" y="3611880"/>
            <a:ext cx="2110664" cy="1005840"/>
          </a:xfrm>
          <a:prstGeom prst="rect">
            <a:avLst/>
          </a:prstGeom>
          <a:noFill/>
          <a:ln/>
        </p:spPr>
        <p:txBody>
          <a:bodyPr wrap="square" lIns="0" tIns="0" rIns="0" bIns="0" rtlCol="0" anchor="t"/>
          <a:lstStyle/>
          <a:p>
            <a:pPr indent="0" marL="0">
              <a:buNone/>
            </a:pPr>
            <a:r>
              <a:rPr lang="en-US" sz="1200" dirty="0">
                <a:solidFill>
                  <a:schemeClr val="tx2"/>
                </a:solidFill>
              </a:rPr>
              <a:t>They find outside reports of the wallet, the exchange's law-enforcement process and contact, and capture evidence.</a:t>
            </a:r>
            <a:endParaRPr lang="en-US" sz="1200" dirty="0"/>
          </a:p>
        </p:txBody>
      </p:sp>
      <p:sp>
        <p:nvSpPr>
          <p:cNvPr id="26" name="uc-card3"/>
          <p:cNvSpPr/>
          <p:nvPr/>
        </p:nvSpPr>
        <p:spPr>
          <a:xfrm>
            <a:off x="9075191" y="2057400"/>
            <a:ext cx="2567864" cy="2606040"/>
          </a:xfrm>
          <a:prstGeom prst="roundRect">
            <a:avLst>
              <a:gd name="adj" fmla="val 2849"/>
            </a:avLst>
          </a:prstGeom>
          <a:solidFill>
            <a:schemeClr val="bg2"/>
          </a:solidFill>
          <a:ln w="12700">
            <a:solidFill>
              <a:schemeClr val="bg2"/>
            </a:solidFill>
            <a:prstDash val="solid"/>
          </a:ln>
        </p:spPr>
      </p:sp>
      <p:sp>
        <p:nvSpPr>
          <p:cNvPr id="27" name="uc3-circle"/>
          <p:cNvSpPr/>
          <p:nvPr/>
        </p:nvSpPr>
        <p:spPr>
          <a:xfrm>
            <a:off x="9303791" y="2286000"/>
            <a:ext cx="594360" cy="594360"/>
          </a:xfrm>
          <a:prstGeom prst="ellipse">
            <a:avLst/>
          </a:prstGeom>
          <a:solidFill>
            <a:schemeClr val="accent3"/>
          </a:solidFill>
          <a:ln w="12700">
            <a:solidFill>
              <a:schemeClr val="accent3"/>
            </a:solidFill>
            <a:prstDash val="solid"/>
          </a:ln>
        </p:spPr>
      </p:sp>
      <p:pic>
        <p:nvPicPr>
          <p:cNvPr id="28" name="uc3-icon" descr="preencoded.png">    </p:cNvPr>
          <p:cNvPicPr>
            <a:picLocks noChangeAspect="1"/>
          </p:cNvPicPr>
          <p:nvPr/>
        </p:nvPicPr>
        <p:blipFill>
          <a:blip r:embed="rId4"/>
          <a:stretch>
            <a:fillRect/>
          </a:stretch>
        </p:blipFill>
        <p:spPr>
          <a:xfrm>
            <a:off x="9458325" y="2440534"/>
            <a:ext cx="285293" cy="285293"/>
          </a:xfrm>
          <a:prstGeom prst="rect">
            <a:avLst/>
          </a:prstGeom>
        </p:spPr>
      </p:pic>
      <p:sp>
        <p:nvSpPr>
          <p:cNvPr id="29" name="Text 23"/>
          <p:cNvSpPr txBox="1"/>
          <p:nvPr/>
        </p:nvSpPr>
        <p:spPr>
          <a:xfrm>
            <a:off x="11048695" y="2240280"/>
            <a:ext cx="411480" cy="548640"/>
          </a:xfrm>
          <a:prstGeom prst="rect">
            <a:avLst/>
          </a:prstGeom>
          <a:noFill/>
          <a:ln/>
        </p:spPr>
        <p:txBody>
          <a:bodyPr wrap="square" lIns="0" tIns="0" rIns="0" bIns="0" rtlCol="0" anchor="t"/>
          <a:lstStyle/>
          <a:p>
            <a:pPr algn="r" indent="0" marL="0">
              <a:buNone/>
            </a:pPr>
            <a:r>
              <a:rPr lang="en-US" sz="2800" b="1" dirty="0">
                <a:solidFill>
                  <a:schemeClr val="accent5"/>
                </a:solidFill>
              </a:rPr>
              <a:t>4</a:t>
            </a:r>
            <a:endParaRPr lang="en-US" sz="2800" dirty="0"/>
          </a:p>
        </p:txBody>
      </p:sp>
      <p:sp>
        <p:nvSpPr>
          <p:cNvPr id="30" name="Text 24"/>
          <p:cNvSpPr txBox="1"/>
          <p:nvPr/>
        </p:nvSpPr>
        <p:spPr>
          <a:xfrm>
            <a:off x="9303791" y="3017520"/>
            <a:ext cx="2110664" cy="594360"/>
          </a:xfrm>
          <a:prstGeom prst="rect">
            <a:avLst/>
          </a:prstGeom>
          <a:noFill/>
          <a:ln/>
        </p:spPr>
        <p:txBody>
          <a:bodyPr wrap="square" lIns="0" tIns="0" rIns="0" bIns="0" rtlCol="0" anchor="t"/>
          <a:lstStyle/>
          <a:p>
            <a:pPr indent="0" marL="0">
              <a:buNone/>
            </a:pPr>
            <a:r>
              <a:rPr lang="en-US" sz="1500" b="1" dirty="0">
                <a:solidFill>
                  <a:schemeClr val="tx1"/>
                </a:solidFill>
              </a:rPr>
              <a:t>Investigator acts</a:t>
            </a:r>
            <a:endParaRPr lang="en-US" sz="1500" dirty="0"/>
          </a:p>
        </p:txBody>
      </p:sp>
      <p:sp>
        <p:nvSpPr>
          <p:cNvPr id="31" name="Text 25"/>
          <p:cNvSpPr txBox="1"/>
          <p:nvPr/>
        </p:nvSpPr>
        <p:spPr>
          <a:xfrm>
            <a:off x="9303791" y="3611880"/>
            <a:ext cx="2110664" cy="1005840"/>
          </a:xfrm>
          <a:prstGeom prst="rect">
            <a:avLst/>
          </a:prstGeom>
          <a:noFill/>
          <a:ln/>
        </p:spPr>
        <p:txBody>
          <a:bodyPr wrap="square" lIns="0" tIns="0" rIns="0" bIns="0" rtlCol="0" anchor="t"/>
          <a:lstStyle/>
          <a:p>
            <a:pPr indent="0" marL="0">
              <a:buNone/>
            </a:pPr>
            <a:r>
              <a:rPr lang="en-US" sz="1200" dirty="0">
                <a:solidFill>
                  <a:schemeClr val="tx2"/>
                </a:solidFill>
              </a:rPr>
              <a:t>One report with a ready-to-send freeze and KYC request, reviewed and sent by the officer.</a:t>
            </a:r>
            <a:endParaRPr lang="en-US" sz="1200" dirty="0"/>
          </a:p>
        </p:txBody>
      </p:sp>
      <p:sp>
        <p:nvSpPr>
          <p:cNvPr id="32" name="uc-result"/>
          <p:cNvSpPr/>
          <p:nvPr/>
        </p:nvSpPr>
        <p:spPr>
          <a:xfrm>
            <a:off x="548640" y="4937760"/>
            <a:ext cx="11094415" cy="1051560"/>
          </a:xfrm>
          <a:prstGeom prst="roundRect">
            <a:avLst>
              <a:gd name="adj" fmla="val 6957"/>
            </a:avLst>
          </a:prstGeom>
          <a:solidFill>
            <a:schemeClr val="tx1"/>
          </a:solidFill>
          <a:ln w="12700">
            <a:solidFill>
              <a:schemeClr val="tx1"/>
            </a:solidFill>
            <a:prstDash val="solid"/>
          </a:ln>
        </p:spPr>
      </p:sp>
      <p:sp>
        <p:nvSpPr>
          <p:cNvPr id="33" name="Text 27"/>
          <p:cNvSpPr txBox="1"/>
          <p:nvPr/>
        </p:nvSpPr>
        <p:spPr>
          <a:xfrm>
            <a:off x="822960" y="4983480"/>
            <a:ext cx="10545775" cy="960120"/>
          </a:xfrm>
          <a:prstGeom prst="rect">
            <a:avLst/>
          </a:prstGeom>
          <a:noFill/>
          <a:ln/>
        </p:spPr>
        <p:txBody>
          <a:bodyPr wrap="square" lIns="0" tIns="0" rIns="0" bIns="0" rtlCol="0" anchor="ctr"/>
          <a:lstStyle/>
          <a:p>
            <a:pPr indent="0" marL="0">
              <a:buNone/>
            </a:pPr>
            <a:r>
              <a:rPr lang="en-US" sz="1500" b="1" dirty="0">
                <a:solidFill>
                  <a:schemeClr val="accent1"/>
                </a:solidFill>
              </a:rPr>
              <a:t>Result:  </a:t>
            </a:r>
            <a:pPr indent="0" marL="0">
              <a:buNone/>
            </a:pPr>
            <a:r>
              <a:rPr lang="en-US" sz="1500" dirty="0">
                <a:solidFill>
                  <a:schemeClr val="bg1"/>
                </a:solidFill>
              </a:rPr>
              <a:t>hours or days of manual tracing and web research become one automated report. We will replace this with measured timings from live runs on real reported wallets.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Prototype: the investigator's case view</a:t>
            </a:r>
            <a:endParaRPr lang="en-US" sz="3200" dirty="0"/>
          </a:p>
        </p:txBody>
      </p:sp>
      <p:sp>
        <p:nvSpPr>
          <p:cNvPr id="3" name="Text 1"/>
          <p:cNvSpPr txBox="1"/>
          <p:nvPr/>
        </p:nvSpPr>
        <p:spPr>
          <a:xfrm>
            <a:off x="548640" y="1143000"/>
            <a:ext cx="8229600" cy="274320"/>
          </a:xfrm>
          <a:prstGeom prst="rect">
            <a:avLst/>
          </a:prstGeom>
          <a:noFill/>
          <a:ln/>
        </p:spPr>
        <p:txBody>
          <a:bodyPr wrap="square" lIns="0" tIns="0" rIns="0" bIns="0" rtlCol="0" anchor="t"/>
          <a:lstStyle/>
          <a:p>
            <a:pPr indent="0" marL="0">
              <a:buNone/>
            </a:pPr>
            <a:r>
              <a:rPr lang="en-US" sz="1200" i="1" dirty="0">
                <a:solidFill>
                  <a:schemeClr val="accent5"/>
                </a:solidFill>
              </a:rPr>
              <a:t>UI prototype shown on a sample scenario with synthetic wallet data.</a:t>
            </a:r>
            <a:endParaRPr lang="en-US" sz="1200" dirty="0"/>
          </a:p>
        </p:txBody>
      </p:sp>
      <p:pic>
        <p:nvPicPr>
          <p:cNvPr id="4" name="proto-kpis" descr="Summary tiles: risk lead score High 95/100, nearest VASP OKX, amount reaching VASP, graph size, time to report">    </p:cNvPr>
          <p:cNvPicPr>
            <a:picLocks noChangeAspect="1"/>
          </p:cNvPicPr>
          <p:nvPr/>
        </p:nvPicPr>
        <p:blipFill>
          <a:blip r:embed="rId1"/>
          <a:stretch>
            <a:fillRect/>
          </a:stretch>
        </p:blipFill>
        <p:spPr>
          <a:xfrm>
            <a:off x="548640" y="1508760"/>
            <a:ext cx="11094415" cy="981350"/>
          </a:xfrm>
          <a:prstGeom prst="rect">
            <a:avLst/>
          </a:prstGeom>
        </p:spPr>
      </p:pic>
      <p:pic>
        <p:nvPicPr>
          <p:cNvPr id="5" name="proto-graph" descr="Fund-flow graph from reported wallet through mules to exchange deposit addresses">    </p:cNvPr>
          <p:cNvPicPr>
            <a:picLocks noChangeAspect="1"/>
          </p:cNvPicPr>
          <p:nvPr/>
        </p:nvPicPr>
        <p:blipFill>
          <a:blip r:embed="rId2"/>
          <a:stretch>
            <a:fillRect/>
          </a:stretch>
        </p:blipFill>
        <p:spPr>
          <a:xfrm>
            <a:off x="548640" y="2627270"/>
            <a:ext cx="11094415" cy="2502099"/>
          </a:xfrm>
          <a:prstGeom prst="rect">
            <a:avLst/>
          </a:prstGeom>
        </p:spPr>
      </p:pic>
      <p:sp>
        <p:nvSpPr>
          <p:cNvPr id="6" name="leg0"/>
          <p:cNvSpPr/>
          <p:nvPr/>
        </p:nvSpPr>
        <p:spPr>
          <a:xfrm>
            <a:off x="548640" y="5376257"/>
            <a:ext cx="164592" cy="164592"/>
          </a:xfrm>
          <a:prstGeom prst="ellipse">
            <a:avLst/>
          </a:prstGeom>
          <a:solidFill>
            <a:schemeClr val="accent4"/>
          </a:solidFill>
          <a:ln w="12700">
            <a:solidFill>
              <a:schemeClr val="accent4"/>
            </a:solidFill>
            <a:prstDash val="solid"/>
          </a:ln>
        </p:spPr>
      </p:sp>
      <p:sp>
        <p:nvSpPr>
          <p:cNvPr id="7" name="Text 3"/>
          <p:cNvSpPr txBox="1"/>
          <p:nvPr/>
        </p:nvSpPr>
        <p:spPr>
          <a:xfrm>
            <a:off x="777240" y="5312249"/>
            <a:ext cx="2011680" cy="292608"/>
          </a:xfrm>
          <a:prstGeom prst="rect">
            <a:avLst/>
          </a:prstGeom>
          <a:noFill/>
          <a:ln/>
        </p:spPr>
        <p:txBody>
          <a:bodyPr wrap="square" lIns="0" tIns="0" rIns="0" bIns="0" rtlCol="0" anchor="ctr"/>
          <a:lstStyle/>
          <a:p>
            <a:pPr indent="0" marL="0">
              <a:buNone/>
            </a:pPr>
            <a:r>
              <a:rPr lang="en-US" sz="1200" dirty="0">
                <a:solidFill>
                  <a:schemeClr val="tx2"/>
                </a:solidFill>
              </a:rPr>
              <a:t>Reported wallet</a:t>
            </a:r>
            <a:endParaRPr lang="en-US" sz="1200" dirty="0"/>
          </a:p>
        </p:txBody>
      </p:sp>
      <p:sp>
        <p:nvSpPr>
          <p:cNvPr id="8" name="leg1"/>
          <p:cNvSpPr/>
          <p:nvPr/>
        </p:nvSpPr>
        <p:spPr>
          <a:xfrm>
            <a:off x="2080260" y="5376257"/>
            <a:ext cx="164592" cy="164592"/>
          </a:xfrm>
          <a:prstGeom prst="ellipse">
            <a:avLst/>
          </a:prstGeom>
          <a:solidFill>
            <a:srgbClr val="7C3AED"/>
          </a:solidFill>
          <a:ln w="12700">
            <a:solidFill>
              <a:srgbClr val="7C3AED"/>
            </a:solidFill>
            <a:prstDash val="solid"/>
          </a:ln>
        </p:spPr>
      </p:sp>
      <p:sp>
        <p:nvSpPr>
          <p:cNvPr id="9" name="Text 5"/>
          <p:cNvSpPr txBox="1"/>
          <p:nvPr/>
        </p:nvSpPr>
        <p:spPr>
          <a:xfrm>
            <a:off x="2308860" y="5312249"/>
            <a:ext cx="2011680" cy="292608"/>
          </a:xfrm>
          <a:prstGeom prst="rect">
            <a:avLst/>
          </a:prstGeom>
          <a:noFill/>
          <a:ln/>
        </p:spPr>
        <p:txBody>
          <a:bodyPr wrap="square" lIns="0" tIns="0" rIns="0" bIns="0" rtlCol="0" anchor="ctr"/>
          <a:lstStyle/>
          <a:p>
            <a:pPr indent="0" marL="0">
              <a:buNone/>
            </a:pPr>
            <a:r>
              <a:rPr lang="en-US" sz="1200" dirty="0">
                <a:solidFill>
                  <a:schemeClr val="tx2"/>
                </a:solidFill>
              </a:rPr>
              <a:t>Victim-side senders</a:t>
            </a:r>
            <a:endParaRPr lang="en-US" sz="1200" dirty="0"/>
          </a:p>
        </p:txBody>
      </p:sp>
      <p:sp>
        <p:nvSpPr>
          <p:cNvPr id="10" name="leg2"/>
          <p:cNvSpPr/>
          <p:nvPr/>
        </p:nvSpPr>
        <p:spPr>
          <a:xfrm>
            <a:off x="3922776" y="5376257"/>
            <a:ext cx="164592" cy="164592"/>
          </a:xfrm>
          <a:prstGeom prst="ellipse">
            <a:avLst/>
          </a:prstGeom>
          <a:solidFill>
            <a:schemeClr val="accent5"/>
          </a:solidFill>
          <a:ln w="12700">
            <a:solidFill>
              <a:schemeClr val="accent5"/>
            </a:solidFill>
            <a:prstDash val="solid"/>
          </a:ln>
        </p:spPr>
      </p:sp>
      <p:sp>
        <p:nvSpPr>
          <p:cNvPr id="11" name="Text 7"/>
          <p:cNvSpPr txBox="1"/>
          <p:nvPr/>
        </p:nvSpPr>
        <p:spPr>
          <a:xfrm>
            <a:off x="4151376" y="5312249"/>
            <a:ext cx="2011680" cy="292608"/>
          </a:xfrm>
          <a:prstGeom prst="rect">
            <a:avLst/>
          </a:prstGeom>
          <a:noFill/>
          <a:ln/>
        </p:spPr>
        <p:txBody>
          <a:bodyPr wrap="square" lIns="0" tIns="0" rIns="0" bIns="0" rtlCol="0" anchor="ctr"/>
          <a:lstStyle/>
          <a:p>
            <a:pPr indent="0" marL="0">
              <a:buNone/>
            </a:pPr>
            <a:r>
              <a:rPr lang="en-US" sz="1200" dirty="0">
                <a:solidFill>
                  <a:schemeClr val="tx2"/>
                </a:solidFill>
              </a:rPr>
              <a:t>Intermediaries</a:t>
            </a:r>
            <a:endParaRPr lang="en-US" sz="1200" dirty="0"/>
          </a:p>
        </p:txBody>
      </p:sp>
      <p:sp>
        <p:nvSpPr>
          <p:cNvPr id="12" name="leg3"/>
          <p:cNvSpPr/>
          <p:nvPr/>
        </p:nvSpPr>
        <p:spPr>
          <a:xfrm>
            <a:off x="5376672" y="5376257"/>
            <a:ext cx="164592" cy="164592"/>
          </a:xfrm>
          <a:prstGeom prst="ellipse">
            <a:avLst/>
          </a:prstGeom>
          <a:solidFill>
            <a:schemeClr val="accent1"/>
          </a:solidFill>
          <a:ln w="12700">
            <a:solidFill>
              <a:schemeClr val="accent1"/>
            </a:solidFill>
            <a:prstDash val="solid"/>
          </a:ln>
        </p:spPr>
      </p:sp>
      <p:sp>
        <p:nvSpPr>
          <p:cNvPr id="13" name="Text 9"/>
          <p:cNvSpPr txBox="1"/>
          <p:nvPr/>
        </p:nvSpPr>
        <p:spPr>
          <a:xfrm>
            <a:off x="5605272" y="5312249"/>
            <a:ext cx="2011680" cy="292608"/>
          </a:xfrm>
          <a:prstGeom prst="rect">
            <a:avLst/>
          </a:prstGeom>
          <a:noFill/>
          <a:ln/>
        </p:spPr>
        <p:txBody>
          <a:bodyPr wrap="square" lIns="0" tIns="0" rIns="0" bIns="0" rtlCol="0" anchor="ctr"/>
          <a:lstStyle/>
          <a:p>
            <a:pPr indent="0" marL="0">
              <a:buNone/>
            </a:pPr>
            <a:r>
              <a:rPr lang="en-US" sz="1200" dirty="0">
                <a:solidFill>
                  <a:schemeClr val="tx2"/>
                </a:solidFill>
              </a:rPr>
              <a:t>Exchange deposit address</a:t>
            </a:r>
            <a:endParaRPr lang="en-US" sz="1200" dirty="0"/>
          </a:p>
        </p:txBody>
      </p:sp>
      <p:sp>
        <p:nvSpPr>
          <p:cNvPr id="14" name="leg4"/>
          <p:cNvSpPr/>
          <p:nvPr/>
        </p:nvSpPr>
        <p:spPr>
          <a:xfrm>
            <a:off x="7607808" y="5376257"/>
            <a:ext cx="164592" cy="164592"/>
          </a:xfrm>
          <a:prstGeom prst="ellipse">
            <a:avLst/>
          </a:prstGeom>
          <a:solidFill>
            <a:schemeClr val="accent3"/>
          </a:solidFill>
          <a:ln w="12700">
            <a:solidFill>
              <a:schemeClr val="accent3"/>
            </a:solidFill>
            <a:prstDash val="solid"/>
          </a:ln>
        </p:spPr>
      </p:sp>
      <p:sp>
        <p:nvSpPr>
          <p:cNvPr id="15" name="Text 11"/>
          <p:cNvSpPr txBox="1"/>
          <p:nvPr/>
        </p:nvSpPr>
        <p:spPr>
          <a:xfrm>
            <a:off x="7836408" y="5312249"/>
            <a:ext cx="2011680" cy="292608"/>
          </a:xfrm>
          <a:prstGeom prst="rect">
            <a:avLst/>
          </a:prstGeom>
          <a:noFill/>
          <a:ln/>
        </p:spPr>
        <p:txBody>
          <a:bodyPr wrap="square" lIns="0" tIns="0" rIns="0" bIns="0" rtlCol="0" anchor="ctr"/>
          <a:lstStyle/>
          <a:p>
            <a:pPr indent="0" marL="0">
              <a:buNone/>
            </a:pPr>
            <a:r>
              <a:rPr lang="en-US" sz="1200" dirty="0">
                <a:solidFill>
                  <a:schemeClr val="tx2"/>
                </a:solidFill>
              </a:rPr>
              <a:t>Exchange wallet</a:t>
            </a:r>
            <a:endParaRPr lang="en-US" sz="1200" dirty="0"/>
          </a:p>
        </p:txBody>
      </p:sp>
      <p:sp>
        <p:nvSpPr>
          <p:cNvPr id="16" name="leg5"/>
          <p:cNvSpPr/>
          <p:nvPr/>
        </p:nvSpPr>
        <p:spPr>
          <a:xfrm>
            <a:off x="9139428" y="5376257"/>
            <a:ext cx="164592" cy="164592"/>
          </a:xfrm>
          <a:prstGeom prst="ellipse">
            <a:avLst/>
          </a:prstGeom>
          <a:solidFill>
            <a:schemeClr val="accent6"/>
          </a:solidFill>
          <a:ln w="12700">
            <a:solidFill>
              <a:schemeClr val="accent6"/>
            </a:solidFill>
            <a:prstDash val="solid"/>
          </a:ln>
        </p:spPr>
      </p:sp>
      <p:sp>
        <p:nvSpPr>
          <p:cNvPr id="17" name="Text 13"/>
          <p:cNvSpPr txBox="1"/>
          <p:nvPr/>
        </p:nvSpPr>
        <p:spPr>
          <a:xfrm>
            <a:off x="9368028" y="5312249"/>
            <a:ext cx="2011680" cy="292608"/>
          </a:xfrm>
          <a:prstGeom prst="rect">
            <a:avLst/>
          </a:prstGeom>
          <a:noFill/>
          <a:ln/>
        </p:spPr>
        <p:txBody>
          <a:bodyPr wrap="square" lIns="0" tIns="0" rIns="0" bIns="0" rtlCol="0" anchor="ctr"/>
          <a:lstStyle/>
          <a:p>
            <a:pPr indent="0" marL="0">
              <a:buNone/>
            </a:pPr>
            <a:r>
              <a:rPr lang="en-US" sz="1200" dirty="0">
                <a:solidFill>
                  <a:schemeClr val="tx2"/>
                </a:solidFill>
              </a:rPr>
              <a:t>Bridge</a:t>
            </a:r>
            <a:endParaRPr lang="en-US" sz="1200" dirty="0"/>
          </a:p>
        </p:txBody>
      </p:sp>
      <p:sp>
        <p:nvSpPr>
          <p:cNvPr id="18" name="Text 14"/>
          <p:cNvSpPr txBox="1"/>
          <p:nvPr/>
        </p:nvSpPr>
        <p:spPr>
          <a:xfrm>
            <a:off x="548640" y="5723729"/>
            <a:ext cx="11094415" cy="502920"/>
          </a:xfrm>
          <a:prstGeom prst="rect">
            <a:avLst/>
          </a:prstGeom>
          <a:noFill/>
          <a:ln/>
        </p:spPr>
        <p:txBody>
          <a:bodyPr wrap="square" lIns="0" tIns="0" rIns="0" bIns="0" rtlCol="0" anchor="t"/>
          <a:lstStyle/>
          <a:p>
            <a:pPr indent="0" marL="0">
              <a:buNone/>
            </a:pPr>
            <a:r>
              <a:rPr lang="en-US" sz="1300" dirty="0">
                <a:solidFill>
                  <a:schemeClr val="tx1"/>
                </a:solidFill>
              </a:rPr>
              <a:t>Highlighted path: funds from the reported wallet reach an exchange deposit address in 3 hops. Patterns detected: fan-in, pass-through, fan-out and a peel chain.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Prototype: exchange contact and freeze request</a:t>
            </a:r>
            <a:endParaRPr lang="en-US" sz="3200" dirty="0"/>
          </a:p>
        </p:txBody>
      </p:sp>
      <p:sp>
        <p:nvSpPr>
          <p:cNvPr id="3" name="Text 1"/>
          <p:cNvSpPr txBox="1"/>
          <p:nvPr/>
        </p:nvSpPr>
        <p:spPr>
          <a:xfrm>
            <a:off x="548640" y="1143000"/>
            <a:ext cx="10058400" cy="274320"/>
          </a:xfrm>
          <a:prstGeom prst="rect">
            <a:avLst/>
          </a:prstGeom>
          <a:noFill/>
          <a:ln/>
        </p:spPr>
        <p:txBody>
          <a:bodyPr wrap="square" lIns="0" tIns="0" rIns="0" bIns="0" rtlCol="0" anchor="t"/>
          <a:lstStyle/>
          <a:p>
            <a:pPr indent="0" marL="0">
              <a:buNone/>
            </a:pPr>
            <a:r>
              <a:rPr lang="en-US" sz="1200" i="1" dirty="0">
                <a:solidFill>
                  <a:schemeClr val="accent5"/>
                </a:solidFill>
              </a:rPr>
              <a:t>UI prototype on the same sample scenario; contact details are illustrative until the live agent runs.</a:t>
            </a:r>
            <a:endParaRPr lang="en-US" sz="1200" dirty="0"/>
          </a:p>
        </p:txBody>
      </p:sp>
      <p:pic>
        <p:nvPicPr>
          <p:cNvPr id="4" name="proto-vasp" descr="Exchange contact card with deposit address, request portal, process steps and required documents">    </p:cNvPr>
          <p:cNvPicPr>
            <a:picLocks noChangeAspect="1"/>
          </p:cNvPicPr>
          <p:nvPr/>
        </p:nvPicPr>
        <p:blipFill>
          <a:blip r:embed="rId1"/>
          <a:stretch>
            <a:fillRect/>
          </a:stretch>
        </p:blipFill>
        <p:spPr>
          <a:xfrm>
            <a:off x="548640" y="1554480"/>
            <a:ext cx="7315200" cy="2043352"/>
          </a:xfrm>
          <a:prstGeom prst="rect">
            <a:avLst/>
          </a:prstGeom>
        </p:spPr>
      </p:pic>
      <p:pic>
        <p:nvPicPr>
          <p:cNvPr id="5" name="proto-letter" descr="Draft freeze and KYC disclosure request pre-filled with deposit address, amount and transaction hashes">    </p:cNvPr>
          <p:cNvPicPr>
            <a:picLocks noChangeAspect="1"/>
          </p:cNvPicPr>
          <p:nvPr/>
        </p:nvPicPr>
        <p:blipFill>
          <a:blip r:embed="rId2"/>
          <a:stretch>
            <a:fillRect/>
          </a:stretch>
        </p:blipFill>
        <p:spPr>
          <a:xfrm>
            <a:off x="548640" y="3826432"/>
            <a:ext cx="7315200" cy="2349855"/>
          </a:xfrm>
          <a:prstGeom prst="rect">
            <a:avLst/>
          </a:prstGeom>
        </p:spPr>
      </p:pic>
      <p:sp>
        <p:nvSpPr>
          <p:cNvPr id="6" name="Text 2"/>
          <p:cNvSpPr txBox="1"/>
          <p:nvPr/>
        </p:nvSpPr>
        <p:spPr>
          <a:xfrm>
            <a:off x="8183880" y="1600200"/>
            <a:ext cx="3459175" cy="1463040"/>
          </a:xfrm>
          <a:prstGeom prst="rect">
            <a:avLst/>
          </a:prstGeom>
          <a:noFill/>
          <a:ln/>
        </p:spPr>
        <p:txBody>
          <a:bodyPr wrap="square" lIns="0" tIns="0" rIns="0" bIns="0" rtlCol="0" anchor="t"/>
          <a:lstStyle/>
          <a:p>
            <a:pPr indent="0" marL="0">
              <a:buNone/>
            </a:pPr>
            <a:r>
              <a:rPr lang="en-US" sz="1300" b="1" dirty="0">
                <a:solidFill>
                  <a:schemeClr val="tx1"/>
                </a:solidFill>
              </a:rPr>
              <a:t>Exchange contact card</a:t>
            </a:r>
            <a:endParaRPr lang="en-US" sz="1300" dirty="0"/>
          </a:p>
          <a:p>
            <a:pPr indent="0" marL="0">
              <a:buNone/>
            </a:pPr>
            <a:r>
              <a:rPr lang="en-US" sz="1300" dirty="0">
                <a:solidFill>
                  <a:schemeClr val="tx2"/>
                </a:solidFill>
              </a:rPr>
              <a:t>Deposit address to freeze, path and amount, request portal, process steps and required documents found by the TinyFish agent.</a:t>
            </a:r>
            <a:endParaRPr lang="en-US" sz="1300" dirty="0"/>
          </a:p>
        </p:txBody>
      </p:sp>
      <p:sp>
        <p:nvSpPr>
          <p:cNvPr id="7" name="Text 3"/>
          <p:cNvSpPr txBox="1"/>
          <p:nvPr/>
        </p:nvSpPr>
        <p:spPr>
          <a:xfrm>
            <a:off x="8183880" y="3872152"/>
            <a:ext cx="3459175" cy="1463040"/>
          </a:xfrm>
          <a:prstGeom prst="rect">
            <a:avLst/>
          </a:prstGeom>
          <a:noFill/>
          <a:ln/>
        </p:spPr>
        <p:txBody>
          <a:bodyPr wrap="square" lIns="0" tIns="0" rIns="0" bIns="0" rtlCol="0" anchor="t"/>
          <a:lstStyle/>
          <a:p>
            <a:pPr indent="0" marL="0">
              <a:buNone/>
            </a:pPr>
            <a:r>
              <a:rPr lang="en-US" sz="1300" b="1" dirty="0">
                <a:solidFill>
                  <a:schemeClr val="tx1"/>
                </a:solidFill>
              </a:rPr>
              <a:t>Draft freeze and KYC request</a:t>
            </a:r>
            <a:endParaRPr lang="en-US" sz="1300" dirty="0"/>
          </a:p>
          <a:p>
            <a:pPr indent="0" marL="0">
              <a:buNone/>
            </a:pPr>
            <a:r>
              <a:rPr lang="en-US" sz="1300" dirty="0">
                <a:solidFill>
                  <a:schemeClr val="tx2"/>
                </a:solidFill>
              </a:rPr>
              <a:t>Pre-filled with the complaint reference, deposit address, amount and transaction hashes. The officer reviews, edits and sends it.</a:t>
            </a:r>
            <a:endParaRPr lang="en-US" sz="1300" dirty="0"/>
          </a:p>
        </p:txBody>
      </p:sp>
      <p:sp>
        <p:nvSpPr>
          <p:cNvPr id="8" name="proto-also"/>
          <p:cNvSpPr/>
          <p:nvPr/>
        </p:nvSpPr>
        <p:spPr>
          <a:xfrm>
            <a:off x="8183880" y="4846320"/>
            <a:ext cx="3459175" cy="1325880"/>
          </a:xfrm>
          <a:prstGeom prst="roundRect">
            <a:avLst>
              <a:gd name="adj" fmla="val 5517"/>
            </a:avLst>
          </a:prstGeom>
          <a:solidFill>
            <a:schemeClr val="bg2"/>
          </a:solidFill>
          <a:ln w="12700">
            <a:solidFill>
              <a:schemeClr val="bg2"/>
            </a:solidFill>
            <a:prstDash val="solid"/>
          </a:ln>
        </p:spPr>
      </p:sp>
      <p:sp>
        <p:nvSpPr>
          <p:cNvPr id="9" name="Text 5"/>
          <p:cNvSpPr txBox="1"/>
          <p:nvPr/>
        </p:nvSpPr>
        <p:spPr>
          <a:xfrm>
            <a:off x="8366760" y="4892040"/>
            <a:ext cx="3093415" cy="1234440"/>
          </a:xfrm>
          <a:prstGeom prst="rect">
            <a:avLst/>
          </a:prstGeom>
          <a:noFill/>
          <a:ln/>
        </p:spPr>
        <p:txBody>
          <a:bodyPr wrap="square" lIns="0" tIns="0" rIns="0" bIns="0" rtlCol="0" anchor="ctr"/>
          <a:lstStyle/>
          <a:p>
            <a:pPr indent="0" marL="0">
              <a:buNone/>
            </a:pPr>
            <a:r>
              <a:rPr lang="en-US" sz="1200" dirty="0">
                <a:solidFill>
                  <a:schemeClr val="tx1"/>
                </a:solidFill>
              </a:rPr>
              <a:t>Also in the prototype: confirmed wallet mentions, an evidence table with UTC timestamps and SHA-256 hashes, an itemised risk score and a PDF report.</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949440" cy="1188720"/>
          </a:xfrm>
          <a:prstGeom prst="rect">
            <a:avLst/>
          </a:prstGeom>
          <a:noFill/>
          <a:ln/>
        </p:spPr>
        <p:txBody>
          <a:bodyPr wrap="square" lIns="0" tIns="0" rIns="0" bIns="0" rtlCol="0" anchor="b"/>
          <a:lstStyle/>
          <a:p>
            <a:pPr algn="l" indent="0" marL="0">
              <a:buNone/>
            </a:pPr>
            <a:r>
              <a:rPr lang="en-US" sz="5400" b="1" dirty="0">
                <a:solidFill>
                  <a:schemeClr val="bg1"/>
                </a:solidFill>
                <a:latin typeface="Arial" pitchFamily="34" charset="0"/>
                <a:ea typeface="Arial" pitchFamily="34" charset="-122"/>
                <a:cs typeface="Arial" pitchFamily="34" charset="-120"/>
              </a:rPr>
              <a:t>Faster freezes, fewer losses</a:t>
            </a:r>
            <a:endParaRPr lang="en-US" sz="5400" dirty="0"/>
          </a:p>
        </p:txBody>
      </p:sp>
      <p:sp>
        <p:nvSpPr>
          <p:cNvPr id="3" name="Text 0"/>
          <p:cNvSpPr/>
          <p:nvPr>
            <p:ph idx="101" type="body" hasCustomPrompt="1"/>
          </p:nvPr>
        </p:nvSpPr>
        <p:spPr>
          <a:xfrm>
            <a:off x="548640" y="3337560"/>
            <a:ext cx="6583680" cy="1188720"/>
          </a:xfrm>
          <a:prstGeom prst="rect">
            <a:avLst/>
          </a:prstGeom>
          <a:noFill/>
          <a:ln/>
        </p:spPr>
        <p:txBody>
          <a:bodyPr wrap="square" lIns="0" tIns="0" rIns="0" bIns="0" rtlCol="0" anchor="t"/>
          <a:lstStyle/>
          <a:p>
            <a:pPr algn="l" indent="0" marL="0">
              <a:buNone/>
            </a:pPr>
            <a:r>
              <a:rPr lang="en-US" sz="2200" dirty="0">
                <a:solidFill>
                  <a:schemeClr val="bg2"/>
                </a:solidFill>
              </a:rPr>
              <a:t>ChainSight turns a reported wallet into the exchange, the contact and the evidence an investigator needs to act while the money is still there.</a:t>
            </a:r>
            <a:endParaRPr lang="en-US" sz="2200" dirty="0"/>
          </a:p>
        </p:txBody>
      </p:sp>
      <p:sp>
        <p:nvSpPr>
          <p:cNvPr id="4" name="Text 2"/>
          <p:cNvSpPr txBox="1"/>
          <p:nvPr/>
        </p:nvSpPr>
        <p:spPr>
          <a:xfrm>
            <a:off x="7863840" y="1188720"/>
            <a:ext cx="3657600" cy="320040"/>
          </a:xfrm>
          <a:prstGeom prst="rect">
            <a:avLst/>
          </a:prstGeom>
          <a:noFill/>
          <a:ln/>
        </p:spPr>
        <p:txBody>
          <a:bodyPr wrap="square" lIns="0" tIns="0" rIns="0" bIns="0" rtlCol="0" anchor="t"/>
          <a:lstStyle/>
          <a:p>
            <a:pPr indent="0" marL="0">
              <a:buNone/>
            </a:pPr>
            <a:r>
              <a:rPr lang="en-US" sz="1300" b="1" dirty="0">
                <a:solidFill>
                  <a:schemeClr val="accent1"/>
                </a:solidFill>
              </a:rPr>
              <a:t>ROADMAP</a:t>
            </a:r>
            <a:endParaRPr lang="en-US" sz="1300" dirty="0"/>
          </a:p>
        </p:txBody>
      </p:sp>
      <p:sp>
        <p:nvSpPr>
          <p:cNvPr id="5" name="road-dot0"/>
          <p:cNvSpPr/>
          <p:nvPr/>
        </p:nvSpPr>
        <p:spPr>
          <a:xfrm>
            <a:off x="7863840" y="1719072"/>
            <a:ext cx="274320" cy="274320"/>
          </a:xfrm>
          <a:prstGeom prst="ellipse">
            <a:avLst/>
          </a:prstGeom>
          <a:solidFill>
            <a:schemeClr val="accent1"/>
          </a:solidFill>
          <a:ln w="12700">
            <a:solidFill>
              <a:srgbClr val="0B1220"/>
            </a:solidFill>
            <a:prstDash val="solid"/>
          </a:ln>
        </p:spPr>
      </p:sp>
      <p:sp>
        <p:nvSpPr>
          <p:cNvPr id="6" name="road-line0"/>
          <p:cNvSpPr/>
          <p:nvPr/>
        </p:nvSpPr>
        <p:spPr>
          <a:xfrm>
            <a:off x="8001000" y="1993392"/>
            <a:ext cx="0" cy="411480"/>
          </a:xfrm>
          <a:prstGeom prst="line">
            <a:avLst/>
          </a:prstGeom>
          <a:noFill/>
          <a:ln w="25400">
            <a:solidFill>
              <a:schemeClr val="accent1"/>
            </a:solidFill>
            <a:prstDash val="dash"/>
          </a:ln>
        </p:spPr>
      </p:sp>
      <p:sp>
        <p:nvSpPr>
          <p:cNvPr id="7" name="Text 5"/>
          <p:cNvSpPr txBox="1"/>
          <p:nvPr/>
        </p:nvSpPr>
        <p:spPr>
          <a:xfrm>
            <a:off x="8321040" y="1645920"/>
            <a:ext cx="3383280" cy="411480"/>
          </a:xfrm>
          <a:prstGeom prst="rect">
            <a:avLst/>
          </a:prstGeom>
          <a:noFill/>
          <a:ln/>
        </p:spPr>
        <p:txBody>
          <a:bodyPr wrap="square" lIns="0" tIns="0" rIns="0" bIns="0" rtlCol="0" anchor="ctr"/>
          <a:lstStyle/>
          <a:p>
            <a:pPr indent="0" marL="0">
              <a:buNone/>
            </a:pPr>
            <a:r>
              <a:rPr lang="en-US" sz="1500" dirty="0">
                <a:solidFill>
                  <a:schemeClr val="bg1"/>
                </a:solidFill>
              </a:rPr>
              <a:t>More chains (Bitcoin and others)</a:t>
            </a:r>
            <a:endParaRPr lang="en-US" sz="1500" dirty="0"/>
          </a:p>
        </p:txBody>
      </p:sp>
      <p:sp>
        <p:nvSpPr>
          <p:cNvPr id="8" name="road-dot1"/>
          <p:cNvSpPr/>
          <p:nvPr/>
        </p:nvSpPr>
        <p:spPr>
          <a:xfrm>
            <a:off x="7863840" y="2404872"/>
            <a:ext cx="274320" cy="274320"/>
          </a:xfrm>
          <a:prstGeom prst="ellipse">
            <a:avLst/>
          </a:prstGeom>
          <a:solidFill>
            <a:schemeClr val="accent1"/>
          </a:solidFill>
          <a:ln w="12700">
            <a:solidFill>
              <a:srgbClr val="0B1220"/>
            </a:solidFill>
            <a:prstDash val="solid"/>
          </a:ln>
        </p:spPr>
      </p:sp>
      <p:sp>
        <p:nvSpPr>
          <p:cNvPr id="9" name="road-line1"/>
          <p:cNvSpPr/>
          <p:nvPr/>
        </p:nvSpPr>
        <p:spPr>
          <a:xfrm>
            <a:off x="8001000" y="2679192"/>
            <a:ext cx="0" cy="411480"/>
          </a:xfrm>
          <a:prstGeom prst="line">
            <a:avLst/>
          </a:prstGeom>
          <a:noFill/>
          <a:ln w="25400">
            <a:solidFill>
              <a:schemeClr val="accent1"/>
            </a:solidFill>
            <a:prstDash val="dash"/>
          </a:ln>
        </p:spPr>
      </p:sp>
      <p:sp>
        <p:nvSpPr>
          <p:cNvPr id="10" name="Text 8"/>
          <p:cNvSpPr txBox="1"/>
          <p:nvPr/>
        </p:nvSpPr>
        <p:spPr>
          <a:xfrm>
            <a:off x="8321040" y="2331720"/>
            <a:ext cx="3383280" cy="411480"/>
          </a:xfrm>
          <a:prstGeom prst="rect">
            <a:avLst/>
          </a:prstGeom>
          <a:noFill/>
          <a:ln/>
        </p:spPr>
        <p:txBody>
          <a:bodyPr wrap="square" lIns="0" tIns="0" rIns="0" bIns="0" rtlCol="0" anchor="ctr"/>
          <a:lstStyle/>
          <a:p>
            <a:pPr indent="0" marL="0">
              <a:buNone/>
            </a:pPr>
            <a:r>
              <a:rPr lang="en-US" sz="1500" dirty="0">
                <a:solidFill>
                  <a:schemeClr val="bg1"/>
                </a:solidFill>
              </a:rPr>
              <a:t>Bridge and cross-chain tracing</a:t>
            </a:r>
            <a:endParaRPr lang="en-US" sz="1500" dirty="0"/>
          </a:p>
        </p:txBody>
      </p:sp>
      <p:sp>
        <p:nvSpPr>
          <p:cNvPr id="11" name="road-dot2"/>
          <p:cNvSpPr/>
          <p:nvPr/>
        </p:nvSpPr>
        <p:spPr>
          <a:xfrm>
            <a:off x="7863840" y="3090672"/>
            <a:ext cx="274320" cy="274320"/>
          </a:xfrm>
          <a:prstGeom prst="ellipse">
            <a:avLst/>
          </a:prstGeom>
          <a:solidFill>
            <a:schemeClr val="accent1"/>
          </a:solidFill>
          <a:ln w="12700">
            <a:solidFill>
              <a:srgbClr val="0B1220"/>
            </a:solidFill>
            <a:prstDash val="solid"/>
          </a:ln>
        </p:spPr>
      </p:sp>
      <p:sp>
        <p:nvSpPr>
          <p:cNvPr id="12" name="road-line2"/>
          <p:cNvSpPr/>
          <p:nvPr/>
        </p:nvSpPr>
        <p:spPr>
          <a:xfrm>
            <a:off x="8001000" y="3364992"/>
            <a:ext cx="0" cy="411480"/>
          </a:xfrm>
          <a:prstGeom prst="line">
            <a:avLst/>
          </a:prstGeom>
          <a:noFill/>
          <a:ln w="25400">
            <a:solidFill>
              <a:schemeClr val="accent1"/>
            </a:solidFill>
            <a:prstDash val="dash"/>
          </a:ln>
        </p:spPr>
      </p:sp>
      <p:sp>
        <p:nvSpPr>
          <p:cNvPr id="13" name="Text 11"/>
          <p:cNvSpPr txBox="1"/>
          <p:nvPr/>
        </p:nvSpPr>
        <p:spPr>
          <a:xfrm>
            <a:off x="8321040" y="3017520"/>
            <a:ext cx="3383280" cy="411480"/>
          </a:xfrm>
          <a:prstGeom prst="rect">
            <a:avLst/>
          </a:prstGeom>
          <a:noFill/>
          <a:ln/>
        </p:spPr>
        <p:txBody>
          <a:bodyPr wrap="square" lIns="0" tIns="0" rIns="0" bIns="0" rtlCol="0" anchor="ctr"/>
          <a:lstStyle/>
          <a:p>
            <a:pPr indent="0" marL="0">
              <a:buNone/>
            </a:pPr>
            <a:r>
              <a:rPr lang="en-US" sz="1500" dirty="0">
                <a:solidFill>
                  <a:schemeClr val="bg1"/>
                </a:solidFill>
              </a:rPr>
              <a:t>P2P seller intelligence module</a:t>
            </a:r>
            <a:endParaRPr lang="en-US" sz="1500" dirty="0"/>
          </a:p>
        </p:txBody>
      </p:sp>
      <p:sp>
        <p:nvSpPr>
          <p:cNvPr id="14" name="road-dot3"/>
          <p:cNvSpPr/>
          <p:nvPr/>
        </p:nvSpPr>
        <p:spPr>
          <a:xfrm>
            <a:off x="7863840" y="3776472"/>
            <a:ext cx="274320" cy="274320"/>
          </a:xfrm>
          <a:prstGeom prst="ellipse">
            <a:avLst/>
          </a:prstGeom>
          <a:solidFill>
            <a:schemeClr val="accent1"/>
          </a:solidFill>
          <a:ln w="12700">
            <a:solidFill>
              <a:srgbClr val="0B1220"/>
            </a:solidFill>
            <a:prstDash val="solid"/>
          </a:ln>
        </p:spPr>
      </p:sp>
      <p:sp>
        <p:nvSpPr>
          <p:cNvPr id="15" name="road-line3"/>
          <p:cNvSpPr/>
          <p:nvPr/>
        </p:nvSpPr>
        <p:spPr>
          <a:xfrm>
            <a:off x="8001000" y="4050792"/>
            <a:ext cx="0" cy="411480"/>
          </a:xfrm>
          <a:prstGeom prst="line">
            <a:avLst/>
          </a:prstGeom>
          <a:noFill/>
          <a:ln w="25400">
            <a:solidFill>
              <a:schemeClr val="accent1"/>
            </a:solidFill>
            <a:prstDash val="dash"/>
          </a:ln>
        </p:spPr>
      </p:sp>
      <p:sp>
        <p:nvSpPr>
          <p:cNvPr id="16" name="Text 14"/>
          <p:cNvSpPr txBox="1"/>
          <p:nvPr/>
        </p:nvSpPr>
        <p:spPr>
          <a:xfrm>
            <a:off x="8321040" y="3703320"/>
            <a:ext cx="3383280" cy="411480"/>
          </a:xfrm>
          <a:prstGeom prst="rect">
            <a:avLst/>
          </a:prstGeom>
          <a:noFill/>
          <a:ln/>
        </p:spPr>
        <p:txBody>
          <a:bodyPr wrap="square" lIns="0" tIns="0" rIns="0" bIns="0" rtlCol="0" anchor="ctr"/>
          <a:lstStyle/>
          <a:p>
            <a:pPr indent="0" marL="0">
              <a:buNone/>
            </a:pPr>
            <a:r>
              <a:rPr lang="en-US" sz="1500" dirty="0">
                <a:solidFill>
                  <a:schemeClr val="bg1"/>
                </a:solidFill>
              </a:rPr>
              <a:t>Address-poisoning guard</a:t>
            </a:r>
            <a:endParaRPr lang="en-US" sz="1500" dirty="0"/>
          </a:p>
        </p:txBody>
      </p:sp>
      <p:sp>
        <p:nvSpPr>
          <p:cNvPr id="17" name="road-dot4"/>
          <p:cNvSpPr/>
          <p:nvPr/>
        </p:nvSpPr>
        <p:spPr>
          <a:xfrm>
            <a:off x="7863840" y="4462272"/>
            <a:ext cx="274320" cy="274320"/>
          </a:xfrm>
          <a:prstGeom prst="ellipse">
            <a:avLst/>
          </a:prstGeom>
          <a:solidFill>
            <a:schemeClr val="accent1"/>
          </a:solidFill>
          <a:ln w="12700">
            <a:solidFill>
              <a:srgbClr val="0B1220"/>
            </a:solidFill>
            <a:prstDash val="solid"/>
          </a:ln>
        </p:spPr>
      </p:sp>
      <p:sp>
        <p:nvSpPr>
          <p:cNvPr id="18" name="road-line4"/>
          <p:cNvSpPr/>
          <p:nvPr/>
        </p:nvSpPr>
        <p:spPr>
          <a:xfrm>
            <a:off x="8001000" y="4736592"/>
            <a:ext cx="0" cy="411480"/>
          </a:xfrm>
          <a:prstGeom prst="line">
            <a:avLst/>
          </a:prstGeom>
          <a:noFill/>
          <a:ln w="25400">
            <a:solidFill>
              <a:schemeClr val="accent1"/>
            </a:solidFill>
            <a:prstDash val="dash"/>
          </a:ln>
        </p:spPr>
      </p:sp>
      <p:sp>
        <p:nvSpPr>
          <p:cNvPr id="19" name="Text 17"/>
          <p:cNvSpPr txBox="1"/>
          <p:nvPr/>
        </p:nvSpPr>
        <p:spPr>
          <a:xfrm>
            <a:off x="8321040" y="4389120"/>
            <a:ext cx="3383280" cy="411480"/>
          </a:xfrm>
          <a:prstGeom prst="rect">
            <a:avLst/>
          </a:prstGeom>
          <a:noFill/>
          <a:ln/>
        </p:spPr>
        <p:txBody>
          <a:bodyPr wrap="square" lIns="0" tIns="0" rIns="0" bIns="0" rtlCol="0" anchor="ctr"/>
          <a:lstStyle/>
          <a:p>
            <a:pPr indent="0" marL="0">
              <a:buNone/>
            </a:pPr>
            <a:r>
              <a:rPr lang="en-US" sz="1500" dirty="0">
                <a:solidFill>
                  <a:schemeClr val="bg1"/>
                </a:solidFill>
              </a:rPr>
              <a:t>ML-based risk scoring</a:t>
            </a:r>
            <a:endParaRPr lang="en-US" sz="1500" dirty="0"/>
          </a:p>
        </p:txBody>
      </p:sp>
      <p:sp>
        <p:nvSpPr>
          <p:cNvPr id="20" name="road-dot5"/>
          <p:cNvSpPr/>
          <p:nvPr/>
        </p:nvSpPr>
        <p:spPr>
          <a:xfrm>
            <a:off x="7863840" y="5148072"/>
            <a:ext cx="274320" cy="274320"/>
          </a:xfrm>
          <a:prstGeom prst="ellipse">
            <a:avLst/>
          </a:prstGeom>
          <a:solidFill>
            <a:schemeClr val="accent3"/>
          </a:solidFill>
          <a:ln w="12700">
            <a:solidFill>
              <a:srgbClr val="0B1220"/>
            </a:solidFill>
            <a:prstDash val="solid"/>
          </a:ln>
        </p:spPr>
      </p:sp>
      <p:sp>
        <p:nvSpPr>
          <p:cNvPr id="21" name="Text 19"/>
          <p:cNvSpPr txBox="1"/>
          <p:nvPr/>
        </p:nvSpPr>
        <p:spPr>
          <a:xfrm>
            <a:off x="8321040" y="5074920"/>
            <a:ext cx="3383280" cy="411480"/>
          </a:xfrm>
          <a:prstGeom prst="rect">
            <a:avLst/>
          </a:prstGeom>
          <a:noFill/>
          <a:ln/>
        </p:spPr>
        <p:txBody>
          <a:bodyPr wrap="square" lIns="0" tIns="0" rIns="0" bIns="0" rtlCol="0" anchor="ctr"/>
          <a:lstStyle/>
          <a:p>
            <a:pPr indent="0" marL="0">
              <a:buNone/>
            </a:pPr>
            <a:r>
              <a:rPr lang="en-US" sz="1500" dirty="0">
                <a:solidFill>
                  <a:schemeClr val="bg1"/>
                </a:solidFill>
              </a:rPr>
              <a:t>NCRP and SAHYOG integration</a:t>
            </a:r>
            <a:endParaRPr lang="en-US" sz="1500" dirty="0"/>
          </a:p>
        </p:txBody>
      </p:sp>
      <p:sp>
        <p:nvSpPr>
          <p:cNvPr id="22" name="Text 20"/>
          <p:cNvSpPr txBox="1"/>
          <p:nvPr/>
        </p:nvSpPr>
        <p:spPr>
          <a:xfrm>
            <a:off x="548640" y="5029200"/>
            <a:ext cx="6858000" cy="365760"/>
          </a:xfrm>
          <a:prstGeom prst="rect">
            <a:avLst/>
          </a:prstGeom>
          <a:noFill/>
          <a:ln/>
        </p:spPr>
        <p:txBody>
          <a:bodyPr wrap="square" lIns="0" tIns="0" rIns="0" bIns="0" rtlCol="0" anchor="t"/>
          <a:lstStyle/>
          <a:p>
            <a:pPr indent="0" marL="0">
              <a:buNone/>
            </a:pPr>
            <a:r>
              <a:rPr lang="en-US" sz="1600" b="1" dirty="0">
                <a:solidFill>
                  <a:schemeClr val="accent1"/>
                </a:solidFill>
              </a:rPr>
              <a:t>Team [Team name]   |   [Contact email]</a:t>
            </a:r>
            <a:endParaRPr lang="en-US" sz="1600" dirty="0"/>
          </a:p>
        </p:txBody>
      </p:sp>
    </p:spTree>
  </p:cSld>
  <p:clrMapOvr>
    <a:masterClrMapping/>
  </p:clrMapOvr>
</p:sld>
</file>

<file path=ppt/theme/theme1.xml><?xml version="1.0" encoding="utf-8"?>
<a:theme xmlns:a="http://schemas.openxmlformats.org/drawingml/2006/main" name="ChainSight Trail">
  <a:themeElements>
    <a:clrScheme name="ChainSight Trail">
      <a:dk1>
        <a:srgbClr val="0B1220"/>
      </a:dk1>
      <a:lt1>
        <a:srgbClr val="FFFFFF"/>
      </a:lt1>
      <a:dk2>
        <a:srgbClr val="1B2A41"/>
      </a:dk2>
      <a:lt2>
        <a:srgbClr val="EEF2F7"/>
      </a:lt2>
      <a:accent1>
        <a:srgbClr val="E8762B"/>
      </a:accent1>
      <a:accent2>
        <a:srgbClr val="2F6FED"/>
      </a:accent2>
      <a:accent3>
        <a:srgbClr val="23944A"/>
      </a:accent3>
      <a:accent4>
        <a:srgbClr val="D64545"/>
      </a:accent4>
      <a:accent5>
        <a:srgbClr val="64748B"/>
      </a:accent5>
      <a:accent6>
        <a:srgbClr val="0E9AA7"/>
      </a:accent6>
      <a:hlink>
        <a:srgbClr val="2F6FED"/>
      </a:hlink>
      <a:folHlink>
        <a:srgbClr val="6D28D9"/>
      </a:folHlink>
    </a:clrScheme>
    <a:fontScheme name="ChainSight Trai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ChainSight - Round 1 submission</dc:title>
  <dc:subject>PptxGenJS Presentation</dc:subject>
  <dc:creator>PptxGenJS</dc:creator>
  <cp:lastModifiedBy>PptxGenJS</cp:lastModifiedBy>
  <cp:revision>1</cp:revision>
  <dcterms:created xsi:type="dcterms:W3CDTF">2026-10-11T08:32:43Z</dcterms:created>
  <dcterms:modified xsi:type="dcterms:W3CDTF">2026-10-11T08:32:43Z</dcterms:modified>
</cp:coreProperties>
</file>